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발생 건수</c:v>
                </c:pt>
              </c:strCache>
            </c:strRef>
          </c:tx>
          <c:spPr>
            <a:solidFill>
              <a:srgbClr val="E8590C"/>
            </a:solidFill>
            <a:effectLst/>
          </c:spPr>
          <c:invertIfNegative val="0"/>
          <c:dLbls>
            <c:numFmt formatCode="#,##0" sourceLinked="0"/>
            <c:txPr>
              <a:bodyPr/>
              <a:lstStyle/>
              <a:p>
                <a:pPr>
                  <a:defRPr b="0" i="0" strike="noStrike" sz="1100" u="none">
                    <a:solidFill>
                      <a:srgbClr val="3A3F4B"/>
                    </a:solidFill>
                    <a:latin typeface="Arial"/>
                  </a:defRPr>
                </a:pPr>
              </a:p>
            </c:txPr>
            <c:showLegendKey val="0"/>
            <c:showVal val="1"/>
            <c:showCatName val="0"/>
            <c:showSerName val="0"/>
            <c:showPercent val="0"/>
            <c:showBubbleSize val="0"/>
            <c:showLeaderLines val="0"/>
          </c:dLbls>
          <c:cat>
            <c:multiLvlStrRef>
              <c:f>Sheet1!$A$2:$A$5</c:f>
              <c:multiLvlStrCache>
                <c:ptCount val="4"/>
                <c:lvl>
                  <c:pt idx="0">
                    <c:v>2021</c:v>
                  </c:pt>
                  <c:pt idx="1">
                    <c:v>2022</c:v>
                  </c:pt>
                  <c:pt idx="2">
                    <c:v>2023</c:v>
                  </c:pt>
                  <c:pt idx="3">
                    <c:v>2024*</c:v>
                  </c:pt>
                </c:lvl>
              </c:multiLvlStrCache>
            </c:multiLvlStrRef>
          </c:cat>
          <c:val>
            <c:numRef>
              <c:f>Sheet1!$B$2:$B$5</c:f>
              <c:numCache>
                <c:formatCode>General</c:formatCode>
                <c:ptCount val="4"/>
                <c:pt idx="0">
                  <c:v>84107</c:v>
                </c:pt>
                <c:pt idx="1">
                  <c:v>79052</c:v>
                </c:pt>
                <c:pt idx="2">
                  <c:v>78320</c:v>
                </c:pt>
                <c:pt idx="3">
                  <c:v>81252</c:v>
                </c:pt>
              </c:numCache>
            </c:numRef>
          </c:val>
        </c:ser>
        <c:dLbls>
          <c:numFmt formatCode="#,##0" sourceLinked="0"/>
          <c:txPr>
            <a:bodyPr/>
            <a:lstStyle/>
            <a:p>
              <a:pPr>
                <a:defRPr b="0" i="0" strike="noStrike" sz="1100" u="none">
                  <a:solidFill>
                    <a:srgbClr val="3A3F4B"/>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A3F4B"/>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안녕하세요. 오늘 제가 만든 중고거래 앱, '당근 클론 프로젝트'를 발표하겠습니다. 발표자 주정현입니다. 잘 부탁드립니다.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먼저 이 화면 보실게요. '택배로 보내드릴게요, 먼저 입금해 주세요.' 중고거래 해보신 분들은 한 번쯤 들어보셨을 겁니다. 사기는 이렇게 대화 한 줄에서 시작됩니다. 그래서 저는 AI가 이런 사기를 잡아내는 중고거래 앱을 만들었습니다. 오늘은 프론트엔드, 백엔드, 기능, 그리고 핵심인 멀티에이전트, 마지막으로 앞으로의 계획까지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왜 만들었는지 숫자로 보여드리겠습니다. 이건 경찰청 사이버사기 통계인데요, 국회에 제출된 자료입니다. 중고거래 사기가 4년 내내 8만 건 안팎이고, 2024년엔 하루에 약 270건씩 신고됐습니다. 시장은 당근만 해도 2023년 거래액이 5조 원을 넘을 만큼 커졌는데 사기도 같이 늘었습니다. 문제는 경찰 대응이 이미 포화 상태라는 거예요. 사람이 다 못 잡는다면 플랫폼이 스스로 걸러야 한다, 그게 이 프로젝트의 출발점입니다.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전체 구조는 간단합니다. 사용자가 화면에서 요청하면 프론트엔드가 백엔드에 전달하고, 백엔드가 데이터베이스에서 처리합니다. 그리고 사기 조사처럼 무거운 일은 백엔드가 AI 엔진을 불러서 처리합니다. AI는 네 가지를 쓰는데, 뒤에서 하나씩 설명드리겠습니다.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기술 스택입니다. 프론트엔드는 React, 백엔드는 FastAPI, 데이터베이스는 SQLite, AI는 로컬에서 돌리는 모델들을 썼습니다. React를 고른 이유는 화면을 부품처럼 쪼개 재사용할 수 있어서인데, 화면이 많은 이 앱에 잘 맞았습니다. 백엔드는 코드가 간결한 FastAPI 덕분에 개발 속도가 빨랐습니다.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먼저 프론트엔드, 사용자가 직접 보는 화면부터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첫 번째는 매물 등록 화면입니다. 제목, 가격, 사진을 올리면 되는데요. 여기서 제가 신경 쓴 건, AI가 사진을 보고 판매글 초안을 대신 써주는 겁니다. 대신 AI가 쓴 글과 판매자가 쓴 글은 따로 보관해서 섞이지 않게 했고요. 모델명 같은 건 사진으로 알 수 없으니 지어내지 않도록 막아뒀습니다.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두 번째는 매물 목록과 검색 화면입니다. 매물 하나하나가 재사용 가능한 카드로 되어 있어서 목록이든 검색이든 같은 카드를 씁니다. 검색은 글자, 초성, 뜻, 사진까지 여러 방식을 한 검색창에서 쓸 수 있게 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번째는 채팅방입니다. 지난 대화는 일반 방식으로 한 번 받아오고, 새 메시지는 웹소켓으로 실시간으로 주고받습니다. 그리고 구매자와 판매자가 둘 다 확인을 눌러야 거래가 완료되는데, 오른쪽이 그 거래 확정 화면입니다.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네 번째는 마이페이지입니다. 한 사람의 활동을 한곳에 모았는데요. 찜한 매물, 내가 올린 판매 목록, 거래 내역, 후기, 그리고 내 정보 수정까지 다섯 개 탭으로 나눠 두었습니다.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다음은 화면 뒤에서 실제로 일하는 백엔드입니다.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백엔드는 FastAPI로 만들었습니다. 파이썬으로 서버를 만드는 도구인데요. 이 골뱅이 표시가 데코레이터인데, 함수 위에 붙여서 '이 주소로 요청이 오면 이 함수를 실행해라'라고 등록해주는 라벨이라고 보시면 됩니다. 보안도 신경 썼는데, 비밀번호는 되돌릴 수 없게 암호화해서 저장하고 로그인은 토큰으로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데이터베이스는 SQLite를 썼습니다. MySQL처럼 서버를 따로 안 띄워도 파일 하나가 곧 데이터베이스라 가볍습니다. 회원, 매물, 사진, 채팅 이런 식으로 총 13개 테이블이 서로 연결돼 있습니다.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이제 사용자가 실제로 쓰는 기능들을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먼저 검색입니다. 검색창 하나에 여러 방식이 들어 있는데요. 오타를 잡아주고, 초성으로도 찾고, 뜻이 비슷한 것도 찾고, 사진으로도 찾을 수 있습니다. 화면은 초성 검색인데, 'ㄴㅌㅂ'만 쳐도 노트북이 나옵니다.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두 번째는 실시간 채팅입니다. 일반 요청은 묻고 답하면 연결이 끊겨서 실시간 채팅엔 안 맞아요. 그래서 연결을 계속 열어두는 웹소켓을 썼습니다. 덕분에 메시지가 바로바로 오갑니다.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번째는 AI 도우미입니다. 사진을 넣으면 AI가 처리해서 결과를 줍니다. 사진을 보고 카테고리를 추천하고, 판매글 초안을 써주고, 남의 사진을 도용했는지도 잡아냅니다.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그리고 여기가 이 프로젝트의 핵심, 멀티에이전트입니다.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에이전트는 목표를 주면 스스로 무엇을 볼지 판단하고 도구를 골라 실행하는 AI입니다. 멀티에이전트는 이런 에이전트를 여럿 두는 거고요. 왜 필요하냐면, 신고는 쏟아지는데 사람이 다 못 보고, 한 명이 보면 편견에 빠지기 쉽고, 사람마다 기준도 다르기 때문입니다.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에이전트에게 역할을 어떻게 줬냐면, 마크다운 파일 하나에 다 적었습니다. 원래 형식별로 나눌 수도 있는데, 저는 역할이든 할 일이든 전부 하나의 점(.)엠디 파일에 넣고 공통 규칙만 따로 빼서 끼워 넣는 방식으로 통일했습니다.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에이전트는 총 여덟 명입니다. 매물만 보는 조사관, 판매자 이력을 보는 조사관, 관계를 보는 조사관, 그리고 검사, 변호인, 정리 담당까지요. 왜 이렇게 많냐면, 좁게 나누면 빠르고 AI가 덜 헤매고, 서로 견제하면서 편견을 막을 수 있기 때문입니다.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실제로 각 에이전트에게 준 지시서입니다. 검사한테는 '위험한 신호를 찾되 지어내지 말라', 변호인한테는 '억울할 만한 점을 짚어라' 이렇게 성격을 부여했습니다.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재판 구조가 핵심인데요. 검사가 위험하다고 주장하면 변호인이 같은 자료로 반박합니다. 그런데 최종 판결, 즉 위험도 점수는 AI가 아니라 규칙 엔진이 계산합니다. 이게 중요한 포인트예요. AI는 의견만 내고 판단은 규칙이 하기 때문에, 같은 자료면 항상 같은 결과가 나옵니다.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그럼 이걸로 사기를 어떻게 막는지 흐름으로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신고가 들어오면 AI가 도구로 자료를 모으고, 규칙으로 점수를 매겨 위험도를 정합니다. 그리고 관리자가 그 보고를 읽고 최종 결정을 합니다. 중요한 건, AI가 쓰는 도구는 전부 읽기 전용이라 계정을 직접 정지시킬 수 없다는 거예요. 결정은 항상 사람이 합니다.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관리자 대시보드입니다. 흩어진 신고, 회원, 매물을 한곳에 모아 지금 처리할 게 뭔지부터 보여줍니다. 여기서 신고를 확인하고 AI에게 조사를 시키거나, 회원을 정지시키는 조치를 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프로젝트에서 새로 구현한 게 사전 예방입니다. 사후 탐지는 누가 당한 뒤에 신고가 들어와야 시작되잖아요. 사전 예방은 그 전에, 채팅 한 줄에서 위험 표현을 실시간으로 잡습니다. 흐름은 여섯 단계예요. 탐지해서, 어긴 문장을 증거로 남기고, 48시간 안에 반복 횟수를 누적하고, 단계별로 조치합니다. 경고, 매너온도 하락, 매물 숨김, 관리자 상정 순이요. 그리고 시간이 지나면 카운트가 풀리고, 15일 뒤엔 근거도 자동으로 지웁니다. 설계할 때 세 가지를 중요하게 봤는데요. 사람이 아니라 '그 문장'만 지목해서 낙인을 피하고, 자동 정지는 안 하고 관리자가 최종 판단하게 하고, 시간이 지나면 풀어주는 교화 방식으로 만들었습니다.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실제로 돌아가는 화면입니다. 왼쪽은 채팅인데요. 욕설을 쓰면 '서로 존중하는 말로 대화해주세요'라고 경고가 뜨고, '택배 배송 가능합니다'처럼 사기 유도 표현이 문장 속에 섞여 있어도 잡아냅니다. 여기서 욕설은 경고만 하고 카운트는 안 쌓아요. 매너 문제니까요. 반대로 택배, 선입금, 계좌 같은 사기 유도는 증거로 저장하고, 반복하면 오른쪽 화면, 관리자 '제재 대기'에 올라옵니다. 어떤 규칙을 몇 번 어겼는지 실제 문장까지 증거로 보여주고, 최종 정지는 관리자가 직접 누릅니다.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앞으로의 계획입니다. 지금은 대화와 행동으로 사기를 막고 있는데요. 다음 도전은 물건 자체의 진짜, 가짜를 가려내는 겁니다. 장기 목표는 사진만으로 정품과 가품을 판별하는 AI예요. 다만 지금 당장은 어렵습니다. 이유가 세 가지인데요. 첫째, 브랜드랑 모델마다 정품과 가품을 구분해서 표시한 이미지가 수십만 장 이상 필요하고요. 둘째, 진품 사진은 많아도 진짜 같은 가품 이미지는 구하기가 어렵습니다. 셋째, 이걸 학습시키는 데 시간이랑 GPU 자원이 많이 듭니다. 그래서 지금은 완벽한 판별 대신 '가품 의심 신호를 점수화'하는 것부터 접근하려고 합니다. 될 것과 도전할 것을 솔직하게 구분했습니다.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정리하겠습니다. 프론트엔드는 React, 백엔드는 FastAPI, 실시간은 웹소켓, 핵심은 여러 AI가 나눠 조사하고 서로 견제하는 멀티에이전트였습니다. 그리고 이번에 사기를 벌어지기 전에 막는 사전 예방까지 구현했습니다. 한 문장으로 하면, 사람을 대신하지 않고 사람의 판단을 돕는 중고거래 플랫폼입니다. 이상으로 발표를 마치겠습니다.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430"/>
        </a:solidFill>
      </p:bgPr>
    </p:bg>
    <p:spTree>
      <p:nvGrpSpPr>
        <p:cNvPr id="1" name=""/>
        <p:cNvGrpSpPr/>
        <p:nvPr/>
      </p:nvGrpSpPr>
      <p:grpSpPr>
        <a:xfrm>
          <a:off x="0" y="0"/>
          <a:ext cx="0" cy="0"/>
          <a:chOff x="0" y="0"/>
          <a:chExt cx="0" cy="0"/>
        </a:xfrm>
      </p:grpSpPr>
      <p:sp>
        <p:nvSpPr>
          <p:cNvPr id="2" name="Shape 0"/>
          <p:cNvSpPr/>
          <p:nvPr/>
        </p:nvSpPr>
        <p:spPr>
          <a:xfrm>
            <a:off x="9144000" y="-1371600"/>
            <a:ext cx="4389120" cy="4389120"/>
          </a:xfrm>
          <a:prstGeom prst="ellipse">
            <a:avLst/>
          </a:prstGeom>
          <a:solidFill>
            <a:srgbClr val="E8590C"/>
          </a:solidFill>
          <a:ln/>
        </p:spPr>
      </p:sp>
      <p:sp>
        <p:nvSpPr>
          <p:cNvPr id="3" name="Shape 1"/>
          <p:cNvSpPr/>
          <p:nvPr/>
        </p:nvSpPr>
        <p:spPr>
          <a:xfrm>
            <a:off x="10789920" y="4206240"/>
            <a:ext cx="3017520" cy="3017520"/>
          </a:xfrm>
          <a:prstGeom prst="ellipse">
            <a:avLst/>
          </a:prstGeom>
          <a:solidFill>
            <a:srgbClr val="2F9E44"/>
          </a:solidFill>
          <a:ln/>
        </p:spPr>
      </p:sp>
      <p:sp>
        <p:nvSpPr>
          <p:cNvPr id="4" name="Text 2"/>
          <p:cNvSpPr txBox="1"/>
          <p:nvPr/>
        </p:nvSpPr>
        <p:spPr>
          <a:xfrm>
            <a:off x="685800" y="2103120"/>
            <a:ext cx="8229600" cy="365760"/>
          </a:xfrm>
          <a:prstGeom prst="rect">
            <a:avLst/>
          </a:prstGeom>
          <a:noFill/>
          <a:ln/>
        </p:spPr>
        <p:txBody>
          <a:bodyPr wrap="square" lIns="0" tIns="0" rIns="0" bIns="0" rtlCol="0" anchor="ctr"/>
          <a:lstStyle/>
          <a:p>
            <a:pPr indent="0" marL="0">
              <a:buNone/>
            </a:pPr>
            <a:r>
              <a:rPr lang="en-US" sz="1500" b="1" spc="200" kern="0" dirty="0">
                <a:solidFill>
                  <a:srgbClr val="FF922B"/>
                </a:solidFill>
                <a:latin typeface="Malgun Gothic" pitchFamily="34" charset="0"/>
                <a:ea typeface="Malgun Gothic" pitchFamily="34" charset="-122"/>
                <a:cs typeface="Malgun Gothic" pitchFamily="34" charset="-120"/>
              </a:rPr>
              <a:t>중고거래 · AI 사기 탐지 시스템</a:t>
            </a:r>
            <a:endParaRPr lang="en-US" sz="1500" dirty="0"/>
          </a:p>
        </p:txBody>
      </p:sp>
      <p:sp>
        <p:nvSpPr>
          <p:cNvPr id="5" name="Text 3"/>
          <p:cNvSpPr txBox="1"/>
          <p:nvPr/>
        </p:nvSpPr>
        <p:spPr>
          <a:xfrm>
            <a:off x="640080" y="2578608"/>
            <a:ext cx="9144000" cy="1005840"/>
          </a:xfrm>
          <a:prstGeom prst="rect">
            <a:avLst/>
          </a:prstGeom>
          <a:noFill/>
          <a:ln/>
        </p:spPr>
        <p:txBody>
          <a:bodyPr wrap="square" lIns="0" tIns="0" rIns="0" bIns="0" rtlCol="0" anchor="ctr"/>
          <a:lstStyle/>
          <a:p>
            <a:pPr indent="0" marL="0">
              <a:buNone/>
            </a:pPr>
            <a:r>
              <a:rPr lang="en-US" sz="5000" b="1" dirty="0">
                <a:solidFill>
                  <a:srgbClr val="FFFFFF"/>
                </a:solidFill>
                <a:latin typeface="Malgun Gothic" pitchFamily="34" charset="0"/>
                <a:ea typeface="Malgun Gothic" pitchFamily="34" charset="-122"/>
                <a:cs typeface="Malgun Gothic" pitchFamily="34" charset="-120"/>
              </a:rPr>
              <a:t>당근 클론 프로젝트</a:t>
            </a:r>
            <a:endParaRPr lang="en-US" sz="5000" dirty="0"/>
          </a:p>
        </p:txBody>
      </p:sp>
      <p:sp>
        <p:nvSpPr>
          <p:cNvPr id="6" name="Shape 4"/>
          <p:cNvSpPr/>
          <p:nvPr/>
        </p:nvSpPr>
        <p:spPr>
          <a:xfrm>
            <a:off x="731520" y="3977640"/>
            <a:ext cx="2194560" cy="0"/>
          </a:xfrm>
          <a:prstGeom prst="line">
            <a:avLst/>
          </a:prstGeom>
          <a:noFill/>
          <a:ln w="31750">
            <a:solidFill>
              <a:srgbClr val="FF922B"/>
            </a:solidFill>
            <a:prstDash val="solid"/>
          </a:ln>
        </p:spPr>
      </p:sp>
      <p:sp>
        <p:nvSpPr>
          <p:cNvPr id="7" name="Text 5"/>
          <p:cNvSpPr txBox="1"/>
          <p:nvPr/>
        </p:nvSpPr>
        <p:spPr>
          <a:xfrm>
            <a:off x="685800" y="4206240"/>
            <a:ext cx="7315200" cy="457200"/>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발표자   주정현</a:t>
            </a:r>
            <a:endParaRPr lang="en-US" sz="2000" dirty="0"/>
          </a:p>
        </p:txBody>
      </p:sp>
      <p:sp>
        <p:nvSpPr>
          <p:cNvPr id="8" name="Text 6"/>
          <p:cNvSpPr txBox="1"/>
          <p:nvPr/>
        </p:nvSpPr>
        <p:spPr>
          <a:xfrm>
            <a:off x="685800" y="4754880"/>
            <a:ext cx="8229600" cy="365760"/>
          </a:xfrm>
          <a:prstGeom prst="rect">
            <a:avLst/>
          </a:prstGeom>
          <a:noFill/>
          <a:ln/>
        </p:spPr>
        <p:txBody>
          <a:bodyPr wrap="square" lIns="0" tIns="0" rIns="0" bIns="0" rtlCol="0" anchor="ctr"/>
          <a:lstStyle/>
          <a:p>
            <a:pPr indent="0" marL="0">
              <a:buNone/>
            </a:pPr>
            <a:r>
              <a:rPr lang="en-US" sz="1300" dirty="0">
                <a:solidFill>
                  <a:srgbClr val="8B92A0"/>
                </a:solidFill>
                <a:latin typeface="Malgun Gothic" pitchFamily="34" charset="0"/>
                <a:ea typeface="Malgun Gothic" pitchFamily="34" charset="-122"/>
                <a:cs typeface="Malgun Gothic" pitchFamily="34" charset="-120"/>
              </a:rPr>
              <a:t>React · FastAPI · 로컬 LLM · 멀티에이전트</a:t>
            </a:r>
            <a:endParaRPr lang="en-US" sz="1300" dirty="0"/>
          </a:p>
        </p:txBody>
      </p:sp>
      <p:sp>
        <p:nvSpPr>
          <p:cNvPr id="9" name="Text 7"/>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F2430"/>
        </a:solidFill>
      </p:bgPr>
    </p:bg>
    <p:spTree>
      <p:nvGrpSpPr>
        <p:cNvPr id="1" name=""/>
        <p:cNvGrpSpPr/>
        <p:nvPr/>
      </p:nvGrpSpPr>
      <p:grpSpPr>
        <a:xfrm>
          <a:off x="0" y="0"/>
          <a:ext cx="0" cy="0"/>
          <a:chOff x="0" y="0"/>
          <a:chExt cx="0" cy="0"/>
        </a:xfrm>
      </p:grpSpPr>
      <p:sp>
        <p:nvSpPr>
          <p:cNvPr id="2" name="Text 0"/>
          <p:cNvSpPr txBox="1"/>
          <p:nvPr/>
        </p:nvSpPr>
        <p:spPr>
          <a:xfrm>
            <a:off x="731520" y="640080"/>
            <a:ext cx="7315200" cy="320040"/>
          </a:xfrm>
          <a:prstGeom prst="rect">
            <a:avLst/>
          </a:prstGeom>
          <a:noFill/>
          <a:ln/>
        </p:spPr>
        <p:txBody>
          <a:bodyPr wrap="square" lIns="0" tIns="0" rIns="0" bIns="0" rtlCol="0" anchor="ctr"/>
          <a:lstStyle/>
          <a:p>
            <a:pPr indent="0" marL="0">
              <a:buNone/>
            </a:pPr>
            <a:r>
              <a:rPr lang="en-US" sz="1300" b="1" spc="200" kern="0" dirty="0">
                <a:solidFill>
                  <a:srgbClr val="FF922B"/>
                </a:solidFill>
                <a:latin typeface="Malgun Gothic" pitchFamily="34" charset="0"/>
                <a:ea typeface="Malgun Gothic" pitchFamily="34" charset="-122"/>
                <a:cs typeface="Malgun Gothic" pitchFamily="34" charset="-120"/>
              </a:rPr>
              <a:t>INTRO</a:t>
            </a:r>
            <a:endParaRPr lang="en-US" sz="1300" dirty="0"/>
          </a:p>
        </p:txBody>
      </p:sp>
      <p:sp>
        <p:nvSpPr>
          <p:cNvPr id="3" name="Shape 1"/>
          <p:cNvSpPr/>
          <p:nvPr/>
        </p:nvSpPr>
        <p:spPr>
          <a:xfrm>
            <a:off x="731520" y="1280160"/>
            <a:ext cx="6035040" cy="868680"/>
          </a:xfrm>
          <a:prstGeom prst="roundRect">
            <a:avLst>
              <a:gd name="adj" fmla="val 12632"/>
            </a:avLst>
          </a:prstGeom>
          <a:solidFill>
            <a:srgbClr val="2A2F3D"/>
          </a:solidFill>
          <a:ln/>
        </p:spPr>
      </p:sp>
      <p:sp>
        <p:nvSpPr>
          <p:cNvPr id="4" name="Text 2"/>
          <p:cNvSpPr txBox="1"/>
          <p:nvPr/>
        </p:nvSpPr>
        <p:spPr>
          <a:xfrm>
            <a:off x="960120" y="1280160"/>
            <a:ext cx="5577840" cy="868680"/>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"택배로 보내드릴게요. 계좌로 먼저 입금해 주시겠어요?"</a:t>
            </a:r>
            <a:endParaRPr lang="en-US" sz="1500" dirty="0"/>
          </a:p>
        </p:txBody>
      </p:sp>
      <p:sp>
        <p:nvSpPr>
          <p:cNvPr id="5" name="Shape 3"/>
          <p:cNvSpPr/>
          <p:nvPr/>
        </p:nvSpPr>
        <p:spPr>
          <a:xfrm>
            <a:off x="5760720" y="2286000"/>
            <a:ext cx="4572000" cy="777240"/>
          </a:xfrm>
          <a:prstGeom prst="roundRect">
            <a:avLst>
              <a:gd name="adj" fmla="val 14118"/>
            </a:avLst>
          </a:prstGeom>
          <a:solidFill>
            <a:srgbClr val="E8590C"/>
          </a:solidFill>
          <a:ln/>
        </p:spPr>
      </p:sp>
      <p:sp>
        <p:nvSpPr>
          <p:cNvPr id="6" name="Text 4"/>
          <p:cNvSpPr txBox="1"/>
          <p:nvPr/>
        </p:nvSpPr>
        <p:spPr>
          <a:xfrm>
            <a:off x="5943600" y="2286000"/>
            <a:ext cx="4297680" cy="777240"/>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"직거래만 해요. 이건 사기 신호입니다."</a:t>
            </a:r>
            <a:endParaRPr lang="en-US" sz="1400" dirty="0"/>
          </a:p>
        </p:txBody>
      </p:sp>
      <p:sp>
        <p:nvSpPr>
          <p:cNvPr id="7" name="Text 5"/>
          <p:cNvSpPr txBox="1"/>
          <p:nvPr/>
        </p:nvSpPr>
        <p:spPr>
          <a:xfrm>
            <a:off x="731520" y="3429000"/>
            <a:ext cx="10515600" cy="457200"/>
          </a:xfrm>
          <a:prstGeom prst="rect">
            <a:avLst/>
          </a:prstGeom>
          <a:noFill/>
          <a:ln/>
        </p:spPr>
        <p:txBody>
          <a:bodyPr wrap="square" lIns="0" tIns="0" rIns="0" bIns="0" rtlCol="0" anchor="ctr"/>
          <a:lstStyle/>
          <a:p>
            <a:pPr indent="0" marL="0">
              <a:buNone/>
            </a:pPr>
            <a:r>
              <a:rPr lang="en-US" sz="1600" dirty="0">
                <a:solidFill>
                  <a:srgbClr val="C9CDD6"/>
                </a:solidFill>
                <a:latin typeface="Malgun Gothic" pitchFamily="34" charset="0"/>
                <a:ea typeface="Malgun Gothic" pitchFamily="34" charset="-122"/>
                <a:cs typeface="Malgun Gothic" pitchFamily="34" charset="-120"/>
              </a:rPr>
              <a:t>중고거래 사기는 대화 한 줄에서 시작됩니다.</a:t>
            </a:r>
            <a:endParaRPr lang="en-US" sz="1600" dirty="0"/>
          </a:p>
        </p:txBody>
      </p:sp>
      <p:sp>
        <p:nvSpPr>
          <p:cNvPr id="8" name="Text 6"/>
          <p:cNvSpPr txBox="1"/>
          <p:nvPr/>
        </p:nvSpPr>
        <p:spPr>
          <a:xfrm>
            <a:off x="713232" y="3886200"/>
            <a:ext cx="10698480" cy="640080"/>
          </a:xfrm>
          <a:prstGeom prst="rect">
            <a:avLst/>
          </a:prstGeom>
          <a:noFill/>
          <a:ln/>
        </p:spPr>
        <p:txBody>
          <a:bodyPr wrap="square" lIns="0" tIns="0" rIns="0" bIns="0" rtlCol="0" anchor="ctr"/>
          <a:lstStyle/>
          <a:p>
            <a:pPr indent="0" marL="0">
              <a:buNone/>
            </a:pPr>
            <a:r>
              <a:rPr lang="en-US" sz="2600" b="1" dirty="0">
                <a:solidFill>
                  <a:srgbClr val="FFFFFF"/>
                </a:solidFill>
                <a:latin typeface="Malgun Gothic" pitchFamily="34" charset="0"/>
                <a:ea typeface="Malgun Gothic" pitchFamily="34" charset="-122"/>
                <a:cs typeface="Malgun Gothic" pitchFamily="34" charset="-120"/>
              </a:rPr>
              <a:t>그래서 만들었습니다 — AI가 사기를 잡아내는 중고거래 앱</a:t>
            </a:r>
            <a:endParaRPr lang="en-US" sz="2600" dirty="0"/>
          </a:p>
        </p:txBody>
      </p:sp>
      <p:sp>
        <p:nvSpPr>
          <p:cNvPr id="9" name="Text 7"/>
          <p:cNvSpPr txBox="1"/>
          <p:nvPr/>
        </p:nvSpPr>
        <p:spPr>
          <a:xfrm>
            <a:off x="731520" y="4892040"/>
            <a:ext cx="7315200" cy="320040"/>
          </a:xfrm>
          <a:prstGeom prst="rect">
            <a:avLst/>
          </a:prstGeom>
          <a:noFill/>
          <a:ln/>
        </p:spPr>
        <p:txBody>
          <a:bodyPr wrap="square" lIns="0" tIns="0" rIns="0" bIns="0" rtlCol="0" anchor="ctr"/>
          <a:lstStyle/>
          <a:p>
            <a:pPr indent="0" marL="0">
              <a:buNone/>
            </a:pPr>
            <a:r>
              <a:rPr lang="en-US" sz="1250" b="1" dirty="0">
                <a:solidFill>
                  <a:srgbClr val="FF922B"/>
                </a:solidFill>
                <a:latin typeface="Malgun Gothic" pitchFamily="34" charset="0"/>
                <a:ea typeface="Malgun Gothic" pitchFamily="34" charset="-122"/>
                <a:cs typeface="Malgun Gothic" pitchFamily="34" charset="-120"/>
              </a:rPr>
              <a:t>오늘 발표에서 볼 것</a:t>
            </a:r>
            <a:endParaRPr lang="en-US" sz="1250" dirty="0"/>
          </a:p>
        </p:txBody>
      </p:sp>
      <p:sp>
        <p:nvSpPr>
          <p:cNvPr id="10" name="Shape 8"/>
          <p:cNvSpPr/>
          <p:nvPr/>
        </p:nvSpPr>
        <p:spPr>
          <a:xfrm>
            <a:off x="731520" y="5257800"/>
            <a:ext cx="2011680" cy="548640"/>
          </a:xfrm>
          <a:prstGeom prst="roundRect">
            <a:avLst>
              <a:gd name="adj" fmla="val 50000"/>
            </a:avLst>
          </a:prstGeom>
          <a:solidFill>
            <a:srgbClr val="2A2F3D"/>
          </a:solidFill>
          <a:ln w="12700">
            <a:solidFill>
              <a:srgbClr val="FF922B"/>
            </a:solidFill>
            <a:prstDash val="solid"/>
          </a:ln>
        </p:spPr>
      </p:sp>
      <p:sp>
        <p:nvSpPr>
          <p:cNvPr id="11" name="Text 9"/>
          <p:cNvSpPr txBox="1"/>
          <p:nvPr/>
        </p:nvSpPr>
        <p:spPr>
          <a:xfrm>
            <a:off x="731520" y="5257800"/>
            <a:ext cx="201168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프론트엔드</a:t>
            </a:r>
            <a:endParaRPr lang="en-US" sz="1250" dirty="0"/>
          </a:p>
        </p:txBody>
      </p:sp>
      <p:sp>
        <p:nvSpPr>
          <p:cNvPr id="12" name="Shape 10"/>
          <p:cNvSpPr/>
          <p:nvPr/>
        </p:nvSpPr>
        <p:spPr>
          <a:xfrm>
            <a:off x="2944368" y="5257800"/>
            <a:ext cx="2011680" cy="548640"/>
          </a:xfrm>
          <a:prstGeom prst="roundRect">
            <a:avLst>
              <a:gd name="adj" fmla="val 50000"/>
            </a:avLst>
          </a:prstGeom>
          <a:solidFill>
            <a:srgbClr val="2A2F3D"/>
          </a:solidFill>
          <a:ln w="12700">
            <a:solidFill>
              <a:srgbClr val="FF922B"/>
            </a:solidFill>
            <a:prstDash val="solid"/>
          </a:ln>
        </p:spPr>
      </p:sp>
      <p:sp>
        <p:nvSpPr>
          <p:cNvPr id="13" name="Text 11"/>
          <p:cNvSpPr txBox="1"/>
          <p:nvPr/>
        </p:nvSpPr>
        <p:spPr>
          <a:xfrm>
            <a:off x="2944368" y="5257800"/>
            <a:ext cx="201168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백엔드</a:t>
            </a:r>
            <a:endParaRPr lang="en-US" sz="1250" dirty="0"/>
          </a:p>
        </p:txBody>
      </p:sp>
      <p:sp>
        <p:nvSpPr>
          <p:cNvPr id="14" name="Shape 12"/>
          <p:cNvSpPr/>
          <p:nvPr/>
        </p:nvSpPr>
        <p:spPr>
          <a:xfrm>
            <a:off x="5157216" y="5257800"/>
            <a:ext cx="2011680" cy="548640"/>
          </a:xfrm>
          <a:prstGeom prst="roundRect">
            <a:avLst>
              <a:gd name="adj" fmla="val 50000"/>
            </a:avLst>
          </a:prstGeom>
          <a:solidFill>
            <a:srgbClr val="2A2F3D"/>
          </a:solidFill>
          <a:ln w="12700">
            <a:solidFill>
              <a:srgbClr val="FF922B"/>
            </a:solidFill>
            <a:prstDash val="solid"/>
          </a:ln>
        </p:spPr>
      </p:sp>
      <p:sp>
        <p:nvSpPr>
          <p:cNvPr id="15" name="Text 13"/>
          <p:cNvSpPr txBox="1"/>
          <p:nvPr/>
        </p:nvSpPr>
        <p:spPr>
          <a:xfrm>
            <a:off x="5157216" y="5257800"/>
            <a:ext cx="201168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기능</a:t>
            </a:r>
            <a:endParaRPr lang="en-US" sz="1250" dirty="0"/>
          </a:p>
        </p:txBody>
      </p:sp>
      <p:sp>
        <p:nvSpPr>
          <p:cNvPr id="16" name="Shape 14"/>
          <p:cNvSpPr/>
          <p:nvPr/>
        </p:nvSpPr>
        <p:spPr>
          <a:xfrm>
            <a:off x="7370064" y="5257800"/>
            <a:ext cx="2011680" cy="548640"/>
          </a:xfrm>
          <a:prstGeom prst="roundRect">
            <a:avLst>
              <a:gd name="adj" fmla="val 50000"/>
            </a:avLst>
          </a:prstGeom>
          <a:solidFill>
            <a:srgbClr val="2A2F3D"/>
          </a:solidFill>
          <a:ln w="12700">
            <a:solidFill>
              <a:srgbClr val="FF922B"/>
            </a:solidFill>
            <a:prstDash val="solid"/>
          </a:ln>
        </p:spPr>
      </p:sp>
      <p:sp>
        <p:nvSpPr>
          <p:cNvPr id="17" name="Text 15"/>
          <p:cNvSpPr txBox="1"/>
          <p:nvPr/>
        </p:nvSpPr>
        <p:spPr>
          <a:xfrm>
            <a:off x="7370064" y="5257800"/>
            <a:ext cx="201168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멀티에이전트</a:t>
            </a:r>
            <a:endParaRPr lang="en-US" sz="1250" dirty="0"/>
          </a:p>
        </p:txBody>
      </p:sp>
      <p:sp>
        <p:nvSpPr>
          <p:cNvPr id="18" name="Shape 16"/>
          <p:cNvSpPr/>
          <p:nvPr/>
        </p:nvSpPr>
        <p:spPr>
          <a:xfrm>
            <a:off x="9582912" y="5257800"/>
            <a:ext cx="2011680" cy="548640"/>
          </a:xfrm>
          <a:prstGeom prst="roundRect">
            <a:avLst>
              <a:gd name="adj" fmla="val 50000"/>
            </a:avLst>
          </a:prstGeom>
          <a:solidFill>
            <a:srgbClr val="2A2F3D"/>
          </a:solidFill>
          <a:ln w="12700">
            <a:solidFill>
              <a:srgbClr val="FF922B"/>
            </a:solidFill>
            <a:prstDash val="solid"/>
          </a:ln>
        </p:spPr>
      </p:sp>
      <p:sp>
        <p:nvSpPr>
          <p:cNvPr id="19" name="Text 17"/>
          <p:cNvSpPr txBox="1"/>
          <p:nvPr/>
        </p:nvSpPr>
        <p:spPr>
          <a:xfrm>
            <a:off x="9582912" y="5257800"/>
            <a:ext cx="201168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향후 계획</a:t>
            </a:r>
            <a:endParaRPr lang="en-US" sz="1250" dirty="0"/>
          </a:p>
        </p:txBody>
      </p:sp>
      <p:sp>
        <p:nvSpPr>
          <p:cNvPr id="20" name="Text 18"/>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WHY</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왜 만들었나 — 중고거래 사기, 얼마나 심각한가</a:t>
            </a:r>
            <a:endParaRPr lang="en-US" sz="2800" dirty="0"/>
          </a:p>
        </p:txBody>
      </p:sp>
      <p:sp>
        <p:nvSpPr>
          <p:cNvPr id="4" name="Text 2"/>
          <p:cNvSpPr txBox="1"/>
          <p:nvPr/>
        </p:nvSpPr>
        <p:spPr>
          <a:xfrm>
            <a:off x="548640" y="1371600"/>
            <a:ext cx="11064240" cy="365760"/>
          </a:xfrm>
          <a:prstGeom prst="rect">
            <a:avLst/>
          </a:prstGeom>
          <a:noFill/>
          <a:ln/>
        </p:spPr>
        <p:txBody>
          <a:bodyPr wrap="square" lIns="0" tIns="0" rIns="0" bIns="0" rtlCol="0" anchor="ctr"/>
          <a:lstStyle/>
          <a:p>
            <a:pPr indent="0" marL="0">
              <a:buNone/>
            </a:pPr>
            <a:r>
              <a:rPr lang="en-US" sz="1350" dirty="0">
                <a:solidFill>
                  <a:srgbClr val="6B7280"/>
                </a:solidFill>
                <a:latin typeface="Malgun Gothic" pitchFamily="34" charset="0"/>
                <a:ea typeface="Malgun Gothic" pitchFamily="34" charset="-122"/>
                <a:cs typeface="Malgun Gothic" pitchFamily="34" charset="-120"/>
              </a:rPr>
              <a:t>중고거래 시장은 커졌지만 사기도 함께 늘었다. 4년 내내 8만 건 안팎 — 2024년엔 하루 약 270건 꼴로 신고됐다.</a:t>
            </a:r>
            <a:endParaRPr lang="en-US" sz="1350" dirty="0"/>
          </a:p>
        </p:txBody>
      </p:sp>
      <p:graphicFrame>
        <p:nvGraphicFramePr>
          <p:cNvPr id="5" name="Chart 0" descr=""/>
          <p:cNvGraphicFramePr/>
          <p:nvPr/>
        </p:nvGraphicFramePr>
        <p:xfrm>
          <a:off x="640080" y="1965960"/>
          <a:ext cx="5806440" cy="36118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40080" y="5596128"/>
            <a:ext cx="5897880" cy="457200"/>
          </a:xfrm>
          <a:prstGeom prst="rect">
            <a:avLst/>
          </a:prstGeom>
          <a:noFill/>
          <a:ln/>
        </p:spPr>
        <p:txBody>
          <a:bodyPr wrap="square" lIns="0" tIns="0" rIns="0" bIns="0" rtlCol="0" anchor="ctr"/>
          <a:lstStyle/>
          <a:p>
            <a:pPr indent="0" marL="0">
              <a:lnSpc>
                <a:spcPct val="105000"/>
              </a:lnSpc>
              <a:buNone/>
            </a:pPr>
            <a:r>
              <a:rPr lang="en-US" sz="900" i="1" dirty="0">
                <a:solidFill>
                  <a:srgbClr val="6B7280"/>
                </a:solidFill>
                <a:latin typeface="Malgun Gothic" pitchFamily="34" charset="0"/>
                <a:ea typeface="Malgun Gothic" pitchFamily="34" charset="-122"/>
                <a:cs typeface="Malgun Gothic" pitchFamily="34" charset="-120"/>
              </a:rPr>
              <a:t>출처: 경찰청 사이버사기범죄 현황 — 국회 양부남 의원실 제출자료(세계일보 2024.12.3)   ·   * 2024년 1~10월, 연말 10만 건 초과 전망</a:t>
            </a:r>
            <a:endParaRPr lang="en-US" sz="900" dirty="0"/>
          </a:p>
        </p:txBody>
      </p:sp>
      <p:sp>
        <p:nvSpPr>
          <p:cNvPr id="7" name="Shape 4"/>
          <p:cNvSpPr/>
          <p:nvPr/>
        </p:nvSpPr>
        <p:spPr>
          <a:xfrm>
            <a:off x="6720840" y="1965960"/>
            <a:ext cx="4892040" cy="1143000"/>
          </a:xfrm>
          <a:prstGeom prst="roundRect">
            <a:avLst>
              <a:gd name="adj" fmla="val 7200"/>
            </a:avLst>
          </a:prstGeom>
          <a:solidFill>
            <a:srgbClr val="FFF4E6"/>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8" name="Text 5"/>
          <p:cNvSpPr txBox="1"/>
          <p:nvPr/>
        </p:nvSpPr>
        <p:spPr>
          <a:xfrm>
            <a:off x="6903720" y="1965960"/>
            <a:ext cx="4572000" cy="1143000"/>
          </a:xfrm>
          <a:prstGeom prst="rect">
            <a:avLst/>
          </a:prstGeom>
          <a:noFill/>
          <a:ln/>
        </p:spPr>
        <p:txBody>
          <a:bodyPr wrap="square" lIns="0" tIns="0" rIns="0" bIns="0" rtlCol="0" anchor="ctr"/>
          <a:lstStyle/>
          <a:p>
            <a:pPr indent="0" marL="0">
              <a:buNone/>
            </a:pPr>
            <a:r>
              <a:rPr lang="en-US" sz="2400" b="1" dirty="0">
                <a:solidFill>
                  <a:srgbClr val="E8590C"/>
                </a:solidFill>
                <a:latin typeface="Malgun Gothic" pitchFamily="34" charset="0"/>
                <a:ea typeface="Malgun Gothic" pitchFamily="34" charset="-122"/>
                <a:cs typeface="Malgun Gothic" pitchFamily="34" charset="-120"/>
              </a:rPr>
              <a:t>하루 약 270건</a:t>
            </a:r>
            <a:pPr indent="0" marL="0">
              <a:buNone/>
            </a:pPr>
            <a:r>
              <a:rPr lang="en-US" sz="1200" dirty="0">
                <a:solidFill>
                  <a:srgbClr val="6B7280"/>
                </a:solidFill>
                <a:latin typeface="Malgun Gothic" pitchFamily="34" charset="0"/>
                <a:ea typeface="Malgun Gothic" pitchFamily="34" charset="-122"/>
                <a:cs typeface="Malgun Gothic" pitchFamily="34" charset="-120"/>
              </a:rPr>
              <a:t>   신고 · 2024년</a:t>
            </a:r>
            <a:endParaRPr lang="en-US" sz="2400" dirty="0"/>
          </a:p>
        </p:txBody>
      </p:sp>
      <p:sp>
        <p:nvSpPr>
          <p:cNvPr id="9" name="Shape 6"/>
          <p:cNvSpPr/>
          <p:nvPr/>
        </p:nvSpPr>
        <p:spPr>
          <a:xfrm>
            <a:off x="6720840" y="3246120"/>
            <a:ext cx="4892040" cy="1143000"/>
          </a:xfrm>
          <a:prstGeom prst="roundRect">
            <a:avLst>
              <a:gd name="adj" fmla="val 7200"/>
            </a:avLst>
          </a:prstGeom>
          <a:solidFill>
            <a:srgbClr val="FFF0E1"/>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0" name="Text 7"/>
          <p:cNvSpPr txBox="1"/>
          <p:nvPr/>
        </p:nvSpPr>
        <p:spPr>
          <a:xfrm>
            <a:off x="6903720" y="3246120"/>
            <a:ext cx="4572000" cy="1143000"/>
          </a:xfrm>
          <a:prstGeom prst="rect">
            <a:avLst/>
          </a:prstGeom>
          <a:noFill/>
          <a:ln/>
        </p:spPr>
        <p:txBody>
          <a:bodyPr wrap="square" lIns="0" tIns="0" rIns="0" bIns="0" rtlCol="0" anchor="ctr"/>
          <a:lstStyle/>
          <a:p>
            <a:pPr indent="0" marL="0">
              <a:buNone/>
            </a:pPr>
            <a:r>
              <a:rPr lang="en-US" sz="2400" b="1" dirty="0">
                <a:solidFill>
                  <a:srgbClr val="B5651D"/>
                </a:solidFill>
                <a:latin typeface="Malgun Gothic" pitchFamily="34" charset="0"/>
                <a:ea typeface="Malgun Gothic" pitchFamily="34" charset="-122"/>
                <a:cs typeface="Malgun Gothic" pitchFamily="34" charset="-120"/>
              </a:rPr>
              <a:t>5.1조 원</a:t>
            </a:r>
            <a:pPr indent="0" marL="0">
              <a:buNone/>
            </a:pPr>
            <a:r>
              <a:rPr lang="en-US" sz="1200" dirty="0">
                <a:solidFill>
                  <a:srgbClr val="6B7280"/>
                </a:solidFill>
                <a:latin typeface="Malgun Gothic" pitchFamily="34" charset="0"/>
                <a:ea typeface="Malgun Gothic" pitchFamily="34" charset="-122"/>
                <a:cs typeface="Malgun Gothic" pitchFamily="34" charset="-120"/>
              </a:rPr>
              <a:t>   당근 연간 거래액(2023)</a:t>
            </a:r>
            <a:endParaRPr lang="en-US" sz="2400" dirty="0"/>
          </a:p>
        </p:txBody>
      </p:sp>
      <p:sp>
        <p:nvSpPr>
          <p:cNvPr id="11" name="Shape 8"/>
          <p:cNvSpPr/>
          <p:nvPr/>
        </p:nvSpPr>
        <p:spPr>
          <a:xfrm>
            <a:off x="6720840" y="4526280"/>
            <a:ext cx="4892040" cy="1508760"/>
          </a:xfrm>
          <a:prstGeom prst="roundRect">
            <a:avLst>
              <a:gd name="adj" fmla="val 5455"/>
            </a:avLst>
          </a:prstGeom>
          <a:solidFill>
            <a:srgbClr val="1F2430"/>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2" name="Text 9"/>
          <p:cNvSpPr txBox="1"/>
          <p:nvPr/>
        </p:nvSpPr>
        <p:spPr>
          <a:xfrm>
            <a:off x="6949440" y="4681728"/>
            <a:ext cx="4480560" cy="365760"/>
          </a:xfrm>
          <a:prstGeom prst="rect">
            <a:avLst/>
          </a:prstGeom>
          <a:noFill/>
          <a:ln/>
        </p:spPr>
        <p:txBody>
          <a:bodyPr wrap="square" lIns="0" tIns="0" rIns="0" bIns="0" rtlCol="0" anchor="ctr"/>
          <a:lstStyle/>
          <a:p>
            <a:pPr indent="0" marL="0">
              <a:buNone/>
            </a:pPr>
            <a:r>
              <a:rPr lang="en-US" sz="1400" b="1" dirty="0">
                <a:solidFill>
                  <a:srgbClr val="FF922B"/>
                </a:solidFill>
                <a:latin typeface="Malgun Gothic" pitchFamily="34" charset="0"/>
                <a:ea typeface="Malgun Gothic" pitchFamily="34" charset="-122"/>
                <a:cs typeface="Malgun Gothic" pitchFamily="34" charset="-120"/>
              </a:rPr>
              <a:t>경찰 대응은 이미 포화 상태.</a:t>
            </a:r>
            <a:endParaRPr lang="en-US" sz="1400" dirty="0"/>
          </a:p>
        </p:txBody>
      </p:sp>
      <p:sp>
        <p:nvSpPr>
          <p:cNvPr id="13" name="Text 10"/>
          <p:cNvSpPr txBox="1"/>
          <p:nvPr/>
        </p:nvSpPr>
        <p:spPr>
          <a:xfrm>
            <a:off x="6949440" y="5074920"/>
            <a:ext cx="4480560" cy="914400"/>
          </a:xfrm>
          <a:prstGeom prst="rect">
            <a:avLst/>
          </a:prstGeom>
          <a:noFill/>
          <a:ln/>
        </p:spPr>
        <p:txBody>
          <a:bodyPr wrap="square" lIns="0" tIns="0" rIns="0" bIns="0" rtlCol="0" anchor="t"/>
          <a:lstStyle/>
          <a:p>
            <a:pPr indent="0" marL="0">
              <a:lnSpc>
                <a:spcPct val="115000"/>
              </a:lnSpc>
              <a:buNone/>
            </a:pPr>
            <a:r>
              <a:rPr lang="en-US" sz="1250" dirty="0">
                <a:solidFill>
                  <a:srgbClr val="D7DBE3"/>
                </a:solidFill>
                <a:latin typeface="Malgun Gothic" pitchFamily="34" charset="0"/>
                <a:ea typeface="Malgun Gothic" pitchFamily="34" charset="-122"/>
                <a:cs typeface="Malgun Gothic" pitchFamily="34" charset="-120"/>
              </a:rPr>
              <a:t>사람이 다 못 잡는다면, 플랫폼이 스스로 걸러야 한다.</a:t>
            </a:r>
            <a:endParaRPr lang="en-US" sz="1250" dirty="0"/>
          </a:p>
          <a:p>
            <a:pPr indent="0" marL="0">
              <a:lnSpc>
                <a:spcPct val="115000"/>
              </a:lnSpc>
              <a:buNone/>
            </a:pPr>
            <a:r>
              <a:rPr lang="en-US" sz="1250" dirty="0">
                <a:solidFill>
                  <a:srgbClr val="D7DBE3"/>
                </a:solidFill>
                <a:latin typeface="Malgun Gothic" pitchFamily="34" charset="0"/>
                <a:ea typeface="Malgun Gothic" pitchFamily="34" charset="-122"/>
                <a:cs typeface="Malgun Gothic" pitchFamily="34" charset="-120"/>
              </a:rPr>
              <a:t>→ 그래서 AI가 사기를 잡는 중고거래 앱을 만들었다.</a:t>
            </a:r>
            <a:endParaRPr lang="en-US" sz="1250" dirty="0"/>
          </a:p>
        </p:txBody>
      </p:sp>
      <p:sp>
        <p:nvSpPr>
          <p:cNvPr id="14" name="Text 11"/>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OVERVIEW</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당근 프로젝트 전체 흐름</a:t>
            </a:r>
            <a:endParaRPr lang="en-US" sz="2800" dirty="0"/>
          </a:p>
        </p:txBody>
      </p:sp>
      <p:sp>
        <p:nvSpPr>
          <p:cNvPr id="4" name="Text 2"/>
          <p:cNvSpPr txBox="1"/>
          <p:nvPr/>
        </p:nvSpPr>
        <p:spPr>
          <a:xfrm>
            <a:off x="548640" y="1371600"/>
            <a:ext cx="11064240" cy="365760"/>
          </a:xfrm>
          <a:prstGeom prst="rect">
            <a:avLst/>
          </a:prstGeom>
          <a:noFill/>
          <a:ln/>
        </p:spPr>
        <p:txBody>
          <a:bodyPr wrap="square" lIns="0" tIns="0" rIns="0" bIns="0" rtlCol="0" anchor="ctr"/>
          <a:lstStyle/>
          <a:p>
            <a:pPr indent="0" marL="0">
              <a:buNone/>
            </a:pPr>
            <a:r>
              <a:rPr lang="en-US" sz="1350" dirty="0">
                <a:solidFill>
                  <a:srgbClr val="6B7280"/>
                </a:solidFill>
                <a:latin typeface="Malgun Gothic" pitchFamily="34" charset="0"/>
                <a:ea typeface="Malgun Gothic" pitchFamily="34" charset="-122"/>
                <a:cs typeface="Malgun Gothic" pitchFamily="34" charset="-120"/>
              </a:rPr>
              <a:t>사용자가 화면에서 요청하면 → 서버가 처리하고 → DB에 저장한다. 사기 조사처럼 무거운 일은 서버가 AI를 부른다.</a:t>
            </a:r>
            <a:endParaRPr lang="en-US" sz="1350" dirty="0"/>
          </a:p>
        </p:txBody>
      </p:sp>
      <p:sp>
        <p:nvSpPr>
          <p:cNvPr id="5" name="Shape 3"/>
          <p:cNvSpPr/>
          <p:nvPr/>
        </p:nvSpPr>
        <p:spPr>
          <a:xfrm>
            <a:off x="640080" y="2057400"/>
            <a:ext cx="2331720" cy="1051560"/>
          </a:xfrm>
          <a:prstGeom prst="roundRect">
            <a:avLst>
              <a:gd name="adj" fmla="val 7826"/>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6" name="Text 4"/>
          <p:cNvSpPr txBox="1"/>
          <p:nvPr/>
        </p:nvSpPr>
        <p:spPr>
          <a:xfrm>
            <a:off x="640080" y="2212848"/>
            <a:ext cx="2331720" cy="320040"/>
          </a:xfrm>
          <a:prstGeom prst="rect">
            <a:avLst/>
          </a:prstGeom>
          <a:noFill/>
          <a:ln/>
        </p:spPr>
        <p:txBody>
          <a:bodyPr wrap="square" lIns="0" tIns="0" rIns="0" bIns="0" rtlCol="0" anchor="ctr"/>
          <a:lstStyle/>
          <a:p>
            <a:pPr algn="ctr" indent="0" marL="0">
              <a:buNone/>
            </a:pPr>
            <a:r>
              <a:rPr lang="en-US" sz="1500" b="1" dirty="0">
                <a:solidFill>
                  <a:srgbClr val="6B7280"/>
                </a:solidFill>
                <a:latin typeface="Malgun Gothic" pitchFamily="34" charset="0"/>
                <a:ea typeface="Malgun Gothic" pitchFamily="34" charset="-122"/>
                <a:cs typeface="Malgun Gothic" pitchFamily="34" charset="-120"/>
              </a:rPr>
              <a:t>사용자</a:t>
            </a:r>
            <a:endParaRPr lang="en-US" sz="1500" dirty="0"/>
          </a:p>
        </p:txBody>
      </p:sp>
      <p:sp>
        <p:nvSpPr>
          <p:cNvPr id="7" name="Text 5"/>
          <p:cNvSpPr txBox="1"/>
          <p:nvPr/>
        </p:nvSpPr>
        <p:spPr>
          <a:xfrm>
            <a:off x="640080" y="2578608"/>
            <a:ext cx="2331720" cy="320040"/>
          </a:xfrm>
          <a:prstGeom prst="rect">
            <a:avLst/>
          </a:prstGeom>
          <a:noFill/>
          <a:ln/>
        </p:spPr>
        <p:txBody>
          <a:bodyPr wrap="square" lIns="0" tIns="0" rIns="0" bIns="0" rtlCol="0" anchor="ctr"/>
          <a:lstStyle/>
          <a:p>
            <a:pPr algn="ctr" indent="0" marL="0">
              <a:buNone/>
            </a:pPr>
            <a:r>
              <a:rPr lang="en-US" sz="1200" dirty="0">
                <a:solidFill>
                  <a:srgbClr val="6B7280"/>
                </a:solidFill>
                <a:latin typeface="Malgun Gothic" pitchFamily="34" charset="0"/>
                <a:ea typeface="Malgun Gothic" pitchFamily="34" charset="-122"/>
                <a:cs typeface="Malgun Gothic" pitchFamily="34" charset="-120"/>
              </a:rPr>
              <a:t>웹 브라우저</a:t>
            </a:r>
            <a:endParaRPr lang="en-US" sz="1200" dirty="0"/>
          </a:p>
        </p:txBody>
      </p:sp>
      <p:sp>
        <p:nvSpPr>
          <p:cNvPr id="8" name="Shape 6"/>
          <p:cNvSpPr/>
          <p:nvPr/>
        </p:nvSpPr>
        <p:spPr>
          <a:xfrm>
            <a:off x="3017520" y="2478024"/>
            <a:ext cx="329184" cy="219456"/>
          </a:xfrm>
          <a:prstGeom prst="rightArrow">
            <a:avLst/>
          </a:prstGeom>
          <a:solidFill>
            <a:srgbClr val="FF922B"/>
          </a:solidFill>
          <a:ln/>
        </p:spPr>
      </p:sp>
      <p:sp>
        <p:nvSpPr>
          <p:cNvPr id="9" name="Shape 7"/>
          <p:cNvSpPr/>
          <p:nvPr/>
        </p:nvSpPr>
        <p:spPr>
          <a:xfrm>
            <a:off x="3401568" y="2057400"/>
            <a:ext cx="2331720" cy="1051560"/>
          </a:xfrm>
          <a:prstGeom prst="roundRect">
            <a:avLst>
              <a:gd name="adj" fmla="val 7826"/>
            </a:avLst>
          </a:prstGeom>
          <a:solidFill>
            <a:srgbClr val="FFF4E6"/>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0" name="Text 8"/>
          <p:cNvSpPr txBox="1"/>
          <p:nvPr/>
        </p:nvSpPr>
        <p:spPr>
          <a:xfrm>
            <a:off x="3401568" y="2212848"/>
            <a:ext cx="2331720" cy="320040"/>
          </a:xfrm>
          <a:prstGeom prst="rect">
            <a:avLst/>
          </a:prstGeom>
          <a:noFill/>
          <a:ln/>
        </p:spPr>
        <p:txBody>
          <a:bodyPr wrap="square" lIns="0" tIns="0" rIns="0" bIns="0" rtlCol="0" anchor="ctr"/>
          <a:lstStyle/>
          <a:p>
            <a:pPr algn="ctr" indent="0" marL="0">
              <a:buNone/>
            </a:pPr>
            <a:r>
              <a:rPr lang="en-US" sz="1500" b="1" dirty="0">
                <a:solidFill>
                  <a:srgbClr val="E8590C"/>
                </a:solidFill>
                <a:latin typeface="Malgun Gothic" pitchFamily="34" charset="0"/>
                <a:ea typeface="Malgun Gothic" pitchFamily="34" charset="-122"/>
                <a:cs typeface="Malgun Gothic" pitchFamily="34" charset="-120"/>
              </a:rPr>
              <a:t>프론트엔드</a:t>
            </a:r>
            <a:endParaRPr lang="en-US" sz="1500" dirty="0"/>
          </a:p>
        </p:txBody>
      </p:sp>
      <p:sp>
        <p:nvSpPr>
          <p:cNvPr id="11" name="Text 9"/>
          <p:cNvSpPr txBox="1"/>
          <p:nvPr/>
        </p:nvSpPr>
        <p:spPr>
          <a:xfrm>
            <a:off x="3401568" y="2578608"/>
            <a:ext cx="2331720" cy="320040"/>
          </a:xfrm>
          <a:prstGeom prst="rect">
            <a:avLst/>
          </a:prstGeom>
          <a:noFill/>
          <a:ln/>
        </p:spPr>
        <p:txBody>
          <a:bodyPr wrap="square" lIns="0" tIns="0" rIns="0" bIns="0" rtlCol="0" anchor="ctr"/>
          <a:lstStyle/>
          <a:p>
            <a:pPr algn="ctr" indent="0" marL="0">
              <a:buNone/>
            </a:pPr>
            <a:r>
              <a:rPr lang="en-US" sz="1200" dirty="0">
                <a:solidFill>
                  <a:srgbClr val="6B7280"/>
                </a:solidFill>
                <a:latin typeface="Malgun Gothic" pitchFamily="34" charset="0"/>
                <a:ea typeface="Malgun Gothic" pitchFamily="34" charset="-122"/>
                <a:cs typeface="Malgun Gothic" pitchFamily="34" charset="-120"/>
              </a:rPr>
              <a:t>React + Vite</a:t>
            </a:r>
            <a:endParaRPr lang="en-US" sz="1200" dirty="0"/>
          </a:p>
        </p:txBody>
      </p:sp>
      <p:sp>
        <p:nvSpPr>
          <p:cNvPr id="12" name="Shape 10"/>
          <p:cNvSpPr/>
          <p:nvPr/>
        </p:nvSpPr>
        <p:spPr>
          <a:xfrm>
            <a:off x="5779008" y="2478024"/>
            <a:ext cx="329184" cy="219456"/>
          </a:xfrm>
          <a:prstGeom prst="rightArrow">
            <a:avLst/>
          </a:prstGeom>
          <a:solidFill>
            <a:srgbClr val="FF922B"/>
          </a:solidFill>
          <a:ln/>
        </p:spPr>
      </p:sp>
      <p:sp>
        <p:nvSpPr>
          <p:cNvPr id="13" name="Shape 11"/>
          <p:cNvSpPr/>
          <p:nvPr/>
        </p:nvSpPr>
        <p:spPr>
          <a:xfrm>
            <a:off x="6163056" y="2057400"/>
            <a:ext cx="2331720" cy="1051560"/>
          </a:xfrm>
          <a:prstGeom prst="roundRect">
            <a:avLst>
              <a:gd name="adj" fmla="val 7826"/>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4" name="Text 12"/>
          <p:cNvSpPr txBox="1"/>
          <p:nvPr/>
        </p:nvSpPr>
        <p:spPr>
          <a:xfrm>
            <a:off x="6163056" y="2212848"/>
            <a:ext cx="2331720" cy="320040"/>
          </a:xfrm>
          <a:prstGeom prst="rect">
            <a:avLst/>
          </a:prstGeom>
          <a:noFill/>
          <a:ln/>
        </p:spPr>
        <p:txBody>
          <a:bodyPr wrap="square" lIns="0" tIns="0" rIns="0" bIns="0" rtlCol="0" anchor="ctr"/>
          <a:lstStyle/>
          <a:p>
            <a:pPr algn="ctr" indent="0" marL="0">
              <a:buNone/>
            </a:pPr>
            <a:r>
              <a:rPr lang="en-US" sz="1500" b="1" dirty="0">
                <a:solidFill>
                  <a:srgbClr val="1F2430"/>
                </a:solidFill>
                <a:latin typeface="Malgun Gothic" pitchFamily="34" charset="0"/>
                <a:ea typeface="Malgun Gothic" pitchFamily="34" charset="-122"/>
                <a:cs typeface="Malgun Gothic" pitchFamily="34" charset="-120"/>
              </a:rPr>
              <a:t>백엔드</a:t>
            </a:r>
            <a:endParaRPr lang="en-US" sz="1500" dirty="0"/>
          </a:p>
        </p:txBody>
      </p:sp>
      <p:sp>
        <p:nvSpPr>
          <p:cNvPr id="15" name="Text 13"/>
          <p:cNvSpPr txBox="1"/>
          <p:nvPr/>
        </p:nvSpPr>
        <p:spPr>
          <a:xfrm>
            <a:off x="6163056" y="2578608"/>
            <a:ext cx="2331720" cy="320040"/>
          </a:xfrm>
          <a:prstGeom prst="rect">
            <a:avLst/>
          </a:prstGeom>
          <a:noFill/>
          <a:ln/>
        </p:spPr>
        <p:txBody>
          <a:bodyPr wrap="square" lIns="0" tIns="0" rIns="0" bIns="0" rtlCol="0" anchor="ctr"/>
          <a:lstStyle/>
          <a:p>
            <a:pPr algn="ctr" indent="0" marL="0">
              <a:buNone/>
            </a:pPr>
            <a:r>
              <a:rPr lang="en-US" sz="1200" dirty="0">
                <a:solidFill>
                  <a:srgbClr val="6B7280"/>
                </a:solidFill>
                <a:latin typeface="Malgun Gothic" pitchFamily="34" charset="0"/>
                <a:ea typeface="Malgun Gothic" pitchFamily="34" charset="-122"/>
                <a:cs typeface="Malgun Gothic" pitchFamily="34" charset="-120"/>
              </a:rPr>
              <a:t>FastAPI</a:t>
            </a:r>
            <a:endParaRPr lang="en-US" sz="1200" dirty="0"/>
          </a:p>
        </p:txBody>
      </p:sp>
      <p:sp>
        <p:nvSpPr>
          <p:cNvPr id="16" name="Shape 14"/>
          <p:cNvSpPr/>
          <p:nvPr/>
        </p:nvSpPr>
        <p:spPr>
          <a:xfrm>
            <a:off x="8540496" y="2478024"/>
            <a:ext cx="329184" cy="219456"/>
          </a:xfrm>
          <a:prstGeom prst="rightArrow">
            <a:avLst/>
          </a:prstGeom>
          <a:solidFill>
            <a:srgbClr val="FF922B"/>
          </a:solidFill>
          <a:ln/>
        </p:spPr>
      </p:sp>
      <p:sp>
        <p:nvSpPr>
          <p:cNvPr id="17" name="Shape 15"/>
          <p:cNvSpPr/>
          <p:nvPr/>
        </p:nvSpPr>
        <p:spPr>
          <a:xfrm>
            <a:off x="8924544" y="2057400"/>
            <a:ext cx="2331720" cy="1051560"/>
          </a:xfrm>
          <a:prstGeom prst="roundRect">
            <a:avLst>
              <a:gd name="adj" fmla="val 7826"/>
            </a:avLst>
          </a:prstGeom>
          <a:solidFill>
            <a:srgbClr val="EBFBEE"/>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8" name="Text 16"/>
          <p:cNvSpPr txBox="1"/>
          <p:nvPr/>
        </p:nvSpPr>
        <p:spPr>
          <a:xfrm>
            <a:off x="8924544" y="2212848"/>
            <a:ext cx="2331720" cy="320040"/>
          </a:xfrm>
          <a:prstGeom prst="rect">
            <a:avLst/>
          </a:prstGeom>
          <a:noFill/>
          <a:ln/>
        </p:spPr>
        <p:txBody>
          <a:bodyPr wrap="square" lIns="0" tIns="0" rIns="0" bIns="0" rtlCol="0" anchor="ctr"/>
          <a:lstStyle/>
          <a:p>
            <a:pPr algn="ctr" indent="0" marL="0">
              <a:buNone/>
            </a:pPr>
            <a:r>
              <a:rPr lang="en-US" sz="1500" b="1" dirty="0">
                <a:solidFill>
                  <a:srgbClr val="2F9E44"/>
                </a:solidFill>
                <a:latin typeface="Malgun Gothic" pitchFamily="34" charset="0"/>
                <a:ea typeface="Malgun Gothic" pitchFamily="34" charset="-122"/>
                <a:cs typeface="Malgun Gothic" pitchFamily="34" charset="-120"/>
              </a:rPr>
              <a:t>데이터</a:t>
            </a:r>
            <a:endParaRPr lang="en-US" sz="1500" dirty="0"/>
          </a:p>
        </p:txBody>
      </p:sp>
      <p:sp>
        <p:nvSpPr>
          <p:cNvPr id="19" name="Text 17"/>
          <p:cNvSpPr txBox="1"/>
          <p:nvPr/>
        </p:nvSpPr>
        <p:spPr>
          <a:xfrm>
            <a:off x="8924544" y="2578608"/>
            <a:ext cx="2331720" cy="320040"/>
          </a:xfrm>
          <a:prstGeom prst="rect">
            <a:avLst/>
          </a:prstGeom>
          <a:noFill/>
          <a:ln/>
        </p:spPr>
        <p:txBody>
          <a:bodyPr wrap="square" lIns="0" tIns="0" rIns="0" bIns="0" rtlCol="0" anchor="ctr"/>
          <a:lstStyle/>
          <a:p>
            <a:pPr algn="ctr" indent="0" marL="0">
              <a:buNone/>
            </a:pPr>
            <a:r>
              <a:rPr lang="en-US" sz="1200" dirty="0">
                <a:solidFill>
                  <a:srgbClr val="6B7280"/>
                </a:solidFill>
                <a:latin typeface="Malgun Gothic" pitchFamily="34" charset="0"/>
                <a:ea typeface="Malgun Gothic" pitchFamily="34" charset="-122"/>
                <a:cs typeface="Malgun Gothic" pitchFamily="34" charset="-120"/>
              </a:rPr>
              <a:t>SQLite</a:t>
            </a:r>
            <a:endParaRPr lang="en-US" sz="1200" dirty="0"/>
          </a:p>
        </p:txBody>
      </p:sp>
      <p:sp>
        <p:nvSpPr>
          <p:cNvPr id="20" name="Shape 18"/>
          <p:cNvSpPr/>
          <p:nvPr/>
        </p:nvSpPr>
        <p:spPr>
          <a:xfrm>
            <a:off x="640080" y="3657600"/>
            <a:ext cx="11018520" cy="2423160"/>
          </a:xfrm>
          <a:prstGeom prst="roundRect">
            <a:avLst>
              <a:gd name="adj" fmla="val 3396"/>
            </a:avLst>
          </a:prstGeom>
          <a:solidFill>
            <a:srgbClr val="FBFAF8"/>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1" name="Text 19"/>
          <p:cNvSpPr txBox="1"/>
          <p:nvPr/>
        </p:nvSpPr>
        <p:spPr>
          <a:xfrm>
            <a:off x="868680" y="3794760"/>
            <a:ext cx="10515600" cy="320040"/>
          </a:xfrm>
          <a:prstGeom prst="rect">
            <a:avLst/>
          </a:prstGeom>
          <a:noFill/>
          <a:ln/>
        </p:spPr>
        <p:txBody>
          <a:bodyPr wrap="square" lIns="0" tIns="0" rIns="0" bIns="0" rtlCol="0" anchor="ctr"/>
          <a:lstStyle/>
          <a:p>
            <a:pPr indent="0" marL="0">
              <a:buNone/>
            </a:pPr>
            <a:r>
              <a:rPr lang="en-US" sz="1350" b="1" dirty="0">
                <a:solidFill>
                  <a:srgbClr val="1F2430"/>
                </a:solidFill>
                <a:latin typeface="Malgun Gothic" pitchFamily="34" charset="0"/>
                <a:ea typeface="Malgun Gothic" pitchFamily="34" charset="-122"/>
                <a:cs typeface="Malgun Gothic" pitchFamily="34" charset="-120"/>
              </a:rPr>
              <a:t>AI 엔진 (모두 로컬 실행 · 백엔드가 필요할 때 호출)</a:t>
            </a:r>
            <a:endParaRPr lang="en-US" sz="1350" dirty="0"/>
          </a:p>
        </p:txBody>
      </p:sp>
      <p:sp>
        <p:nvSpPr>
          <p:cNvPr id="22" name="Shape 20"/>
          <p:cNvSpPr/>
          <p:nvPr/>
        </p:nvSpPr>
        <p:spPr>
          <a:xfrm>
            <a:off x="868680" y="4251960"/>
            <a:ext cx="2514600" cy="1600200"/>
          </a:xfrm>
          <a:prstGeom prst="roundRect">
            <a:avLst>
              <a:gd name="adj" fmla="val 514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3" name="Shape 21"/>
          <p:cNvSpPr/>
          <p:nvPr/>
        </p:nvSpPr>
        <p:spPr>
          <a:xfrm>
            <a:off x="1874520" y="4434840"/>
            <a:ext cx="457200" cy="457200"/>
          </a:xfrm>
          <a:prstGeom prst="ellipse">
            <a:avLst/>
          </a:prstGeom>
          <a:solidFill>
            <a:srgbClr val="E8590C"/>
          </a:solidFill>
          <a:ln/>
        </p:spPr>
      </p:sp>
      <p:sp>
        <p:nvSpPr>
          <p:cNvPr id="24" name="Text 22"/>
          <p:cNvSpPr txBox="1"/>
          <p:nvPr/>
        </p:nvSpPr>
        <p:spPr>
          <a:xfrm>
            <a:off x="868680" y="4983480"/>
            <a:ext cx="2514600" cy="320040"/>
          </a:xfrm>
          <a:prstGeom prst="rect">
            <a:avLst/>
          </a:prstGeom>
          <a:noFill/>
          <a:ln/>
        </p:spPr>
        <p:txBody>
          <a:bodyPr wrap="square" lIns="0" tIns="0" rIns="0" bIns="0" rtlCol="0" anchor="ctr"/>
          <a:lstStyle/>
          <a:p>
            <a:pPr algn="ctr" indent="0" marL="0">
              <a:buNone/>
            </a:pPr>
            <a:r>
              <a:rPr lang="en-US" sz="1300" b="1" dirty="0">
                <a:solidFill>
                  <a:srgbClr val="1F2430"/>
                </a:solidFill>
                <a:latin typeface="Malgun Gothic" pitchFamily="34" charset="0"/>
                <a:ea typeface="Malgun Gothic" pitchFamily="34" charset="-122"/>
                <a:cs typeface="Malgun Gothic" pitchFamily="34" charset="-120"/>
              </a:rPr>
              <a:t>gemma3:12b</a:t>
            </a:r>
            <a:endParaRPr lang="en-US" sz="1300" dirty="0"/>
          </a:p>
        </p:txBody>
      </p:sp>
      <p:sp>
        <p:nvSpPr>
          <p:cNvPr id="25" name="Text 23"/>
          <p:cNvSpPr txBox="1"/>
          <p:nvPr/>
        </p:nvSpPr>
        <p:spPr>
          <a:xfrm>
            <a:off x="960120" y="5321808"/>
            <a:ext cx="233172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조사·판매글 초안</a:t>
            </a:r>
            <a:endParaRPr lang="en-US" sz="1100" dirty="0"/>
          </a:p>
        </p:txBody>
      </p:sp>
      <p:sp>
        <p:nvSpPr>
          <p:cNvPr id="26" name="Shape 24"/>
          <p:cNvSpPr/>
          <p:nvPr/>
        </p:nvSpPr>
        <p:spPr>
          <a:xfrm>
            <a:off x="3566160" y="4251960"/>
            <a:ext cx="2514600" cy="1600200"/>
          </a:xfrm>
          <a:prstGeom prst="roundRect">
            <a:avLst>
              <a:gd name="adj" fmla="val 514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7" name="Shape 25"/>
          <p:cNvSpPr/>
          <p:nvPr/>
        </p:nvSpPr>
        <p:spPr>
          <a:xfrm>
            <a:off x="4572000" y="4434840"/>
            <a:ext cx="457200" cy="457200"/>
          </a:xfrm>
          <a:prstGeom prst="ellipse">
            <a:avLst/>
          </a:prstGeom>
          <a:solidFill>
            <a:srgbClr val="FF922B"/>
          </a:solidFill>
          <a:ln/>
        </p:spPr>
      </p:sp>
      <p:sp>
        <p:nvSpPr>
          <p:cNvPr id="28" name="Text 26"/>
          <p:cNvSpPr txBox="1"/>
          <p:nvPr/>
        </p:nvSpPr>
        <p:spPr>
          <a:xfrm>
            <a:off x="3566160" y="4983480"/>
            <a:ext cx="2514600" cy="320040"/>
          </a:xfrm>
          <a:prstGeom prst="rect">
            <a:avLst/>
          </a:prstGeom>
          <a:noFill/>
          <a:ln/>
        </p:spPr>
        <p:txBody>
          <a:bodyPr wrap="square" lIns="0" tIns="0" rIns="0" bIns="0" rtlCol="0" anchor="ctr"/>
          <a:lstStyle/>
          <a:p>
            <a:pPr algn="ctr" indent="0" marL="0">
              <a:buNone/>
            </a:pPr>
            <a:r>
              <a:rPr lang="en-US" sz="1300" b="1" dirty="0">
                <a:solidFill>
                  <a:srgbClr val="1F2430"/>
                </a:solidFill>
                <a:latin typeface="Malgun Gothic" pitchFamily="34" charset="0"/>
                <a:ea typeface="Malgun Gothic" pitchFamily="34" charset="-122"/>
                <a:cs typeface="Malgun Gothic" pitchFamily="34" charset="-120"/>
              </a:rPr>
              <a:t>CLIP</a:t>
            </a:r>
            <a:endParaRPr lang="en-US" sz="1300" dirty="0"/>
          </a:p>
        </p:txBody>
      </p:sp>
      <p:sp>
        <p:nvSpPr>
          <p:cNvPr id="29" name="Text 27"/>
          <p:cNvSpPr txBox="1"/>
          <p:nvPr/>
        </p:nvSpPr>
        <p:spPr>
          <a:xfrm>
            <a:off x="3657600" y="5321808"/>
            <a:ext cx="233172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사진 뜻 이해</a:t>
            </a:r>
            <a:endParaRPr lang="en-US" sz="1100" dirty="0"/>
          </a:p>
        </p:txBody>
      </p:sp>
      <p:sp>
        <p:nvSpPr>
          <p:cNvPr id="30" name="Shape 28"/>
          <p:cNvSpPr/>
          <p:nvPr/>
        </p:nvSpPr>
        <p:spPr>
          <a:xfrm>
            <a:off x="6263640" y="4251960"/>
            <a:ext cx="2514600" cy="1600200"/>
          </a:xfrm>
          <a:prstGeom prst="roundRect">
            <a:avLst>
              <a:gd name="adj" fmla="val 514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31" name="Shape 29"/>
          <p:cNvSpPr/>
          <p:nvPr/>
        </p:nvSpPr>
        <p:spPr>
          <a:xfrm>
            <a:off x="7269480" y="4434840"/>
            <a:ext cx="457200" cy="457200"/>
          </a:xfrm>
          <a:prstGeom prst="ellipse">
            <a:avLst/>
          </a:prstGeom>
          <a:solidFill>
            <a:srgbClr val="2F9E44"/>
          </a:solidFill>
          <a:ln/>
        </p:spPr>
      </p:sp>
      <p:sp>
        <p:nvSpPr>
          <p:cNvPr id="32" name="Text 30"/>
          <p:cNvSpPr txBox="1"/>
          <p:nvPr/>
        </p:nvSpPr>
        <p:spPr>
          <a:xfrm>
            <a:off x="6263640" y="4983480"/>
            <a:ext cx="2514600" cy="320040"/>
          </a:xfrm>
          <a:prstGeom prst="rect">
            <a:avLst/>
          </a:prstGeom>
          <a:noFill/>
          <a:ln/>
        </p:spPr>
        <p:txBody>
          <a:bodyPr wrap="square" lIns="0" tIns="0" rIns="0" bIns="0" rtlCol="0" anchor="ctr"/>
          <a:lstStyle/>
          <a:p>
            <a:pPr algn="ctr" indent="0" marL="0">
              <a:buNone/>
            </a:pPr>
            <a:r>
              <a:rPr lang="en-US" sz="1300" b="1" dirty="0">
                <a:solidFill>
                  <a:srgbClr val="1F2430"/>
                </a:solidFill>
                <a:latin typeface="Malgun Gothic" pitchFamily="34" charset="0"/>
                <a:ea typeface="Malgun Gothic" pitchFamily="34" charset="-122"/>
                <a:cs typeface="Malgun Gothic" pitchFamily="34" charset="-120"/>
              </a:rPr>
              <a:t>ko-sroberta</a:t>
            </a:r>
            <a:endParaRPr lang="en-US" sz="1300" dirty="0"/>
          </a:p>
        </p:txBody>
      </p:sp>
      <p:sp>
        <p:nvSpPr>
          <p:cNvPr id="33" name="Text 31"/>
          <p:cNvSpPr txBox="1"/>
          <p:nvPr/>
        </p:nvSpPr>
        <p:spPr>
          <a:xfrm>
            <a:off x="6355080" y="5321808"/>
            <a:ext cx="233172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의미 검색</a:t>
            </a:r>
            <a:endParaRPr lang="en-US" sz="1100" dirty="0"/>
          </a:p>
        </p:txBody>
      </p:sp>
      <p:sp>
        <p:nvSpPr>
          <p:cNvPr id="34" name="Shape 32"/>
          <p:cNvSpPr/>
          <p:nvPr/>
        </p:nvSpPr>
        <p:spPr>
          <a:xfrm>
            <a:off x="8961120" y="4251960"/>
            <a:ext cx="2514600" cy="1600200"/>
          </a:xfrm>
          <a:prstGeom prst="roundRect">
            <a:avLst>
              <a:gd name="adj" fmla="val 514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35" name="Shape 33"/>
          <p:cNvSpPr/>
          <p:nvPr/>
        </p:nvSpPr>
        <p:spPr>
          <a:xfrm>
            <a:off x="9966960" y="4434840"/>
            <a:ext cx="457200" cy="457200"/>
          </a:xfrm>
          <a:prstGeom prst="ellipse">
            <a:avLst/>
          </a:prstGeom>
          <a:solidFill>
            <a:srgbClr val="1C7293"/>
          </a:solidFill>
          <a:ln/>
        </p:spPr>
      </p:sp>
      <p:sp>
        <p:nvSpPr>
          <p:cNvPr id="36" name="Text 34"/>
          <p:cNvSpPr txBox="1"/>
          <p:nvPr/>
        </p:nvSpPr>
        <p:spPr>
          <a:xfrm>
            <a:off x="8961120" y="4983480"/>
            <a:ext cx="2514600" cy="320040"/>
          </a:xfrm>
          <a:prstGeom prst="rect">
            <a:avLst/>
          </a:prstGeom>
          <a:noFill/>
          <a:ln/>
        </p:spPr>
        <p:txBody>
          <a:bodyPr wrap="square" lIns="0" tIns="0" rIns="0" bIns="0" rtlCol="0" anchor="ctr"/>
          <a:lstStyle/>
          <a:p>
            <a:pPr algn="ctr" indent="0" marL="0">
              <a:buNone/>
            </a:pPr>
            <a:r>
              <a:rPr lang="en-US" sz="1300" b="1" dirty="0">
                <a:solidFill>
                  <a:srgbClr val="1F2430"/>
                </a:solidFill>
                <a:latin typeface="Malgun Gothic" pitchFamily="34" charset="0"/>
                <a:ea typeface="Malgun Gothic" pitchFamily="34" charset="-122"/>
                <a:cs typeface="Malgun Gothic" pitchFamily="34" charset="-120"/>
              </a:rPr>
              <a:t>pHash</a:t>
            </a:r>
            <a:endParaRPr lang="en-US" sz="1300" dirty="0"/>
          </a:p>
        </p:txBody>
      </p:sp>
      <p:sp>
        <p:nvSpPr>
          <p:cNvPr id="37" name="Text 35"/>
          <p:cNvSpPr txBox="1"/>
          <p:nvPr/>
        </p:nvSpPr>
        <p:spPr>
          <a:xfrm>
            <a:off x="9052560" y="5321808"/>
            <a:ext cx="233172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사진 도용 탐지</a:t>
            </a:r>
            <a:endParaRPr lang="en-US" sz="1100" dirty="0"/>
          </a:p>
        </p:txBody>
      </p:sp>
      <p:sp>
        <p:nvSpPr>
          <p:cNvPr id="38" name="Text 36"/>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TECH STACK</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기술 스택 — 무엇을 왜 썼나</a:t>
            </a:r>
            <a:endParaRPr lang="en-US" sz="2800" dirty="0"/>
          </a:p>
        </p:txBody>
      </p:sp>
      <p:sp>
        <p:nvSpPr>
          <p:cNvPr id="4" name="Shape 2"/>
          <p:cNvSpPr/>
          <p:nvPr/>
        </p:nvSpPr>
        <p:spPr>
          <a:xfrm>
            <a:off x="640080" y="1463040"/>
            <a:ext cx="2606040" cy="1371600"/>
          </a:xfrm>
          <a:prstGeom prst="roundRect">
            <a:avLst>
              <a:gd name="adj" fmla="val 6000"/>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5" name="Shape 3"/>
          <p:cNvSpPr/>
          <p:nvPr/>
        </p:nvSpPr>
        <p:spPr>
          <a:xfrm>
            <a:off x="640080" y="1463040"/>
            <a:ext cx="2606040" cy="502920"/>
          </a:xfrm>
          <a:prstGeom prst="roundRect">
            <a:avLst>
              <a:gd name="adj" fmla="val 16364"/>
            </a:avLst>
          </a:prstGeom>
          <a:solidFill>
            <a:srgbClr val="E8590C"/>
          </a:solidFill>
          <a:ln/>
        </p:spPr>
      </p:sp>
      <p:sp>
        <p:nvSpPr>
          <p:cNvPr id="6" name="Text 4"/>
          <p:cNvSpPr txBox="1"/>
          <p:nvPr/>
        </p:nvSpPr>
        <p:spPr>
          <a:xfrm>
            <a:off x="640080" y="1463040"/>
            <a:ext cx="260604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React</a:t>
            </a:r>
            <a:endParaRPr lang="en-US" sz="1500" dirty="0"/>
          </a:p>
        </p:txBody>
      </p:sp>
      <p:sp>
        <p:nvSpPr>
          <p:cNvPr id="7" name="Text 5"/>
          <p:cNvSpPr txBox="1"/>
          <p:nvPr/>
        </p:nvSpPr>
        <p:spPr>
          <a:xfrm>
            <a:off x="777240" y="2057400"/>
            <a:ext cx="2331720" cy="685800"/>
          </a:xfrm>
          <a:prstGeom prst="rect">
            <a:avLst/>
          </a:prstGeom>
          <a:noFill/>
          <a:ln/>
        </p:spPr>
        <p:txBody>
          <a:bodyPr wrap="square" lIns="0" tIns="0" rIns="0" bIns="0" rtlCol="0" anchor="ctr"/>
          <a:lstStyle/>
          <a:p>
            <a:pPr algn="ctr" indent="0" marL="0">
              <a:buNone/>
            </a:pPr>
            <a:r>
              <a:rPr lang="en-US" sz="1200" dirty="0">
                <a:solidFill>
                  <a:srgbClr val="3A3F4B"/>
                </a:solidFill>
                <a:latin typeface="Malgun Gothic" pitchFamily="34" charset="0"/>
                <a:ea typeface="Malgun Gothic" pitchFamily="34" charset="-122"/>
                <a:cs typeface="Malgun Gothic" pitchFamily="34" charset="-120"/>
              </a:rPr>
              <a:t>프론트엔드 UI 라이브러리</a:t>
            </a:r>
            <a:endParaRPr lang="en-US" sz="1200" dirty="0"/>
          </a:p>
        </p:txBody>
      </p:sp>
      <p:sp>
        <p:nvSpPr>
          <p:cNvPr id="8" name="Shape 6"/>
          <p:cNvSpPr/>
          <p:nvPr/>
        </p:nvSpPr>
        <p:spPr>
          <a:xfrm>
            <a:off x="3429000" y="1463040"/>
            <a:ext cx="2606040" cy="1371600"/>
          </a:xfrm>
          <a:prstGeom prst="roundRect">
            <a:avLst>
              <a:gd name="adj" fmla="val 6000"/>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9" name="Shape 7"/>
          <p:cNvSpPr/>
          <p:nvPr/>
        </p:nvSpPr>
        <p:spPr>
          <a:xfrm>
            <a:off x="3429000" y="1463040"/>
            <a:ext cx="2606040" cy="502920"/>
          </a:xfrm>
          <a:prstGeom prst="roundRect">
            <a:avLst>
              <a:gd name="adj" fmla="val 16364"/>
            </a:avLst>
          </a:prstGeom>
          <a:solidFill>
            <a:srgbClr val="1F2430"/>
          </a:solidFill>
          <a:ln/>
        </p:spPr>
      </p:sp>
      <p:sp>
        <p:nvSpPr>
          <p:cNvPr id="10" name="Text 8"/>
          <p:cNvSpPr txBox="1"/>
          <p:nvPr/>
        </p:nvSpPr>
        <p:spPr>
          <a:xfrm>
            <a:off x="3429000" y="1463040"/>
            <a:ext cx="260604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FastAPI</a:t>
            </a:r>
            <a:endParaRPr lang="en-US" sz="1500" dirty="0"/>
          </a:p>
        </p:txBody>
      </p:sp>
      <p:sp>
        <p:nvSpPr>
          <p:cNvPr id="11" name="Text 9"/>
          <p:cNvSpPr txBox="1"/>
          <p:nvPr/>
        </p:nvSpPr>
        <p:spPr>
          <a:xfrm>
            <a:off x="3566160" y="2057400"/>
            <a:ext cx="2331720" cy="685800"/>
          </a:xfrm>
          <a:prstGeom prst="rect">
            <a:avLst/>
          </a:prstGeom>
          <a:noFill/>
          <a:ln/>
        </p:spPr>
        <p:txBody>
          <a:bodyPr wrap="square" lIns="0" tIns="0" rIns="0" bIns="0" rtlCol="0" anchor="ctr"/>
          <a:lstStyle/>
          <a:p>
            <a:pPr algn="ctr" indent="0" marL="0">
              <a:buNone/>
            </a:pPr>
            <a:r>
              <a:rPr lang="en-US" sz="1200" dirty="0">
                <a:solidFill>
                  <a:srgbClr val="3A3F4B"/>
                </a:solidFill>
                <a:latin typeface="Malgun Gothic" pitchFamily="34" charset="0"/>
                <a:ea typeface="Malgun Gothic" pitchFamily="34" charset="-122"/>
                <a:cs typeface="Malgun Gothic" pitchFamily="34" charset="-120"/>
              </a:rPr>
              <a:t>파이썬 백엔드 프레임워크</a:t>
            </a:r>
            <a:endParaRPr lang="en-US" sz="1200" dirty="0"/>
          </a:p>
        </p:txBody>
      </p:sp>
      <p:sp>
        <p:nvSpPr>
          <p:cNvPr id="12" name="Shape 10"/>
          <p:cNvSpPr/>
          <p:nvPr/>
        </p:nvSpPr>
        <p:spPr>
          <a:xfrm>
            <a:off x="6217920" y="1463040"/>
            <a:ext cx="2606040" cy="1371600"/>
          </a:xfrm>
          <a:prstGeom prst="roundRect">
            <a:avLst>
              <a:gd name="adj" fmla="val 6000"/>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3" name="Shape 11"/>
          <p:cNvSpPr/>
          <p:nvPr/>
        </p:nvSpPr>
        <p:spPr>
          <a:xfrm>
            <a:off x="6217920" y="1463040"/>
            <a:ext cx="2606040" cy="502920"/>
          </a:xfrm>
          <a:prstGeom prst="roundRect">
            <a:avLst>
              <a:gd name="adj" fmla="val 16364"/>
            </a:avLst>
          </a:prstGeom>
          <a:solidFill>
            <a:srgbClr val="2F9E44"/>
          </a:solidFill>
          <a:ln/>
        </p:spPr>
      </p:sp>
      <p:sp>
        <p:nvSpPr>
          <p:cNvPr id="14" name="Text 12"/>
          <p:cNvSpPr txBox="1"/>
          <p:nvPr/>
        </p:nvSpPr>
        <p:spPr>
          <a:xfrm>
            <a:off x="6217920" y="1463040"/>
            <a:ext cx="260604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SQLite</a:t>
            </a:r>
            <a:endParaRPr lang="en-US" sz="1500" dirty="0"/>
          </a:p>
        </p:txBody>
      </p:sp>
      <p:sp>
        <p:nvSpPr>
          <p:cNvPr id="15" name="Text 13"/>
          <p:cNvSpPr txBox="1"/>
          <p:nvPr/>
        </p:nvSpPr>
        <p:spPr>
          <a:xfrm>
            <a:off x="6355080" y="2057400"/>
            <a:ext cx="2331720" cy="685800"/>
          </a:xfrm>
          <a:prstGeom prst="rect">
            <a:avLst/>
          </a:prstGeom>
          <a:noFill/>
          <a:ln/>
        </p:spPr>
        <p:txBody>
          <a:bodyPr wrap="square" lIns="0" tIns="0" rIns="0" bIns="0" rtlCol="0" anchor="ctr"/>
          <a:lstStyle/>
          <a:p>
            <a:pPr algn="ctr" indent="0" marL="0">
              <a:buNone/>
            </a:pPr>
            <a:r>
              <a:rPr lang="en-US" sz="1200" dirty="0">
                <a:solidFill>
                  <a:srgbClr val="3A3F4B"/>
                </a:solidFill>
                <a:latin typeface="Malgun Gothic" pitchFamily="34" charset="0"/>
                <a:ea typeface="Malgun Gothic" pitchFamily="34" charset="-122"/>
                <a:cs typeface="Malgun Gothic" pitchFamily="34" charset="-120"/>
              </a:rPr>
              <a:t>파일 하나로 된 DB</a:t>
            </a:r>
            <a:endParaRPr lang="en-US" sz="1200" dirty="0"/>
          </a:p>
        </p:txBody>
      </p:sp>
      <p:sp>
        <p:nvSpPr>
          <p:cNvPr id="16" name="Shape 14"/>
          <p:cNvSpPr/>
          <p:nvPr/>
        </p:nvSpPr>
        <p:spPr>
          <a:xfrm>
            <a:off x="9006840" y="1463040"/>
            <a:ext cx="2606040" cy="1371600"/>
          </a:xfrm>
          <a:prstGeom prst="roundRect">
            <a:avLst>
              <a:gd name="adj" fmla="val 6000"/>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7" name="Shape 15"/>
          <p:cNvSpPr/>
          <p:nvPr/>
        </p:nvSpPr>
        <p:spPr>
          <a:xfrm>
            <a:off x="9006840" y="1463040"/>
            <a:ext cx="2606040" cy="502920"/>
          </a:xfrm>
          <a:prstGeom prst="roundRect">
            <a:avLst>
              <a:gd name="adj" fmla="val 16364"/>
            </a:avLst>
          </a:prstGeom>
          <a:solidFill>
            <a:srgbClr val="1C7293"/>
          </a:solidFill>
          <a:ln/>
        </p:spPr>
      </p:sp>
      <p:sp>
        <p:nvSpPr>
          <p:cNvPr id="18" name="Text 16"/>
          <p:cNvSpPr txBox="1"/>
          <p:nvPr/>
        </p:nvSpPr>
        <p:spPr>
          <a:xfrm>
            <a:off x="9006840" y="1463040"/>
            <a:ext cx="260604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로컬 LLM</a:t>
            </a:r>
            <a:endParaRPr lang="en-US" sz="1500" dirty="0"/>
          </a:p>
        </p:txBody>
      </p:sp>
      <p:sp>
        <p:nvSpPr>
          <p:cNvPr id="19" name="Text 17"/>
          <p:cNvSpPr txBox="1"/>
          <p:nvPr/>
        </p:nvSpPr>
        <p:spPr>
          <a:xfrm>
            <a:off x="9144000" y="2057400"/>
            <a:ext cx="2331720" cy="685800"/>
          </a:xfrm>
          <a:prstGeom prst="rect">
            <a:avLst/>
          </a:prstGeom>
          <a:noFill/>
          <a:ln/>
        </p:spPr>
        <p:txBody>
          <a:bodyPr wrap="square" lIns="0" tIns="0" rIns="0" bIns="0" rtlCol="0" anchor="ctr"/>
          <a:lstStyle/>
          <a:p>
            <a:pPr algn="ctr" indent="0" marL="0">
              <a:buNone/>
            </a:pPr>
            <a:r>
              <a:rPr lang="en-US" sz="1200" dirty="0">
                <a:solidFill>
                  <a:srgbClr val="3A3F4B"/>
                </a:solidFill>
                <a:latin typeface="Malgun Gothic" pitchFamily="34" charset="0"/>
                <a:ea typeface="Malgun Gothic" pitchFamily="34" charset="-122"/>
                <a:cs typeface="Malgun Gothic" pitchFamily="34" charset="-120"/>
              </a:rPr>
              <a:t>gemma3 · CLIP 등 AI</a:t>
            </a:r>
            <a:endParaRPr lang="en-US" sz="1200" dirty="0"/>
          </a:p>
        </p:txBody>
      </p:sp>
      <p:sp>
        <p:nvSpPr>
          <p:cNvPr id="20" name="Shape 18"/>
          <p:cNvSpPr/>
          <p:nvPr/>
        </p:nvSpPr>
        <p:spPr>
          <a:xfrm>
            <a:off x="640080" y="3063240"/>
            <a:ext cx="11018520" cy="1371600"/>
          </a:xfrm>
          <a:prstGeom prst="roundRect">
            <a:avLst>
              <a:gd name="adj" fmla="val 6000"/>
            </a:avLst>
          </a:prstGeom>
          <a:solidFill>
            <a:srgbClr val="FFF4E6"/>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1" name="Text 19"/>
          <p:cNvSpPr txBox="1"/>
          <p:nvPr/>
        </p:nvSpPr>
        <p:spPr>
          <a:xfrm>
            <a:off x="868680" y="3200400"/>
            <a:ext cx="2743200" cy="365760"/>
          </a:xfrm>
          <a:prstGeom prst="rect">
            <a:avLst/>
          </a:prstGeom>
          <a:noFill/>
          <a:ln/>
        </p:spPr>
        <p:txBody>
          <a:bodyPr wrap="square" lIns="0" tIns="0" rIns="0" bIns="0" rtlCol="0" anchor="ctr"/>
          <a:lstStyle/>
          <a:p>
            <a:pPr indent="0" marL="0">
              <a:buNone/>
            </a:pPr>
            <a:r>
              <a:rPr lang="en-US" sz="1500" b="1" dirty="0">
                <a:solidFill>
                  <a:srgbClr val="E8590C"/>
                </a:solidFill>
                <a:latin typeface="Malgun Gothic" pitchFamily="34" charset="0"/>
                <a:ea typeface="Malgun Gothic" pitchFamily="34" charset="-122"/>
                <a:cs typeface="Malgun Gothic" pitchFamily="34" charset="-120"/>
              </a:rPr>
              <a:t>왜 React?</a:t>
            </a:r>
            <a:endParaRPr lang="en-US" sz="1500" dirty="0"/>
          </a:p>
        </p:txBody>
      </p:sp>
      <p:sp>
        <p:nvSpPr>
          <p:cNvPr id="22" name="Text 20"/>
          <p:cNvSpPr txBox="1"/>
          <p:nvPr/>
        </p:nvSpPr>
        <p:spPr>
          <a:xfrm>
            <a:off x="868680" y="3566160"/>
            <a:ext cx="10424160" cy="822960"/>
          </a:xfrm>
          <a:prstGeom prst="rect">
            <a:avLst/>
          </a:prstGeom>
          <a:noFill/>
          <a:ln/>
        </p:spPr>
        <p:txBody>
          <a:bodyPr wrap="square" lIns="0" tIns="0" rIns="0" bIns="0" rtlCol="0" anchor="t"/>
          <a:lstStyle/>
          <a:p>
            <a:pPr indent="0" marL="0">
              <a:lnSpc>
                <a:spcPct val="110000"/>
              </a:lnSpc>
              <a:buNone/>
            </a:pPr>
            <a:r>
              <a:rPr lang="en-US" sz="1300" dirty="0">
                <a:solidFill>
                  <a:srgbClr val="3A3F4B"/>
                </a:solidFill>
                <a:latin typeface="Malgun Gothic" pitchFamily="34" charset="0"/>
                <a:ea typeface="Malgun Gothic" pitchFamily="34" charset="-122"/>
                <a:cs typeface="Malgun Gothic" pitchFamily="34" charset="-120"/>
              </a:rPr>
              <a:t>화면을 '컴포넌트(부품)'로 쪼개 만들어서 코드 재사용성이 좋다. 버튼·카드·모달을 한 번 만들어 여러 화면에서 다시 씀.</a:t>
            </a:r>
            <a:endParaRPr lang="en-US" sz="1300" dirty="0"/>
          </a:p>
        </p:txBody>
      </p:sp>
      <p:sp>
        <p:nvSpPr>
          <p:cNvPr id="23" name="Shape 21"/>
          <p:cNvSpPr/>
          <p:nvPr/>
        </p:nvSpPr>
        <p:spPr>
          <a:xfrm>
            <a:off x="640080" y="4617720"/>
            <a:ext cx="11018520" cy="1417320"/>
          </a:xfrm>
          <a:prstGeom prst="roundRect">
            <a:avLst>
              <a:gd name="adj" fmla="val 5806"/>
            </a:avLst>
          </a:prstGeom>
          <a:solidFill>
            <a:srgbClr val="1F2430"/>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4" name="Text 22"/>
          <p:cNvSpPr txBox="1"/>
          <p:nvPr/>
        </p:nvSpPr>
        <p:spPr>
          <a:xfrm>
            <a:off x="868680" y="4754880"/>
            <a:ext cx="2743200" cy="320040"/>
          </a:xfrm>
          <a:prstGeom prst="rect">
            <a:avLst/>
          </a:prstGeom>
          <a:noFill/>
          <a:ln/>
        </p:spPr>
        <p:txBody>
          <a:bodyPr wrap="square" lIns="0" tIns="0" rIns="0" bIns="0" rtlCol="0" anchor="ctr"/>
          <a:lstStyle/>
          <a:p>
            <a:pPr indent="0" marL="0">
              <a:buNone/>
            </a:pPr>
            <a:r>
              <a:rPr lang="en-US" sz="1300" b="1" dirty="0">
                <a:solidFill>
                  <a:srgbClr val="FF922B"/>
                </a:solidFill>
                <a:latin typeface="Malgun Gothic" pitchFamily="34" charset="0"/>
                <a:ea typeface="Malgun Gothic" pitchFamily="34" charset="-122"/>
                <a:cs typeface="Malgun Gothic" pitchFamily="34" charset="-120"/>
              </a:rPr>
              <a:t>발표자 의견</a:t>
            </a:r>
            <a:endParaRPr lang="en-US" sz="1300" dirty="0"/>
          </a:p>
        </p:txBody>
      </p:sp>
      <p:sp>
        <p:nvSpPr>
          <p:cNvPr id="25" name="Text 23"/>
          <p:cNvSpPr txBox="1"/>
          <p:nvPr/>
        </p:nvSpPr>
        <p:spPr>
          <a:xfrm>
            <a:off x="868680" y="5074920"/>
            <a:ext cx="10424160" cy="868680"/>
          </a:xfrm>
          <a:prstGeom prst="rect">
            <a:avLst/>
          </a:prstGeom>
          <a:noFill/>
          <a:ln/>
        </p:spPr>
        <p:txBody>
          <a:bodyPr wrap="square" lIns="0" tIns="0" rIns="0" bIns="0" rtlCol="0" anchor="t"/>
          <a:lstStyle/>
          <a:p>
            <a:pPr indent="0" marL="0">
              <a:lnSpc>
                <a:spcPct val="112000"/>
              </a:lnSpc>
              <a:buNone/>
            </a:pPr>
            <a:r>
              <a:rPr lang="en-US" sz="1250" dirty="0">
                <a:solidFill>
                  <a:srgbClr val="D7DBE3"/>
                </a:solidFill>
                <a:latin typeface="Malgun Gothic" pitchFamily="34" charset="0"/>
                <a:ea typeface="Malgun Gothic" pitchFamily="34" charset="-122"/>
                <a:cs typeface="Malgun Gothic" pitchFamily="34" charset="-120"/>
              </a:rPr>
              <a:t>화면이 많은 이 앱에는 컴포넌트로 재사용하는 React가 잘 맞았다. 다만 화면이 더 커지면 라우터 도입을 고려할 만하다. 백엔드는 코드가 간결하고 문서가 자동 생성되는 FastAPI가 학습·개발 속도에 큰 도움이 됐다.</a:t>
            </a:r>
            <a:endParaRPr lang="en-US" sz="1250" dirty="0"/>
          </a:p>
        </p:txBody>
      </p:sp>
      <p:sp>
        <p:nvSpPr>
          <p:cNvPr id="26" name="Text 24"/>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2430"/>
        </a:solidFill>
      </p:bgPr>
    </p:bg>
    <p:spTree>
      <p:nvGrpSpPr>
        <p:cNvPr id="1" name=""/>
        <p:cNvGrpSpPr/>
        <p:nvPr/>
      </p:nvGrpSpPr>
      <p:grpSpPr>
        <a:xfrm>
          <a:off x="0" y="0"/>
          <a:ext cx="0" cy="0"/>
          <a:chOff x="0" y="0"/>
          <a:chExt cx="0" cy="0"/>
        </a:xfrm>
      </p:grpSpPr>
      <p:sp>
        <p:nvSpPr>
          <p:cNvPr id="2" name="Shape 0"/>
          <p:cNvSpPr/>
          <p:nvPr/>
        </p:nvSpPr>
        <p:spPr>
          <a:xfrm>
            <a:off x="9692640" y="-1188720"/>
            <a:ext cx="3840480" cy="3840480"/>
          </a:xfrm>
          <a:prstGeom prst="ellipse">
            <a:avLst/>
          </a:prstGeom>
          <a:solidFill>
            <a:srgbClr val="E8590C"/>
          </a:solidFill>
          <a:ln/>
        </p:spPr>
      </p:sp>
      <p:sp>
        <p:nvSpPr>
          <p:cNvPr id="3" name="Shape 1"/>
          <p:cNvSpPr/>
          <p:nvPr/>
        </p:nvSpPr>
        <p:spPr>
          <a:xfrm>
            <a:off x="10972800" y="4572000"/>
            <a:ext cx="2560320" cy="2560320"/>
          </a:xfrm>
          <a:prstGeom prst="ellipse">
            <a:avLst/>
          </a:prstGeom>
          <a:solidFill>
            <a:srgbClr val="2F9E44"/>
          </a:solidFill>
          <a:ln/>
        </p:spPr>
      </p:sp>
      <p:sp>
        <p:nvSpPr>
          <p:cNvPr id="4" name="Text 2"/>
          <p:cNvSpPr txBox="1"/>
          <p:nvPr/>
        </p:nvSpPr>
        <p:spPr>
          <a:xfrm>
            <a:off x="731520" y="2468880"/>
            <a:ext cx="8229600" cy="365760"/>
          </a:xfrm>
          <a:prstGeom prst="rect">
            <a:avLst/>
          </a:prstGeom>
          <a:noFill/>
          <a:ln/>
        </p:spPr>
        <p:txBody>
          <a:bodyPr wrap="square" lIns="0" tIns="0" rIns="0" bIns="0" rtlCol="0" anchor="ctr"/>
          <a:lstStyle/>
          <a:p>
            <a:pPr indent="0" marL="0">
              <a:buNone/>
            </a:pPr>
            <a:r>
              <a:rPr lang="en-US" sz="1500" b="1" spc="200" kern="0" dirty="0">
                <a:solidFill>
                  <a:srgbClr val="FF922B"/>
                </a:solidFill>
                <a:latin typeface="Malgun Gothic" pitchFamily="34" charset="0"/>
                <a:ea typeface="Malgun Gothic" pitchFamily="34" charset="-122"/>
                <a:cs typeface="Malgun Gothic" pitchFamily="34" charset="-120"/>
              </a:rPr>
              <a:t>PART 1</a:t>
            </a:r>
            <a:endParaRPr lang="en-US" sz="1500" dirty="0"/>
          </a:p>
        </p:txBody>
      </p:sp>
      <p:sp>
        <p:nvSpPr>
          <p:cNvPr id="5" name="Text 3"/>
          <p:cNvSpPr txBox="1"/>
          <p:nvPr/>
        </p:nvSpPr>
        <p:spPr>
          <a:xfrm>
            <a:off x="694944" y="2880360"/>
            <a:ext cx="9144000" cy="914400"/>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프론트엔드</a:t>
            </a:r>
            <a:endParaRPr lang="en-US" sz="4400" dirty="0"/>
          </a:p>
        </p:txBody>
      </p:sp>
      <p:sp>
        <p:nvSpPr>
          <p:cNvPr id="6" name="Shape 4"/>
          <p:cNvSpPr/>
          <p:nvPr/>
        </p:nvSpPr>
        <p:spPr>
          <a:xfrm>
            <a:off x="777240" y="3977640"/>
            <a:ext cx="2011680" cy="0"/>
          </a:xfrm>
          <a:prstGeom prst="line">
            <a:avLst/>
          </a:prstGeom>
          <a:noFill/>
          <a:ln w="31750">
            <a:solidFill>
              <a:srgbClr val="FF922B"/>
            </a:solidFill>
            <a:prstDash val="solid"/>
          </a:ln>
        </p:spPr>
      </p:sp>
      <p:sp>
        <p:nvSpPr>
          <p:cNvPr id="7" name="Text 5"/>
          <p:cNvSpPr txBox="1"/>
          <p:nvPr/>
        </p:nvSpPr>
        <p:spPr>
          <a:xfrm>
            <a:off x="731520" y="4160520"/>
            <a:ext cx="8686800" cy="457200"/>
          </a:xfrm>
          <a:prstGeom prst="rect">
            <a:avLst/>
          </a:prstGeom>
          <a:noFill/>
          <a:ln/>
        </p:spPr>
        <p:txBody>
          <a:bodyPr wrap="square" lIns="0" tIns="0" rIns="0" bIns="0" rtlCol="0" anchor="ctr"/>
          <a:lstStyle/>
          <a:p>
            <a:pPr indent="0" marL="0">
              <a:buNone/>
            </a:pPr>
            <a:r>
              <a:rPr lang="en-US" sz="1500" dirty="0">
                <a:solidFill>
                  <a:srgbClr val="C9CDD6"/>
                </a:solidFill>
                <a:latin typeface="Malgun Gothic" pitchFamily="34" charset="0"/>
                <a:ea typeface="Malgun Gothic" pitchFamily="34" charset="-122"/>
                <a:cs typeface="Malgun Gothic" pitchFamily="34" charset="-120"/>
              </a:rPr>
              <a:t>사용자가 보고 클릭하는 화면 — React로 만든 페이지들</a:t>
            </a:r>
            <a:endParaRPr lang="en-US" sz="1500" dirty="0"/>
          </a:p>
        </p:txBody>
      </p:sp>
      <p:sp>
        <p:nvSpPr>
          <p:cNvPr id="8" name="Text 6"/>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FRONTEND ①</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프론트엔드 — 매물 등록 화면</a:t>
            </a:r>
            <a:endParaRPr lang="en-US" sz="2800" dirty="0"/>
          </a:p>
        </p:txBody>
      </p:sp>
      <p:sp>
        <p:nvSpPr>
          <p:cNvPr id="4" name="Shape 2"/>
          <p:cNvSpPr/>
          <p:nvPr/>
        </p:nvSpPr>
        <p:spPr>
          <a:xfrm>
            <a:off x="640080" y="1600200"/>
            <a:ext cx="5486400" cy="4206240"/>
          </a:xfrm>
          <a:prstGeom prst="roundRect">
            <a:avLst>
              <a:gd name="adj" fmla="val 1957"/>
            </a:avLst>
          </a:prstGeom>
          <a:solidFill>
            <a:srgbClr val="F4F5F7"/>
          </a:solidFill>
          <a:ln w="12700">
            <a:solidFill>
              <a:srgbClr val="D8DBE0"/>
            </a:solidFill>
            <a:prstDash val="solid"/>
          </a:ln>
          <a:effectLst>
            <a:outerShdw sx="100000" sy="100000" kx="0" ky="0" algn="bl" rotWithShape="0" blurRad="76200" dist="25400" dir="5400000">
              <a:srgbClr val="9AA0A6">
                <a:alpha val="20000"/>
              </a:srgbClr>
            </a:outerShdw>
          </a:effectLst>
        </p:spPr>
      </p:sp>
      <p:pic>
        <p:nvPicPr>
          <p:cNvPr id="5" name="Image 0" descr="/tmp/edit/shots/s1_write.png">    </p:cNvPr>
          <p:cNvPicPr>
            <a:picLocks noChangeAspect="1"/>
          </p:cNvPicPr>
          <p:nvPr/>
        </p:nvPicPr>
        <p:blipFill>
          <a:blip r:embed="rId1"/>
          <a:stretch>
            <a:fillRect/>
          </a:stretch>
        </p:blipFill>
        <p:spPr>
          <a:xfrm>
            <a:off x="2582942" y="1746504"/>
            <a:ext cx="1600675" cy="3913632"/>
          </a:xfrm>
          <a:prstGeom prst="rect">
            <a:avLst/>
          </a:prstGeom>
        </p:spPr>
      </p:pic>
      <p:sp>
        <p:nvSpPr>
          <p:cNvPr id="6" name="Shape 3"/>
          <p:cNvSpPr/>
          <p:nvPr/>
        </p:nvSpPr>
        <p:spPr>
          <a:xfrm>
            <a:off x="6355080" y="1600200"/>
            <a:ext cx="5257800" cy="4206240"/>
          </a:xfrm>
          <a:prstGeom prst="roundRect">
            <a:avLst>
              <a:gd name="adj" fmla="val 1957"/>
            </a:avLst>
          </a:prstGeom>
          <a:solidFill>
            <a:srgbClr val="FFF4E6"/>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7" name="Text 4"/>
          <p:cNvSpPr txBox="1"/>
          <p:nvPr/>
        </p:nvSpPr>
        <p:spPr>
          <a:xfrm>
            <a:off x="6583680" y="1737360"/>
            <a:ext cx="4572000" cy="320040"/>
          </a:xfrm>
          <a:prstGeom prst="rect">
            <a:avLst/>
          </a:prstGeom>
          <a:noFill/>
          <a:ln/>
        </p:spPr>
        <p:txBody>
          <a:bodyPr wrap="square" lIns="0" tIns="0" rIns="0" bIns="0" rtlCol="0" anchor="ctr"/>
          <a:lstStyle/>
          <a:p>
            <a:pPr indent="0" marL="0">
              <a:buNone/>
            </a:pPr>
            <a:r>
              <a:rPr lang="en-US" sz="1400" b="1" dirty="0">
                <a:solidFill>
                  <a:srgbClr val="B5651D"/>
                </a:solidFill>
                <a:latin typeface="Malgun Gothic" pitchFamily="34" charset="0"/>
                <a:ea typeface="Malgun Gothic" pitchFamily="34" charset="-122"/>
                <a:cs typeface="Malgun Gothic" pitchFamily="34" charset="-120"/>
              </a:rPr>
              <a:t>제작 시 중요했던 점</a:t>
            </a:r>
            <a:endParaRPr lang="en-US" sz="1400" dirty="0"/>
          </a:p>
        </p:txBody>
      </p:sp>
      <p:sp>
        <p:nvSpPr>
          <p:cNvPr id="8" name="Text 5"/>
          <p:cNvSpPr txBox="1"/>
          <p:nvPr/>
        </p:nvSpPr>
        <p:spPr>
          <a:xfrm>
            <a:off x="6583680" y="2240280"/>
            <a:ext cx="4846320" cy="320040"/>
          </a:xfrm>
          <a:prstGeom prst="rect">
            <a:avLst/>
          </a:prstGeom>
          <a:noFill/>
          <a:ln/>
        </p:spPr>
        <p:txBody>
          <a:bodyPr wrap="square" lIns="0" tIns="0" rIns="0" bIns="0" rtlCol="0" anchor="ctr"/>
          <a:lstStyle/>
          <a:p>
            <a:pPr indent="0" marL="0">
              <a:buNone/>
            </a:pPr>
            <a:r>
              <a:rPr lang="en-US" sz="1250" b="1" dirty="0">
                <a:solidFill>
                  <a:srgbClr val="1F2430"/>
                </a:solidFill>
                <a:latin typeface="Malgun Gothic" pitchFamily="34" charset="0"/>
                <a:ea typeface="Malgun Gothic" pitchFamily="34" charset="-122"/>
                <a:cs typeface="Malgun Gothic" pitchFamily="34" charset="-120"/>
              </a:rPr>
              <a:t>AI 글과 판매자 글 분리</a:t>
            </a:r>
            <a:endParaRPr lang="en-US" sz="1250" dirty="0"/>
          </a:p>
        </p:txBody>
      </p:sp>
      <p:sp>
        <p:nvSpPr>
          <p:cNvPr id="9" name="Text 6"/>
          <p:cNvSpPr txBox="1"/>
          <p:nvPr/>
        </p:nvSpPr>
        <p:spPr>
          <a:xfrm>
            <a:off x="6583680" y="2551176"/>
            <a:ext cx="4846320" cy="777240"/>
          </a:xfrm>
          <a:prstGeom prst="rect">
            <a:avLst/>
          </a:prstGeom>
          <a:noFill/>
          <a:ln/>
        </p:spPr>
        <p:txBody>
          <a:bodyPr wrap="square" lIns="0" tIns="0" rIns="0" bIns="0" rtlCol="0" anchor="t"/>
          <a:lstStyle/>
          <a:p>
            <a:pPr indent="0" marL="0">
              <a:lnSpc>
                <a:spcPct val="105000"/>
              </a:lnSpc>
              <a:buNone/>
            </a:pPr>
            <a:r>
              <a:rPr lang="en-US" sz="1100" dirty="0">
                <a:solidFill>
                  <a:srgbClr val="37503F"/>
                </a:solidFill>
                <a:latin typeface="Malgun Gothic" pitchFamily="34" charset="0"/>
                <a:ea typeface="Malgun Gothic" pitchFamily="34" charset="-122"/>
                <a:cs typeface="Malgun Gothic" pitchFamily="34" charset="-120"/>
              </a:rPr>
              <a:t>AI 초안을 판매자 입력과 안 섞고 따로 보관 → 판매자가 골라 쓰게</a:t>
            </a:r>
            <a:endParaRPr lang="en-US" sz="1100" dirty="0"/>
          </a:p>
        </p:txBody>
      </p:sp>
      <p:sp>
        <p:nvSpPr>
          <p:cNvPr id="10" name="Text 7"/>
          <p:cNvSpPr txBox="1"/>
          <p:nvPr/>
        </p:nvSpPr>
        <p:spPr>
          <a:xfrm>
            <a:off x="6583680" y="3410712"/>
            <a:ext cx="4846320" cy="320040"/>
          </a:xfrm>
          <a:prstGeom prst="rect">
            <a:avLst/>
          </a:prstGeom>
          <a:noFill/>
          <a:ln/>
        </p:spPr>
        <p:txBody>
          <a:bodyPr wrap="square" lIns="0" tIns="0" rIns="0" bIns="0" rtlCol="0" anchor="ctr"/>
          <a:lstStyle/>
          <a:p>
            <a:pPr indent="0" marL="0">
              <a:buNone/>
            </a:pPr>
            <a:r>
              <a:rPr lang="en-US" sz="1250" b="1" dirty="0">
                <a:solidFill>
                  <a:srgbClr val="1F2430"/>
                </a:solidFill>
                <a:latin typeface="Malgun Gothic" pitchFamily="34" charset="0"/>
                <a:ea typeface="Malgun Gothic" pitchFamily="34" charset="-122"/>
                <a:cs typeface="Malgun Gothic" pitchFamily="34" charset="-120"/>
              </a:rPr>
              <a:t>무거운 AI는 버튼 눌렀을 때만</a:t>
            </a:r>
            <a:endParaRPr lang="en-US" sz="1250" dirty="0"/>
          </a:p>
        </p:txBody>
      </p:sp>
      <p:sp>
        <p:nvSpPr>
          <p:cNvPr id="11" name="Text 8"/>
          <p:cNvSpPr txBox="1"/>
          <p:nvPr/>
        </p:nvSpPr>
        <p:spPr>
          <a:xfrm>
            <a:off x="6583680" y="3721608"/>
            <a:ext cx="4846320" cy="777240"/>
          </a:xfrm>
          <a:prstGeom prst="rect">
            <a:avLst/>
          </a:prstGeom>
          <a:noFill/>
          <a:ln/>
        </p:spPr>
        <p:txBody>
          <a:bodyPr wrap="square" lIns="0" tIns="0" rIns="0" bIns="0" rtlCol="0" anchor="t"/>
          <a:lstStyle/>
          <a:p>
            <a:pPr indent="0" marL="0">
              <a:lnSpc>
                <a:spcPct val="105000"/>
              </a:lnSpc>
              <a:buNone/>
            </a:pPr>
            <a:r>
              <a:rPr lang="en-US" sz="1100" dirty="0">
                <a:solidFill>
                  <a:srgbClr val="37503F"/>
                </a:solidFill>
                <a:latin typeface="Malgun Gothic" pitchFamily="34" charset="0"/>
                <a:ea typeface="Malgun Gothic" pitchFamily="34" charset="-122"/>
                <a:cs typeface="Malgun Gothic" pitchFamily="34" charset="-120"/>
              </a:rPr>
              <a:t>설명 생성은 5~15초 걸려서, 사진 고르는 즉시가 아니라 버튼 클릭 시 호출</a:t>
            </a:r>
            <a:endParaRPr lang="en-US" sz="1100" dirty="0"/>
          </a:p>
        </p:txBody>
      </p:sp>
      <p:sp>
        <p:nvSpPr>
          <p:cNvPr id="12" name="Text 9"/>
          <p:cNvSpPr txBox="1"/>
          <p:nvPr/>
        </p:nvSpPr>
        <p:spPr>
          <a:xfrm>
            <a:off x="6583680" y="4581144"/>
            <a:ext cx="4846320" cy="320040"/>
          </a:xfrm>
          <a:prstGeom prst="rect">
            <a:avLst/>
          </a:prstGeom>
          <a:noFill/>
          <a:ln/>
        </p:spPr>
        <p:txBody>
          <a:bodyPr wrap="square" lIns="0" tIns="0" rIns="0" bIns="0" rtlCol="0" anchor="ctr"/>
          <a:lstStyle/>
          <a:p>
            <a:pPr indent="0" marL="0">
              <a:buNone/>
            </a:pPr>
            <a:r>
              <a:rPr lang="en-US" sz="1250" b="1" dirty="0">
                <a:solidFill>
                  <a:srgbClr val="1F2430"/>
                </a:solidFill>
                <a:latin typeface="Malgun Gothic" pitchFamily="34" charset="0"/>
                <a:ea typeface="Malgun Gothic" pitchFamily="34" charset="-122"/>
                <a:cs typeface="Malgun Gothic" pitchFamily="34" charset="-120"/>
              </a:rPr>
              <a:t>없는 정보는 지어내지 않게</a:t>
            </a:r>
            <a:endParaRPr lang="en-US" sz="1250" dirty="0"/>
          </a:p>
        </p:txBody>
      </p:sp>
      <p:sp>
        <p:nvSpPr>
          <p:cNvPr id="13" name="Text 10"/>
          <p:cNvSpPr txBox="1"/>
          <p:nvPr/>
        </p:nvSpPr>
        <p:spPr>
          <a:xfrm>
            <a:off x="6583680" y="4892040"/>
            <a:ext cx="4846320" cy="777240"/>
          </a:xfrm>
          <a:prstGeom prst="rect">
            <a:avLst/>
          </a:prstGeom>
          <a:noFill/>
          <a:ln/>
        </p:spPr>
        <p:txBody>
          <a:bodyPr wrap="square" lIns="0" tIns="0" rIns="0" bIns="0" rtlCol="0" anchor="t"/>
          <a:lstStyle/>
          <a:p>
            <a:pPr indent="0" marL="0">
              <a:lnSpc>
                <a:spcPct val="105000"/>
              </a:lnSpc>
              <a:buNone/>
            </a:pPr>
            <a:r>
              <a:rPr lang="en-US" sz="1100" dirty="0">
                <a:solidFill>
                  <a:srgbClr val="37503F"/>
                </a:solidFill>
                <a:latin typeface="Malgun Gothic" pitchFamily="34" charset="0"/>
                <a:ea typeface="Malgun Gothic" pitchFamily="34" charset="-122"/>
                <a:cs typeface="Malgun Gothic" pitchFamily="34" charset="-120"/>
              </a:rPr>
              <a:t>모델명·정품 여부는 사진으로 모르니 프롬프트로 강하게 차단</a:t>
            </a:r>
            <a:endParaRPr lang="en-US" sz="1100" dirty="0"/>
          </a:p>
        </p:txBody>
      </p:sp>
      <p:sp>
        <p:nvSpPr>
          <p:cNvPr id="14" name="Text 11"/>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FRONTEND ②</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프론트엔드 — 매물 목록 · 검색 화면</a:t>
            </a:r>
            <a:endParaRPr lang="en-US" sz="2800" dirty="0"/>
          </a:p>
        </p:txBody>
      </p:sp>
      <p:sp>
        <p:nvSpPr>
          <p:cNvPr id="4" name="Shape 2"/>
          <p:cNvSpPr/>
          <p:nvPr/>
        </p:nvSpPr>
        <p:spPr>
          <a:xfrm>
            <a:off x="640080" y="1600200"/>
            <a:ext cx="5486400" cy="4206240"/>
          </a:xfrm>
          <a:prstGeom prst="roundRect">
            <a:avLst>
              <a:gd name="adj" fmla="val 1957"/>
            </a:avLst>
          </a:prstGeom>
          <a:solidFill>
            <a:srgbClr val="F4F5F7"/>
          </a:solidFill>
          <a:ln w="12700">
            <a:solidFill>
              <a:srgbClr val="D8DBE0"/>
            </a:solidFill>
            <a:prstDash val="solid"/>
          </a:ln>
          <a:effectLst>
            <a:outerShdw sx="100000" sy="100000" kx="0" ky="0" algn="bl" rotWithShape="0" blurRad="76200" dist="25400" dir="5400000">
              <a:srgbClr val="9AA0A6">
                <a:alpha val="20000"/>
              </a:srgbClr>
            </a:outerShdw>
          </a:effectLst>
        </p:spPr>
      </p:sp>
      <p:pic>
        <p:nvPicPr>
          <p:cNvPr id="5" name="Image 0" descr="/tmp/edit/shots/s2_list.png">    </p:cNvPr>
          <p:cNvPicPr>
            <a:picLocks noChangeAspect="1"/>
          </p:cNvPicPr>
          <p:nvPr/>
        </p:nvPicPr>
        <p:blipFill>
          <a:blip r:embed="rId1"/>
          <a:stretch>
            <a:fillRect/>
          </a:stretch>
        </p:blipFill>
        <p:spPr>
          <a:xfrm>
            <a:off x="1152510" y="1746504"/>
            <a:ext cx="4461540" cy="3913632"/>
          </a:xfrm>
          <a:prstGeom prst="rect">
            <a:avLst/>
          </a:prstGeom>
        </p:spPr>
      </p:pic>
      <p:sp>
        <p:nvSpPr>
          <p:cNvPr id="6" name="Shape 3"/>
          <p:cNvSpPr/>
          <p:nvPr/>
        </p:nvSpPr>
        <p:spPr>
          <a:xfrm>
            <a:off x="6355080" y="1600200"/>
            <a:ext cx="5257800" cy="4206240"/>
          </a:xfrm>
          <a:prstGeom prst="roundRect">
            <a:avLst>
              <a:gd name="adj" fmla="val 1957"/>
            </a:avLst>
          </a:prstGeom>
          <a:solidFill>
            <a:srgbClr val="FFF4E6"/>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7" name="Text 4"/>
          <p:cNvSpPr txBox="1"/>
          <p:nvPr/>
        </p:nvSpPr>
        <p:spPr>
          <a:xfrm>
            <a:off x="6583680" y="1737360"/>
            <a:ext cx="4572000" cy="320040"/>
          </a:xfrm>
          <a:prstGeom prst="rect">
            <a:avLst/>
          </a:prstGeom>
          <a:noFill/>
          <a:ln/>
        </p:spPr>
        <p:txBody>
          <a:bodyPr wrap="square" lIns="0" tIns="0" rIns="0" bIns="0" rtlCol="0" anchor="ctr"/>
          <a:lstStyle/>
          <a:p>
            <a:pPr indent="0" marL="0">
              <a:buNone/>
            </a:pPr>
            <a:r>
              <a:rPr lang="en-US" sz="1400" b="1" dirty="0">
                <a:solidFill>
                  <a:srgbClr val="B5651D"/>
                </a:solidFill>
                <a:latin typeface="Malgun Gothic" pitchFamily="34" charset="0"/>
                <a:ea typeface="Malgun Gothic" pitchFamily="34" charset="-122"/>
                <a:cs typeface="Malgun Gothic" pitchFamily="34" charset="-120"/>
              </a:rPr>
              <a:t>제작 시 중요했던 점</a:t>
            </a:r>
            <a:endParaRPr lang="en-US" sz="1400" dirty="0"/>
          </a:p>
        </p:txBody>
      </p:sp>
      <p:sp>
        <p:nvSpPr>
          <p:cNvPr id="8" name="Text 5"/>
          <p:cNvSpPr txBox="1"/>
          <p:nvPr/>
        </p:nvSpPr>
        <p:spPr>
          <a:xfrm>
            <a:off x="6583680" y="2240280"/>
            <a:ext cx="4846320" cy="320040"/>
          </a:xfrm>
          <a:prstGeom prst="rect">
            <a:avLst/>
          </a:prstGeom>
          <a:noFill/>
          <a:ln/>
        </p:spPr>
        <p:txBody>
          <a:bodyPr wrap="square" lIns="0" tIns="0" rIns="0" bIns="0" rtlCol="0" anchor="ctr"/>
          <a:lstStyle/>
          <a:p>
            <a:pPr indent="0" marL="0">
              <a:buNone/>
            </a:pPr>
            <a:r>
              <a:rPr lang="en-US" sz="1250" b="1" dirty="0">
                <a:solidFill>
                  <a:srgbClr val="1F2430"/>
                </a:solidFill>
                <a:latin typeface="Malgun Gothic" pitchFamily="34" charset="0"/>
                <a:ea typeface="Malgun Gothic" pitchFamily="34" charset="-122"/>
                <a:cs typeface="Malgun Gothic" pitchFamily="34" charset="-120"/>
              </a:rPr>
              <a:t>카드는 재사용 컴포넌트</a:t>
            </a:r>
            <a:endParaRPr lang="en-US" sz="1250" dirty="0"/>
          </a:p>
        </p:txBody>
      </p:sp>
      <p:sp>
        <p:nvSpPr>
          <p:cNvPr id="9" name="Text 6"/>
          <p:cNvSpPr txBox="1"/>
          <p:nvPr/>
        </p:nvSpPr>
        <p:spPr>
          <a:xfrm>
            <a:off x="6583680" y="2551176"/>
            <a:ext cx="4846320" cy="777240"/>
          </a:xfrm>
          <a:prstGeom prst="rect">
            <a:avLst/>
          </a:prstGeom>
          <a:noFill/>
          <a:ln/>
        </p:spPr>
        <p:txBody>
          <a:bodyPr wrap="square" lIns="0" tIns="0" rIns="0" bIns="0" rtlCol="0" anchor="t"/>
          <a:lstStyle/>
          <a:p>
            <a:pPr indent="0" marL="0">
              <a:lnSpc>
                <a:spcPct val="105000"/>
              </a:lnSpc>
              <a:buNone/>
            </a:pPr>
            <a:r>
              <a:rPr lang="en-US" sz="1100" dirty="0">
                <a:solidFill>
                  <a:srgbClr val="37503F"/>
                </a:solidFill>
                <a:latin typeface="Malgun Gothic" pitchFamily="34" charset="0"/>
                <a:ea typeface="Malgun Gothic" pitchFamily="34" charset="-122"/>
                <a:cs typeface="Malgun Gothic" pitchFamily="34" charset="-120"/>
              </a:rPr>
              <a:t>매물 하나 = PostCard 컴포넌트. 목록·검색·찜 어디서나 재사용</a:t>
            </a:r>
            <a:endParaRPr lang="en-US" sz="1100" dirty="0"/>
          </a:p>
        </p:txBody>
      </p:sp>
      <p:sp>
        <p:nvSpPr>
          <p:cNvPr id="10" name="Text 7"/>
          <p:cNvSpPr txBox="1"/>
          <p:nvPr/>
        </p:nvSpPr>
        <p:spPr>
          <a:xfrm>
            <a:off x="6583680" y="3410712"/>
            <a:ext cx="4846320" cy="320040"/>
          </a:xfrm>
          <a:prstGeom prst="rect">
            <a:avLst/>
          </a:prstGeom>
          <a:noFill/>
          <a:ln/>
        </p:spPr>
        <p:txBody>
          <a:bodyPr wrap="square" lIns="0" tIns="0" rIns="0" bIns="0" rtlCol="0" anchor="ctr"/>
          <a:lstStyle/>
          <a:p>
            <a:pPr indent="0" marL="0">
              <a:buNone/>
            </a:pPr>
            <a:r>
              <a:rPr lang="en-US" sz="1250" b="1" dirty="0">
                <a:solidFill>
                  <a:srgbClr val="1F2430"/>
                </a:solidFill>
                <a:latin typeface="Malgun Gothic" pitchFamily="34" charset="0"/>
                <a:ea typeface="Malgun Gothic" pitchFamily="34" charset="-122"/>
                <a:cs typeface="Malgun Gothic" pitchFamily="34" charset="-120"/>
              </a:rPr>
              <a:t>검색은 여러 방식을 한 창에서</a:t>
            </a:r>
            <a:endParaRPr lang="en-US" sz="1250" dirty="0"/>
          </a:p>
        </p:txBody>
      </p:sp>
      <p:sp>
        <p:nvSpPr>
          <p:cNvPr id="11" name="Text 8"/>
          <p:cNvSpPr txBox="1"/>
          <p:nvPr/>
        </p:nvSpPr>
        <p:spPr>
          <a:xfrm>
            <a:off x="6583680" y="3721608"/>
            <a:ext cx="4846320" cy="777240"/>
          </a:xfrm>
          <a:prstGeom prst="rect">
            <a:avLst/>
          </a:prstGeom>
          <a:noFill/>
          <a:ln/>
        </p:spPr>
        <p:txBody>
          <a:bodyPr wrap="square" lIns="0" tIns="0" rIns="0" bIns="0" rtlCol="0" anchor="t"/>
          <a:lstStyle/>
          <a:p>
            <a:pPr indent="0" marL="0">
              <a:lnSpc>
                <a:spcPct val="105000"/>
              </a:lnSpc>
              <a:buNone/>
            </a:pPr>
            <a:r>
              <a:rPr lang="en-US" sz="1100" dirty="0">
                <a:solidFill>
                  <a:srgbClr val="37503F"/>
                </a:solidFill>
                <a:latin typeface="Malgun Gothic" pitchFamily="34" charset="0"/>
                <a:ea typeface="Malgun Gothic" pitchFamily="34" charset="-122"/>
                <a:cs typeface="Malgun Gothic" pitchFamily="34" charset="-120"/>
              </a:rPr>
              <a:t>글자·초성·뜻·사진 — 각각 다른 API지만 사용자는 한 검색창에서</a:t>
            </a:r>
            <a:endParaRPr lang="en-US" sz="1100" dirty="0"/>
          </a:p>
        </p:txBody>
      </p:sp>
      <p:sp>
        <p:nvSpPr>
          <p:cNvPr id="12" name="Text 9"/>
          <p:cNvSpPr txBox="1"/>
          <p:nvPr/>
        </p:nvSpPr>
        <p:spPr>
          <a:xfrm>
            <a:off x="6583680" y="4581144"/>
            <a:ext cx="4846320" cy="320040"/>
          </a:xfrm>
          <a:prstGeom prst="rect">
            <a:avLst/>
          </a:prstGeom>
          <a:noFill/>
          <a:ln/>
        </p:spPr>
        <p:txBody>
          <a:bodyPr wrap="square" lIns="0" tIns="0" rIns="0" bIns="0" rtlCol="0" anchor="ctr"/>
          <a:lstStyle/>
          <a:p>
            <a:pPr indent="0" marL="0">
              <a:buNone/>
            </a:pPr>
            <a:r>
              <a:rPr lang="en-US" sz="1250" b="1" dirty="0">
                <a:solidFill>
                  <a:srgbClr val="1F2430"/>
                </a:solidFill>
                <a:latin typeface="Malgun Gothic" pitchFamily="34" charset="0"/>
                <a:ea typeface="Malgun Gothic" pitchFamily="34" charset="-122"/>
                <a:cs typeface="Malgun Gothic" pitchFamily="34" charset="-120"/>
              </a:rPr>
              <a:t>서버가 목록·필터를 계산</a:t>
            </a:r>
            <a:endParaRPr lang="en-US" sz="1250" dirty="0"/>
          </a:p>
        </p:txBody>
      </p:sp>
      <p:sp>
        <p:nvSpPr>
          <p:cNvPr id="13" name="Text 10"/>
          <p:cNvSpPr txBox="1"/>
          <p:nvPr/>
        </p:nvSpPr>
        <p:spPr>
          <a:xfrm>
            <a:off x="6583680" y="4892040"/>
            <a:ext cx="4846320" cy="777240"/>
          </a:xfrm>
          <a:prstGeom prst="rect">
            <a:avLst/>
          </a:prstGeom>
          <a:noFill/>
          <a:ln/>
        </p:spPr>
        <p:txBody>
          <a:bodyPr wrap="square" lIns="0" tIns="0" rIns="0" bIns="0" rtlCol="0" anchor="t"/>
          <a:lstStyle/>
          <a:p>
            <a:pPr indent="0" marL="0">
              <a:lnSpc>
                <a:spcPct val="105000"/>
              </a:lnSpc>
              <a:buNone/>
            </a:pPr>
            <a:r>
              <a:rPr lang="en-US" sz="1100" dirty="0">
                <a:solidFill>
                  <a:srgbClr val="37503F"/>
                </a:solidFill>
                <a:latin typeface="Malgun Gothic" pitchFamily="34" charset="0"/>
                <a:ea typeface="Malgun Gothic" pitchFamily="34" charset="-122"/>
                <a:cs typeface="Malgun Gothic" pitchFamily="34" charset="-120"/>
              </a:rPr>
              <a:t>지역·카테고리·정렬을 서버가 처리 → 화면은 받아 그리기만</a:t>
            </a:r>
            <a:endParaRPr lang="en-US" sz="1100" dirty="0"/>
          </a:p>
        </p:txBody>
      </p:sp>
      <p:sp>
        <p:nvSpPr>
          <p:cNvPr id="14" name="Text 11"/>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FRONTEND ③</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프론트엔드 — 채팅방 (실시간)</a:t>
            </a:r>
            <a:endParaRPr lang="en-US" sz="2800" dirty="0"/>
          </a:p>
        </p:txBody>
      </p:sp>
      <p:sp>
        <p:nvSpPr>
          <p:cNvPr id="4" name="Shape 2"/>
          <p:cNvSpPr/>
          <p:nvPr/>
        </p:nvSpPr>
        <p:spPr>
          <a:xfrm>
            <a:off x="640080" y="1600200"/>
            <a:ext cx="2651760" cy="4206240"/>
          </a:xfrm>
          <a:prstGeom prst="roundRect">
            <a:avLst>
              <a:gd name="adj" fmla="val 3103"/>
            </a:avLst>
          </a:prstGeom>
          <a:solidFill>
            <a:srgbClr val="F4F5F7"/>
          </a:solidFill>
          <a:ln w="12700">
            <a:solidFill>
              <a:srgbClr val="D8DBE0"/>
            </a:solidFill>
            <a:prstDash val="solid"/>
          </a:ln>
          <a:effectLst>
            <a:outerShdw sx="100000" sy="100000" kx="0" ky="0" algn="bl" rotWithShape="0" blurRad="76200" dist="25400" dir="5400000">
              <a:srgbClr val="9AA0A6">
                <a:alpha val="20000"/>
              </a:srgbClr>
            </a:outerShdw>
          </a:effectLst>
        </p:spPr>
      </p:sp>
      <p:pic>
        <p:nvPicPr>
          <p:cNvPr id="5" name="Image 0" descr="/tmp/edit/shots/s3_chatdone.png">    </p:cNvPr>
          <p:cNvPicPr>
            <a:picLocks noChangeAspect="1"/>
          </p:cNvPicPr>
          <p:nvPr/>
        </p:nvPicPr>
        <p:blipFill>
          <a:blip r:embed="rId1"/>
          <a:stretch>
            <a:fillRect/>
          </a:stretch>
        </p:blipFill>
        <p:spPr>
          <a:xfrm>
            <a:off x="786384" y="1941158"/>
            <a:ext cx="2359152" cy="3231715"/>
          </a:xfrm>
          <a:prstGeom prst="rect">
            <a:avLst/>
          </a:prstGeom>
        </p:spPr>
      </p:pic>
      <p:sp>
        <p:nvSpPr>
          <p:cNvPr id="6" name="Text 3"/>
          <p:cNvSpPr txBox="1"/>
          <p:nvPr/>
        </p:nvSpPr>
        <p:spPr>
          <a:xfrm>
            <a:off x="640080" y="5513832"/>
            <a:ext cx="2651760" cy="274320"/>
          </a:xfrm>
          <a:prstGeom prst="rect">
            <a:avLst/>
          </a:prstGeom>
          <a:noFill/>
          <a:ln/>
        </p:spPr>
        <p:txBody>
          <a:bodyPr wrap="square" lIns="0" tIns="0" rIns="0" bIns="0" rtlCol="0" anchor="ctr"/>
          <a:lstStyle/>
          <a:p>
            <a:pPr algn="ctr" indent="0" marL="0">
              <a:buNone/>
            </a:pPr>
            <a:r>
              <a:rPr lang="en-US" sz="1000" b="1" dirty="0">
                <a:solidFill>
                  <a:srgbClr val="6B7280"/>
                </a:solidFill>
                <a:latin typeface="Malgun Gothic" pitchFamily="34" charset="0"/>
                <a:ea typeface="Malgun Gothic" pitchFamily="34" charset="-122"/>
                <a:cs typeface="Malgun Gothic" pitchFamily="34" charset="-120"/>
              </a:rPr>
              <a:t>① 채팅 · 거래확정</a:t>
            </a:r>
            <a:endParaRPr lang="en-US" sz="1000" dirty="0"/>
          </a:p>
        </p:txBody>
      </p:sp>
      <p:sp>
        <p:nvSpPr>
          <p:cNvPr id="7" name="Shape 4"/>
          <p:cNvSpPr/>
          <p:nvPr/>
        </p:nvSpPr>
        <p:spPr>
          <a:xfrm>
            <a:off x="3474720" y="1600200"/>
            <a:ext cx="2651760" cy="4206240"/>
          </a:xfrm>
          <a:prstGeom prst="roundRect">
            <a:avLst>
              <a:gd name="adj" fmla="val 3103"/>
            </a:avLst>
          </a:prstGeom>
          <a:solidFill>
            <a:srgbClr val="F4F5F7"/>
          </a:solidFill>
          <a:ln w="12700">
            <a:solidFill>
              <a:srgbClr val="D8DBE0"/>
            </a:solidFill>
            <a:prstDash val="solid"/>
          </a:ln>
          <a:effectLst>
            <a:outerShdw sx="100000" sy="100000" kx="0" ky="0" algn="bl" rotWithShape="0" blurRad="76200" dist="25400" dir="5400000">
              <a:srgbClr val="9AA0A6">
                <a:alpha val="20000"/>
              </a:srgbClr>
            </a:outerShdw>
          </a:effectLst>
        </p:spPr>
      </p:sp>
      <p:pic>
        <p:nvPicPr>
          <p:cNvPr id="8" name="Image 1" descr="/tmp/edit/shots/s4_modal.png">    </p:cNvPr>
          <p:cNvPicPr>
            <a:picLocks noChangeAspect="1"/>
          </p:cNvPicPr>
          <p:nvPr/>
        </p:nvPicPr>
        <p:blipFill>
          <a:blip r:embed="rId2"/>
          <a:stretch>
            <a:fillRect/>
          </a:stretch>
        </p:blipFill>
        <p:spPr>
          <a:xfrm>
            <a:off x="3621024" y="2089882"/>
            <a:ext cx="2359152" cy="2934269"/>
          </a:xfrm>
          <a:prstGeom prst="rect">
            <a:avLst/>
          </a:prstGeom>
        </p:spPr>
      </p:pic>
      <p:sp>
        <p:nvSpPr>
          <p:cNvPr id="9" name="Text 5"/>
          <p:cNvSpPr txBox="1"/>
          <p:nvPr/>
        </p:nvSpPr>
        <p:spPr>
          <a:xfrm>
            <a:off x="3474720" y="5513832"/>
            <a:ext cx="2651760" cy="274320"/>
          </a:xfrm>
          <a:prstGeom prst="rect">
            <a:avLst/>
          </a:prstGeom>
          <a:noFill/>
          <a:ln/>
        </p:spPr>
        <p:txBody>
          <a:bodyPr wrap="square" lIns="0" tIns="0" rIns="0" bIns="0" rtlCol="0" anchor="ctr"/>
          <a:lstStyle/>
          <a:p>
            <a:pPr algn="ctr" indent="0" marL="0">
              <a:buNone/>
            </a:pPr>
            <a:r>
              <a:rPr lang="en-US" sz="1000" b="1" dirty="0">
                <a:solidFill>
                  <a:srgbClr val="6B7280"/>
                </a:solidFill>
                <a:latin typeface="Malgun Gothic" pitchFamily="34" charset="0"/>
                <a:ea typeface="Malgun Gothic" pitchFamily="34" charset="-122"/>
                <a:cs typeface="Malgun Gothic" pitchFamily="34" charset="-120"/>
              </a:rPr>
              <a:t>② 거래 확정 모달</a:t>
            </a:r>
            <a:endParaRPr lang="en-US" sz="1000" dirty="0"/>
          </a:p>
        </p:txBody>
      </p:sp>
      <p:sp>
        <p:nvSpPr>
          <p:cNvPr id="10" name="Shape 6"/>
          <p:cNvSpPr/>
          <p:nvPr/>
        </p:nvSpPr>
        <p:spPr>
          <a:xfrm>
            <a:off x="6355080" y="1600200"/>
            <a:ext cx="5257800" cy="4206240"/>
          </a:xfrm>
          <a:prstGeom prst="roundRect">
            <a:avLst>
              <a:gd name="adj" fmla="val 1957"/>
            </a:avLst>
          </a:prstGeom>
          <a:solidFill>
            <a:srgbClr val="FFF4E6"/>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1" name="Text 7"/>
          <p:cNvSpPr txBox="1"/>
          <p:nvPr/>
        </p:nvSpPr>
        <p:spPr>
          <a:xfrm>
            <a:off x="6583680" y="1737360"/>
            <a:ext cx="4572000" cy="320040"/>
          </a:xfrm>
          <a:prstGeom prst="rect">
            <a:avLst/>
          </a:prstGeom>
          <a:noFill/>
          <a:ln/>
        </p:spPr>
        <p:txBody>
          <a:bodyPr wrap="square" lIns="0" tIns="0" rIns="0" bIns="0" rtlCol="0" anchor="ctr"/>
          <a:lstStyle/>
          <a:p>
            <a:pPr indent="0" marL="0">
              <a:buNone/>
            </a:pPr>
            <a:r>
              <a:rPr lang="en-US" sz="1400" b="1" dirty="0">
                <a:solidFill>
                  <a:srgbClr val="B5651D"/>
                </a:solidFill>
                <a:latin typeface="Malgun Gothic" pitchFamily="34" charset="0"/>
                <a:ea typeface="Malgun Gothic" pitchFamily="34" charset="-122"/>
                <a:cs typeface="Malgun Gothic" pitchFamily="34" charset="-120"/>
              </a:rPr>
              <a:t>제작 시 중요했던 점</a:t>
            </a:r>
            <a:endParaRPr lang="en-US" sz="1400" dirty="0"/>
          </a:p>
        </p:txBody>
      </p:sp>
      <p:sp>
        <p:nvSpPr>
          <p:cNvPr id="12" name="Text 8"/>
          <p:cNvSpPr txBox="1"/>
          <p:nvPr/>
        </p:nvSpPr>
        <p:spPr>
          <a:xfrm>
            <a:off x="6583680" y="2240280"/>
            <a:ext cx="4846320" cy="320040"/>
          </a:xfrm>
          <a:prstGeom prst="rect">
            <a:avLst/>
          </a:prstGeom>
          <a:noFill/>
          <a:ln/>
        </p:spPr>
        <p:txBody>
          <a:bodyPr wrap="square" lIns="0" tIns="0" rIns="0" bIns="0" rtlCol="0" anchor="ctr"/>
          <a:lstStyle/>
          <a:p>
            <a:pPr indent="0" marL="0">
              <a:buNone/>
            </a:pPr>
            <a:r>
              <a:rPr lang="en-US" sz="1250" b="1" dirty="0">
                <a:solidFill>
                  <a:srgbClr val="1F2430"/>
                </a:solidFill>
                <a:latin typeface="Malgun Gothic" pitchFamily="34" charset="0"/>
                <a:ea typeface="Malgun Gothic" pitchFamily="34" charset="-122"/>
                <a:cs typeface="Malgun Gothic" pitchFamily="34" charset="-120"/>
              </a:rPr>
              <a:t>연결은 useRef에 보관</a:t>
            </a:r>
            <a:endParaRPr lang="en-US" sz="1250" dirty="0"/>
          </a:p>
        </p:txBody>
      </p:sp>
      <p:sp>
        <p:nvSpPr>
          <p:cNvPr id="13" name="Text 9"/>
          <p:cNvSpPr txBox="1"/>
          <p:nvPr/>
        </p:nvSpPr>
        <p:spPr>
          <a:xfrm>
            <a:off x="6583680" y="2551176"/>
            <a:ext cx="4846320" cy="777240"/>
          </a:xfrm>
          <a:prstGeom prst="rect">
            <a:avLst/>
          </a:prstGeom>
          <a:noFill/>
          <a:ln/>
        </p:spPr>
        <p:txBody>
          <a:bodyPr wrap="square" lIns="0" tIns="0" rIns="0" bIns="0" rtlCol="0" anchor="t"/>
          <a:lstStyle/>
          <a:p>
            <a:pPr indent="0" marL="0">
              <a:lnSpc>
                <a:spcPct val="105000"/>
              </a:lnSpc>
              <a:buNone/>
            </a:pPr>
            <a:r>
              <a:rPr lang="en-US" sz="1100" dirty="0">
                <a:solidFill>
                  <a:srgbClr val="37503F"/>
                </a:solidFill>
                <a:latin typeface="Malgun Gothic" pitchFamily="34" charset="0"/>
                <a:ea typeface="Malgun Gothic" pitchFamily="34" charset="-122"/>
                <a:cs typeface="Malgun Gothic" pitchFamily="34" charset="-120"/>
              </a:rPr>
              <a:t>WebSocket 객체를 화면 다시 그려도 안 끊기게 useRef 상자에 담음</a:t>
            </a:r>
            <a:endParaRPr lang="en-US" sz="1100" dirty="0"/>
          </a:p>
        </p:txBody>
      </p:sp>
      <p:sp>
        <p:nvSpPr>
          <p:cNvPr id="14" name="Text 10"/>
          <p:cNvSpPr txBox="1"/>
          <p:nvPr/>
        </p:nvSpPr>
        <p:spPr>
          <a:xfrm>
            <a:off x="6583680" y="3410712"/>
            <a:ext cx="4846320" cy="320040"/>
          </a:xfrm>
          <a:prstGeom prst="rect">
            <a:avLst/>
          </a:prstGeom>
          <a:noFill/>
          <a:ln/>
        </p:spPr>
        <p:txBody>
          <a:bodyPr wrap="square" lIns="0" tIns="0" rIns="0" bIns="0" rtlCol="0" anchor="ctr"/>
          <a:lstStyle/>
          <a:p>
            <a:pPr indent="0" marL="0">
              <a:buNone/>
            </a:pPr>
            <a:r>
              <a:rPr lang="en-US" sz="1250" b="1" dirty="0">
                <a:solidFill>
                  <a:srgbClr val="1F2430"/>
                </a:solidFill>
                <a:latin typeface="Malgun Gothic" pitchFamily="34" charset="0"/>
                <a:ea typeface="Malgun Gothic" pitchFamily="34" charset="-122"/>
                <a:cs typeface="Malgun Gothic" pitchFamily="34" charset="-120"/>
              </a:rPr>
              <a:t>http → ws 주소 변환</a:t>
            </a:r>
            <a:endParaRPr lang="en-US" sz="1250" dirty="0"/>
          </a:p>
        </p:txBody>
      </p:sp>
      <p:sp>
        <p:nvSpPr>
          <p:cNvPr id="15" name="Text 11"/>
          <p:cNvSpPr txBox="1"/>
          <p:nvPr/>
        </p:nvSpPr>
        <p:spPr>
          <a:xfrm>
            <a:off x="6583680" y="3721608"/>
            <a:ext cx="4846320" cy="777240"/>
          </a:xfrm>
          <a:prstGeom prst="rect">
            <a:avLst/>
          </a:prstGeom>
          <a:noFill/>
          <a:ln/>
        </p:spPr>
        <p:txBody>
          <a:bodyPr wrap="square" lIns="0" tIns="0" rIns="0" bIns="0" rtlCol="0" anchor="t"/>
          <a:lstStyle/>
          <a:p>
            <a:pPr indent="0" marL="0">
              <a:lnSpc>
                <a:spcPct val="105000"/>
              </a:lnSpc>
              <a:buNone/>
            </a:pPr>
            <a:r>
              <a:rPr lang="en-US" sz="1100" dirty="0">
                <a:solidFill>
                  <a:srgbClr val="37503F"/>
                </a:solidFill>
                <a:latin typeface="Malgun Gothic" pitchFamily="34" charset="0"/>
                <a:ea typeface="Malgun Gothic" pitchFamily="34" charset="-122"/>
                <a:cs typeface="Malgun Gothic" pitchFamily="34" charset="-120"/>
              </a:rPr>
              <a:t>WebSocket은 규약이 달라 ws://로 바꿔야 브라우저가 연결 허용</a:t>
            </a:r>
            <a:endParaRPr lang="en-US" sz="1100" dirty="0"/>
          </a:p>
        </p:txBody>
      </p:sp>
      <p:sp>
        <p:nvSpPr>
          <p:cNvPr id="16" name="Text 12"/>
          <p:cNvSpPr txBox="1"/>
          <p:nvPr/>
        </p:nvSpPr>
        <p:spPr>
          <a:xfrm>
            <a:off x="6583680" y="4581144"/>
            <a:ext cx="4846320" cy="320040"/>
          </a:xfrm>
          <a:prstGeom prst="rect">
            <a:avLst/>
          </a:prstGeom>
          <a:noFill/>
          <a:ln/>
        </p:spPr>
        <p:txBody>
          <a:bodyPr wrap="square" lIns="0" tIns="0" rIns="0" bIns="0" rtlCol="0" anchor="ctr"/>
          <a:lstStyle/>
          <a:p>
            <a:pPr indent="0" marL="0">
              <a:buNone/>
            </a:pPr>
            <a:r>
              <a:rPr lang="en-US" sz="1250" b="1" dirty="0">
                <a:solidFill>
                  <a:srgbClr val="1F2430"/>
                </a:solidFill>
                <a:latin typeface="Malgun Gothic" pitchFamily="34" charset="0"/>
                <a:ea typeface="Malgun Gothic" pitchFamily="34" charset="-122"/>
                <a:cs typeface="Malgun Gothic" pitchFamily="34" charset="-120"/>
              </a:rPr>
              <a:t>화면 벗어나면 연결 정리</a:t>
            </a:r>
            <a:endParaRPr lang="en-US" sz="1250" dirty="0"/>
          </a:p>
        </p:txBody>
      </p:sp>
      <p:sp>
        <p:nvSpPr>
          <p:cNvPr id="17" name="Text 13"/>
          <p:cNvSpPr txBox="1"/>
          <p:nvPr/>
        </p:nvSpPr>
        <p:spPr>
          <a:xfrm>
            <a:off x="6583680" y="4892040"/>
            <a:ext cx="4846320" cy="777240"/>
          </a:xfrm>
          <a:prstGeom prst="rect">
            <a:avLst/>
          </a:prstGeom>
          <a:noFill/>
          <a:ln/>
        </p:spPr>
        <p:txBody>
          <a:bodyPr wrap="square" lIns="0" tIns="0" rIns="0" bIns="0" rtlCol="0" anchor="t"/>
          <a:lstStyle/>
          <a:p>
            <a:pPr indent="0" marL="0">
              <a:lnSpc>
                <a:spcPct val="105000"/>
              </a:lnSpc>
              <a:buNone/>
            </a:pPr>
            <a:r>
              <a:rPr lang="en-US" sz="1100" dirty="0">
                <a:solidFill>
                  <a:srgbClr val="37503F"/>
                </a:solidFill>
                <a:latin typeface="Malgun Gothic" pitchFamily="34" charset="0"/>
                <a:ea typeface="Malgun Gothic" pitchFamily="34" charset="-122"/>
                <a:cs typeface="Malgun Gothic" pitchFamily="34" charset="-120"/>
              </a:rPr>
              <a:t>방을 나가면 ws.close()로 연결을 닫아 자원 낭비 방지</a:t>
            </a:r>
            <a:endParaRPr lang="en-US" sz="1100" dirty="0"/>
          </a:p>
        </p:txBody>
      </p:sp>
      <p:sp>
        <p:nvSpPr>
          <p:cNvPr id="18" name="Text 14"/>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FRONTEND ④</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프론트엔드 — 마이페이지</a:t>
            </a:r>
            <a:endParaRPr lang="en-US" sz="2800" dirty="0"/>
          </a:p>
        </p:txBody>
      </p:sp>
      <p:sp>
        <p:nvSpPr>
          <p:cNvPr id="4" name="Text 2"/>
          <p:cNvSpPr txBox="1"/>
          <p:nvPr/>
        </p:nvSpPr>
        <p:spPr>
          <a:xfrm>
            <a:off x="548640" y="1371600"/>
            <a:ext cx="10972800" cy="365760"/>
          </a:xfrm>
          <a:prstGeom prst="rect">
            <a:avLst/>
          </a:prstGeom>
          <a:noFill/>
          <a:ln/>
        </p:spPr>
        <p:txBody>
          <a:bodyPr wrap="square" lIns="0" tIns="0" rIns="0" bIns="0" rtlCol="0" anchor="ctr"/>
          <a:lstStyle/>
          <a:p>
            <a:pPr indent="0" marL="0">
              <a:buNone/>
            </a:pPr>
            <a:r>
              <a:rPr lang="en-US" sz="1300" dirty="0">
                <a:solidFill>
                  <a:srgbClr val="6B7280"/>
                </a:solidFill>
                <a:latin typeface="Malgun Gothic" pitchFamily="34" charset="0"/>
                <a:ea typeface="Malgun Gothic" pitchFamily="34" charset="-122"/>
                <a:cs typeface="Malgun Gothic" pitchFamily="34" charset="-120"/>
              </a:rPr>
              <a:t>한 사람의 활동을 한곳에 모았다. 5개 탭으로 나눠서 보여준다.</a:t>
            </a:r>
            <a:endParaRPr lang="en-US" sz="1300" dirty="0"/>
          </a:p>
        </p:txBody>
      </p:sp>
      <p:sp>
        <p:nvSpPr>
          <p:cNvPr id="5" name="Shape 3"/>
          <p:cNvSpPr/>
          <p:nvPr/>
        </p:nvSpPr>
        <p:spPr>
          <a:xfrm>
            <a:off x="640080" y="1783080"/>
            <a:ext cx="5532120" cy="4160520"/>
          </a:xfrm>
          <a:prstGeom prst="roundRect">
            <a:avLst>
              <a:gd name="adj" fmla="val 1978"/>
            </a:avLst>
          </a:prstGeom>
          <a:solidFill>
            <a:srgbClr val="F4F5F7"/>
          </a:solidFill>
          <a:ln w="12700">
            <a:solidFill>
              <a:srgbClr val="D8DBE0"/>
            </a:solidFill>
            <a:prstDash val="solid"/>
          </a:ln>
          <a:effectLst>
            <a:outerShdw sx="100000" sy="100000" kx="0" ky="0" algn="bl" rotWithShape="0" blurRad="76200" dist="25400" dir="5400000">
              <a:srgbClr val="9AA0A6">
                <a:alpha val="20000"/>
              </a:srgbClr>
            </a:outerShdw>
          </a:effectLst>
        </p:spPr>
      </p:sp>
      <p:pic>
        <p:nvPicPr>
          <p:cNvPr id="6" name="Image 0" descr="/tmp/edit/shots/s8_mypage.png">    </p:cNvPr>
          <p:cNvPicPr>
            <a:picLocks noChangeAspect="1"/>
          </p:cNvPicPr>
          <p:nvPr/>
        </p:nvPicPr>
        <p:blipFill>
          <a:blip r:embed="rId1"/>
          <a:stretch>
            <a:fillRect/>
          </a:stretch>
        </p:blipFill>
        <p:spPr>
          <a:xfrm>
            <a:off x="1021412" y="1929384"/>
            <a:ext cx="4769456" cy="3575304"/>
          </a:xfrm>
          <a:prstGeom prst="rect">
            <a:avLst/>
          </a:prstGeom>
        </p:spPr>
      </p:pic>
      <p:sp>
        <p:nvSpPr>
          <p:cNvPr id="7" name="Text 4"/>
          <p:cNvSpPr txBox="1"/>
          <p:nvPr/>
        </p:nvSpPr>
        <p:spPr>
          <a:xfrm>
            <a:off x="640080" y="5650992"/>
            <a:ext cx="5532120" cy="274320"/>
          </a:xfrm>
          <a:prstGeom prst="rect">
            <a:avLst/>
          </a:prstGeom>
          <a:noFill/>
          <a:ln/>
        </p:spPr>
        <p:txBody>
          <a:bodyPr wrap="square" lIns="0" tIns="0" rIns="0" bIns="0" rtlCol="0" anchor="ctr"/>
          <a:lstStyle/>
          <a:p>
            <a:pPr algn="ctr" indent="0" marL="0">
              <a:buNone/>
            </a:pPr>
            <a:r>
              <a:rPr lang="en-US" sz="1000" b="1" dirty="0">
                <a:solidFill>
                  <a:srgbClr val="6B7280"/>
                </a:solidFill>
                <a:latin typeface="Malgun Gothic" pitchFamily="34" charset="0"/>
                <a:ea typeface="Malgun Gothic" pitchFamily="34" charset="-122"/>
                <a:cs typeface="Malgun Gothic" pitchFamily="34" charset="-120"/>
              </a:rPr>
              <a:t>마이페이지 — 판매 탭</a:t>
            </a:r>
            <a:endParaRPr lang="en-US" sz="1000" dirty="0"/>
          </a:p>
        </p:txBody>
      </p:sp>
      <p:sp>
        <p:nvSpPr>
          <p:cNvPr id="8" name="Shape 5"/>
          <p:cNvSpPr/>
          <p:nvPr/>
        </p:nvSpPr>
        <p:spPr>
          <a:xfrm>
            <a:off x="6355080" y="1783080"/>
            <a:ext cx="5257800" cy="713232"/>
          </a:xfrm>
          <a:prstGeom prst="roundRect">
            <a:avLst>
              <a:gd name="adj" fmla="val 11538"/>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9" name="Shape 6"/>
          <p:cNvSpPr/>
          <p:nvPr/>
        </p:nvSpPr>
        <p:spPr>
          <a:xfrm>
            <a:off x="6537960" y="1938528"/>
            <a:ext cx="1097280" cy="402336"/>
          </a:xfrm>
          <a:prstGeom prst="roundRect">
            <a:avLst>
              <a:gd name="adj" fmla="val 13636"/>
            </a:avLst>
          </a:prstGeom>
          <a:solidFill>
            <a:srgbClr val="E8590C"/>
          </a:solidFill>
          <a:ln/>
        </p:spPr>
      </p:sp>
      <p:sp>
        <p:nvSpPr>
          <p:cNvPr id="10" name="Text 7"/>
          <p:cNvSpPr txBox="1"/>
          <p:nvPr/>
        </p:nvSpPr>
        <p:spPr>
          <a:xfrm>
            <a:off x="6537960" y="1938528"/>
            <a:ext cx="109728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찜</a:t>
            </a:r>
            <a:endParaRPr lang="en-US" sz="1250" dirty="0"/>
          </a:p>
        </p:txBody>
      </p:sp>
      <p:sp>
        <p:nvSpPr>
          <p:cNvPr id="11" name="Text 8"/>
          <p:cNvSpPr txBox="1"/>
          <p:nvPr/>
        </p:nvSpPr>
        <p:spPr>
          <a:xfrm>
            <a:off x="7772400" y="1819656"/>
            <a:ext cx="3703320" cy="640080"/>
          </a:xfrm>
          <a:prstGeom prst="rect">
            <a:avLst/>
          </a:prstGeom>
          <a:noFill/>
          <a:ln/>
        </p:spPr>
        <p:txBody>
          <a:bodyPr wrap="square" lIns="0" tIns="0" rIns="0" bIns="0" rtlCol="0" anchor="ctr"/>
          <a:lstStyle/>
          <a:p>
            <a:pPr indent="0" marL="0">
              <a:lnSpc>
                <a:spcPct val="102000"/>
              </a:lnSpc>
              <a:buNone/>
            </a:pPr>
            <a:r>
              <a:rPr lang="en-US" sz="1100" dirty="0">
                <a:solidFill>
                  <a:srgbClr val="3A3F4B"/>
                </a:solidFill>
                <a:latin typeface="Malgun Gothic" pitchFamily="34" charset="0"/>
                <a:ea typeface="Malgun Gothic" pitchFamily="34" charset="-122"/>
                <a:cs typeface="Malgun Gothic" pitchFamily="34" charset="-120"/>
              </a:rPr>
              <a:t>관심 있어 저장해둔 매물 모아보기</a:t>
            </a:r>
            <a:endParaRPr lang="en-US" sz="1100" dirty="0"/>
          </a:p>
        </p:txBody>
      </p:sp>
      <p:sp>
        <p:nvSpPr>
          <p:cNvPr id="12" name="Shape 9"/>
          <p:cNvSpPr/>
          <p:nvPr/>
        </p:nvSpPr>
        <p:spPr>
          <a:xfrm>
            <a:off x="6355080" y="2606040"/>
            <a:ext cx="5257800" cy="713232"/>
          </a:xfrm>
          <a:prstGeom prst="roundRect">
            <a:avLst>
              <a:gd name="adj" fmla="val 11538"/>
            </a:avLst>
          </a:prstGeom>
          <a:solidFill>
            <a:srgbClr val="FFF4E6"/>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3" name="Shape 10"/>
          <p:cNvSpPr/>
          <p:nvPr/>
        </p:nvSpPr>
        <p:spPr>
          <a:xfrm>
            <a:off x="6537960" y="2761488"/>
            <a:ext cx="1097280" cy="402336"/>
          </a:xfrm>
          <a:prstGeom prst="roundRect">
            <a:avLst>
              <a:gd name="adj" fmla="val 13636"/>
            </a:avLst>
          </a:prstGeom>
          <a:solidFill>
            <a:srgbClr val="FF922B"/>
          </a:solidFill>
          <a:ln/>
        </p:spPr>
      </p:sp>
      <p:sp>
        <p:nvSpPr>
          <p:cNvPr id="14" name="Text 11"/>
          <p:cNvSpPr txBox="1"/>
          <p:nvPr/>
        </p:nvSpPr>
        <p:spPr>
          <a:xfrm>
            <a:off x="6537960" y="2761488"/>
            <a:ext cx="109728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판매</a:t>
            </a:r>
            <a:endParaRPr lang="en-US" sz="1250" dirty="0"/>
          </a:p>
        </p:txBody>
      </p:sp>
      <p:sp>
        <p:nvSpPr>
          <p:cNvPr id="15" name="Text 12"/>
          <p:cNvSpPr txBox="1"/>
          <p:nvPr/>
        </p:nvSpPr>
        <p:spPr>
          <a:xfrm>
            <a:off x="7772400" y="2642616"/>
            <a:ext cx="3703320" cy="640080"/>
          </a:xfrm>
          <a:prstGeom prst="rect">
            <a:avLst/>
          </a:prstGeom>
          <a:noFill/>
          <a:ln/>
        </p:spPr>
        <p:txBody>
          <a:bodyPr wrap="square" lIns="0" tIns="0" rIns="0" bIns="0" rtlCol="0" anchor="ctr"/>
          <a:lstStyle/>
          <a:p>
            <a:pPr indent="0" marL="0">
              <a:lnSpc>
                <a:spcPct val="102000"/>
              </a:lnSpc>
              <a:buNone/>
            </a:pPr>
            <a:r>
              <a:rPr lang="en-US" sz="1100" dirty="0">
                <a:solidFill>
                  <a:srgbClr val="3A3F4B"/>
                </a:solidFill>
                <a:latin typeface="Malgun Gothic" pitchFamily="34" charset="0"/>
                <a:ea typeface="Malgun Gothic" pitchFamily="34" charset="-122"/>
                <a:cs typeface="Malgun Gothic" pitchFamily="34" charset="-120"/>
              </a:rPr>
              <a:t>내가 올린 매물 · 상태 관리(판매중/거래완료) · 끌올</a:t>
            </a:r>
            <a:endParaRPr lang="en-US" sz="1100" dirty="0"/>
          </a:p>
        </p:txBody>
      </p:sp>
      <p:sp>
        <p:nvSpPr>
          <p:cNvPr id="16" name="Shape 13"/>
          <p:cNvSpPr/>
          <p:nvPr/>
        </p:nvSpPr>
        <p:spPr>
          <a:xfrm>
            <a:off x="6355080" y="3429000"/>
            <a:ext cx="5257800" cy="713232"/>
          </a:xfrm>
          <a:prstGeom prst="roundRect">
            <a:avLst>
              <a:gd name="adj" fmla="val 11538"/>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7" name="Shape 14"/>
          <p:cNvSpPr/>
          <p:nvPr/>
        </p:nvSpPr>
        <p:spPr>
          <a:xfrm>
            <a:off x="6537960" y="3584448"/>
            <a:ext cx="1097280" cy="402336"/>
          </a:xfrm>
          <a:prstGeom prst="roundRect">
            <a:avLst>
              <a:gd name="adj" fmla="val 13636"/>
            </a:avLst>
          </a:prstGeom>
          <a:solidFill>
            <a:srgbClr val="2F9E44"/>
          </a:solidFill>
          <a:ln/>
        </p:spPr>
      </p:sp>
      <p:sp>
        <p:nvSpPr>
          <p:cNvPr id="18" name="Text 15"/>
          <p:cNvSpPr txBox="1"/>
          <p:nvPr/>
        </p:nvSpPr>
        <p:spPr>
          <a:xfrm>
            <a:off x="6537960" y="3584448"/>
            <a:ext cx="109728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거래</a:t>
            </a:r>
            <a:endParaRPr lang="en-US" sz="1250" dirty="0"/>
          </a:p>
        </p:txBody>
      </p:sp>
      <p:sp>
        <p:nvSpPr>
          <p:cNvPr id="19" name="Text 16"/>
          <p:cNvSpPr txBox="1"/>
          <p:nvPr/>
        </p:nvSpPr>
        <p:spPr>
          <a:xfrm>
            <a:off x="7772400" y="3465576"/>
            <a:ext cx="3703320" cy="640080"/>
          </a:xfrm>
          <a:prstGeom prst="rect">
            <a:avLst/>
          </a:prstGeom>
          <a:noFill/>
          <a:ln/>
        </p:spPr>
        <p:txBody>
          <a:bodyPr wrap="square" lIns="0" tIns="0" rIns="0" bIns="0" rtlCol="0" anchor="ctr"/>
          <a:lstStyle/>
          <a:p>
            <a:pPr indent="0" marL="0">
              <a:lnSpc>
                <a:spcPct val="102000"/>
              </a:lnSpc>
              <a:buNone/>
            </a:pPr>
            <a:r>
              <a:rPr lang="en-US" sz="1100" dirty="0">
                <a:solidFill>
                  <a:srgbClr val="3A3F4B"/>
                </a:solidFill>
                <a:latin typeface="Malgun Gothic" pitchFamily="34" charset="0"/>
                <a:ea typeface="Malgun Gothic" pitchFamily="34" charset="-122"/>
                <a:cs typeface="Malgun Gothic" pitchFamily="34" charset="-120"/>
              </a:rPr>
              <a:t>사고판 거래 내역 확인</a:t>
            </a:r>
            <a:endParaRPr lang="en-US" sz="1100" dirty="0"/>
          </a:p>
        </p:txBody>
      </p:sp>
      <p:sp>
        <p:nvSpPr>
          <p:cNvPr id="20" name="Shape 17"/>
          <p:cNvSpPr/>
          <p:nvPr/>
        </p:nvSpPr>
        <p:spPr>
          <a:xfrm>
            <a:off x="6355080" y="4251960"/>
            <a:ext cx="5257800" cy="713232"/>
          </a:xfrm>
          <a:prstGeom prst="roundRect">
            <a:avLst>
              <a:gd name="adj" fmla="val 11538"/>
            </a:avLst>
          </a:prstGeom>
          <a:solidFill>
            <a:srgbClr val="FFF4E6"/>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1" name="Shape 18"/>
          <p:cNvSpPr/>
          <p:nvPr/>
        </p:nvSpPr>
        <p:spPr>
          <a:xfrm>
            <a:off x="6537960" y="4407408"/>
            <a:ext cx="1097280" cy="402336"/>
          </a:xfrm>
          <a:prstGeom prst="roundRect">
            <a:avLst>
              <a:gd name="adj" fmla="val 13636"/>
            </a:avLst>
          </a:prstGeom>
          <a:solidFill>
            <a:srgbClr val="1C7293"/>
          </a:solidFill>
          <a:ln/>
        </p:spPr>
      </p:sp>
      <p:sp>
        <p:nvSpPr>
          <p:cNvPr id="22" name="Text 19"/>
          <p:cNvSpPr txBox="1"/>
          <p:nvPr/>
        </p:nvSpPr>
        <p:spPr>
          <a:xfrm>
            <a:off x="6537960" y="4407408"/>
            <a:ext cx="109728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후기</a:t>
            </a:r>
            <a:endParaRPr lang="en-US" sz="1250" dirty="0"/>
          </a:p>
        </p:txBody>
      </p:sp>
      <p:sp>
        <p:nvSpPr>
          <p:cNvPr id="23" name="Text 20"/>
          <p:cNvSpPr txBox="1"/>
          <p:nvPr/>
        </p:nvSpPr>
        <p:spPr>
          <a:xfrm>
            <a:off x="7772400" y="4288536"/>
            <a:ext cx="3703320" cy="640080"/>
          </a:xfrm>
          <a:prstGeom prst="rect">
            <a:avLst/>
          </a:prstGeom>
          <a:noFill/>
          <a:ln/>
        </p:spPr>
        <p:txBody>
          <a:bodyPr wrap="square" lIns="0" tIns="0" rIns="0" bIns="0" rtlCol="0" anchor="ctr"/>
          <a:lstStyle/>
          <a:p>
            <a:pPr indent="0" marL="0">
              <a:lnSpc>
                <a:spcPct val="102000"/>
              </a:lnSpc>
              <a:buNone/>
            </a:pPr>
            <a:r>
              <a:rPr lang="en-US" sz="1100" dirty="0">
                <a:solidFill>
                  <a:srgbClr val="3A3F4B"/>
                </a:solidFill>
                <a:latin typeface="Malgun Gothic" pitchFamily="34" charset="0"/>
                <a:ea typeface="Malgun Gothic" pitchFamily="34" charset="-122"/>
                <a:cs typeface="Malgun Gothic" pitchFamily="34" charset="-120"/>
              </a:rPr>
              <a:t>거래 상대와 주고받은 후기 (매너온도)</a:t>
            </a:r>
            <a:endParaRPr lang="en-US" sz="1100" dirty="0"/>
          </a:p>
        </p:txBody>
      </p:sp>
      <p:sp>
        <p:nvSpPr>
          <p:cNvPr id="24" name="Shape 21"/>
          <p:cNvSpPr/>
          <p:nvPr/>
        </p:nvSpPr>
        <p:spPr>
          <a:xfrm>
            <a:off x="6355080" y="5074920"/>
            <a:ext cx="5257800" cy="713232"/>
          </a:xfrm>
          <a:prstGeom prst="roundRect">
            <a:avLst>
              <a:gd name="adj" fmla="val 11538"/>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5" name="Shape 22"/>
          <p:cNvSpPr/>
          <p:nvPr/>
        </p:nvSpPr>
        <p:spPr>
          <a:xfrm>
            <a:off x="6537960" y="5230368"/>
            <a:ext cx="1097280" cy="402336"/>
          </a:xfrm>
          <a:prstGeom prst="roundRect">
            <a:avLst>
              <a:gd name="adj" fmla="val 13636"/>
            </a:avLst>
          </a:prstGeom>
          <a:solidFill>
            <a:srgbClr val="6B4FBB"/>
          </a:solidFill>
          <a:ln/>
        </p:spPr>
      </p:sp>
      <p:sp>
        <p:nvSpPr>
          <p:cNvPr id="26" name="Text 23"/>
          <p:cNvSpPr txBox="1"/>
          <p:nvPr/>
        </p:nvSpPr>
        <p:spPr>
          <a:xfrm>
            <a:off x="6537960" y="5230368"/>
            <a:ext cx="109728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내 정보</a:t>
            </a:r>
            <a:endParaRPr lang="en-US" sz="1250" dirty="0"/>
          </a:p>
        </p:txBody>
      </p:sp>
      <p:sp>
        <p:nvSpPr>
          <p:cNvPr id="27" name="Text 24"/>
          <p:cNvSpPr txBox="1"/>
          <p:nvPr/>
        </p:nvSpPr>
        <p:spPr>
          <a:xfrm>
            <a:off x="7772400" y="5111496"/>
            <a:ext cx="3703320" cy="640080"/>
          </a:xfrm>
          <a:prstGeom prst="rect">
            <a:avLst/>
          </a:prstGeom>
          <a:noFill/>
          <a:ln/>
        </p:spPr>
        <p:txBody>
          <a:bodyPr wrap="square" lIns="0" tIns="0" rIns="0" bIns="0" rtlCol="0" anchor="ctr"/>
          <a:lstStyle/>
          <a:p>
            <a:pPr indent="0" marL="0">
              <a:lnSpc>
                <a:spcPct val="102000"/>
              </a:lnSpc>
              <a:buNone/>
            </a:pPr>
            <a:r>
              <a:rPr lang="en-US" sz="1100" dirty="0">
                <a:solidFill>
                  <a:srgbClr val="3A3F4B"/>
                </a:solidFill>
                <a:latin typeface="Malgun Gothic" pitchFamily="34" charset="0"/>
                <a:ea typeface="Malgun Gothic" pitchFamily="34" charset="-122"/>
                <a:cs typeface="Malgun Gothic" pitchFamily="34" charset="-120"/>
              </a:rPr>
              <a:t>프로필·비밀번호·주소 수정, 회원 탈퇴</a:t>
            </a:r>
            <a:endParaRPr lang="en-US" sz="1100" dirty="0"/>
          </a:p>
        </p:txBody>
      </p:sp>
      <p:sp>
        <p:nvSpPr>
          <p:cNvPr id="28" name="Text 25"/>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2430"/>
        </a:solidFill>
      </p:bgPr>
    </p:bg>
    <p:spTree>
      <p:nvGrpSpPr>
        <p:cNvPr id="1" name=""/>
        <p:cNvGrpSpPr/>
        <p:nvPr/>
      </p:nvGrpSpPr>
      <p:grpSpPr>
        <a:xfrm>
          <a:off x="0" y="0"/>
          <a:ext cx="0" cy="0"/>
          <a:chOff x="0" y="0"/>
          <a:chExt cx="0" cy="0"/>
        </a:xfrm>
      </p:grpSpPr>
      <p:sp>
        <p:nvSpPr>
          <p:cNvPr id="2" name="Shape 0"/>
          <p:cNvSpPr/>
          <p:nvPr/>
        </p:nvSpPr>
        <p:spPr>
          <a:xfrm>
            <a:off x="9692640" y="-1188720"/>
            <a:ext cx="3840480" cy="3840480"/>
          </a:xfrm>
          <a:prstGeom prst="ellipse">
            <a:avLst/>
          </a:prstGeom>
          <a:solidFill>
            <a:srgbClr val="E8590C"/>
          </a:solidFill>
          <a:ln/>
        </p:spPr>
      </p:sp>
      <p:sp>
        <p:nvSpPr>
          <p:cNvPr id="3" name="Shape 1"/>
          <p:cNvSpPr/>
          <p:nvPr/>
        </p:nvSpPr>
        <p:spPr>
          <a:xfrm>
            <a:off x="10972800" y="4572000"/>
            <a:ext cx="2560320" cy="2560320"/>
          </a:xfrm>
          <a:prstGeom prst="ellipse">
            <a:avLst/>
          </a:prstGeom>
          <a:solidFill>
            <a:srgbClr val="2F9E44"/>
          </a:solidFill>
          <a:ln/>
        </p:spPr>
      </p:sp>
      <p:sp>
        <p:nvSpPr>
          <p:cNvPr id="4" name="Text 2"/>
          <p:cNvSpPr txBox="1"/>
          <p:nvPr/>
        </p:nvSpPr>
        <p:spPr>
          <a:xfrm>
            <a:off x="731520" y="2468880"/>
            <a:ext cx="8229600" cy="365760"/>
          </a:xfrm>
          <a:prstGeom prst="rect">
            <a:avLst/>
          </a:prstGeom>
          <a:noFill/>
          <a:ln/>
        </p:spPr>
        <p:txBody>
          <a:bodyPr wrap="square" lIns="0" tIns="0" rIns="0" bIns="0" rtlCol="0" anchor="ctr"/>
          <a:lstStyle/>
          <a:p>
            <a:pPr indent="0" marL="0">
              <a:buNone/>
            </a:pPr>
            <a:r>
              <a:rPr lang="en-US" sz="1500" b="1" spc="200" kern="0" dirty="0">
                <a:solidFill>
                  <a:srgbClr val="FF922B"/>
                </a:solidFill>
                <a:latin typeface="Malgun Gothic" pitchFamily="34" charset="0"/>
                <a:ea typeface="Malgun Gothic" pitchFamily="34" charset="-122"/>
                <a:cs typeface="Malgun Gothic" pitchFamily="34" charset="-120"/>
              </a:rPr>
              <a:t>PART 2</a:t>
            </a:r>
            <a:endParaRPr lang="en-US" sz="1500" dirty="0"/>
          </a:p>
        </p:txBody>
      </p:sp>
      <p:sp>
        <p:nvSpPr>
          <p:cNvPr id="5" name="Text 3"/>
          <p:cNvSpPr txBox="1"/>
          <p:nvPr/>
        </p:nvSpPr>
        <p:spPr>
          <a:xfrm>
            <a:off x="694944" y="2880360"/>
            <a:ext cx="9144000" cy="914400"/>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백엔드</a:t>
            </a:r>
            <a:endParaRPr lang="en-US" sz="4400" dirty="0"/>
          </a:p>
        </p:txBody>
      </p:sp>
      <p:sp>
        <p:nvSpPr>
          <p:cNvPr id="6" name="Shape 4"/>
          <p:cNvSpPr/>
          <p:nvPr/>
        </p:nvSpPr>
        <p:spPr>
          <a:xfrm>
            <a:off x="777240" y="3977640"/>
            <a:ext cx="2011680" cy="0"/>
          </a:xfrm>
          <a:prstGeom prst="line">
            <a:avLst/>
          </a:prstGeom>
          <a:noFill/>
          <a:ln w="31750">
            <a:solidFill>
              <a:srgbClr val="FF922B"/>
            </a:solidFill>
            <a:prstDash val="solid"/>
          </a:ln>
        </p:spPr>
      </p:sp>
      <p:sp>
        <p:nvSpPr>
          <p:cNvPr id="7" name="Text 5"/>
          <p:cNvSpPr txBox="1"/>
          <p:nvPr/>
        </p:nvSpPr>
        <p:spPr>
          <a:xfrm>
            <a:off x="731520" y="4160520"/>
            <a:ext cx="8686800" cy="457200"/>
          </a:xfrm>
          <a:prstGeom prst="rect">
            <a:avLst/>
          </a:prstGeom>
          <a:noFill/>
          <a:ln/>
        </p:spPr>
        <p:txBody>
          <a:bodyPr wrap="square" lIns="0" tIns="0" rIns="0" bIns="0" rtlCol="0" anchor="ctr"/>
          <a:lstStyle/>
          <a:p>
            <a:pPr indent="0" marL="0">
              <a:buNone/>
            </a:pPr>
            <a:r>
              <a:rPr lang="en-US" sz="1500" dirty="0">
                <a:solidFill>
                  <a:srgbClr val="C9CDD6"/>
                </a:solidFill>
                <a:latin typeface="Malgun Gothic" pitchFamily="34" charset="0"/>
                <a:ea typeface="Malgun Gothic" pitchFamily="34" charset="-122"/>
                <a:cs typeface="Malgun Gothic" pitchFamily="34" charset="-120"/>
              </a:rPr>
              <a:t>화면 뒤에서 데이터를 처리·저장하는 서버 — FastAPI</a:t>
            </a:r>
            <a:endParaRPr lang="en-US" sz="1500" dirty="0"/>
          </a:p>
        </p:txBody>
      </p:sp>
      <p:sp>
        <p:nvSpPr>
          <p:cNvPr id="8" name="Text 6"/>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BACKEND ①</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백엔드 — FastAPI란?</a:t>
            </a:r>
            <a:endParaRPr lang="en-US" sz="2800" dirty="0"/>
          </a:p>
        </p:txBody>
      </p:sp>
      <p:sp>
        <p:nvSpPr>
          <p:cNvPr id="4" name="Text 2"/>
          <p:cNvSpPr txBox="1"/>
          <p:nvPr/>
        </p:nvSpPr>
        <p:spPr>
          <a:xfrm>
            <a:off x="548640" y="1353312"/>
            <a:ext cx="11064240" cy="365760"/>
          </a:xfrm>
          <a:prstGeom prst="rect">
            <a:avLst/>
          </a:prstGeom>
          <a:noFill/>
          <a:ln/>
        </p:spPr>
        <p:txBody>
          <a:bodyPr wrap="square" lIns="0" tIns="0" rIns="0" bIns="0" rtlCol="0" anchor="ctr"/>
          <a:lstStyle/>
          <a:p>
            <a:pPr indent="0" marL="0">
              <a:buNone/>
            </a:pPr>
            <a:r>
              <a:rPr lang="en-US" sz="1300" dirty="0">
                <a:solidFill>
                  <a:srgbClr val="6B7280"/>
                </a:solidFill>
                <a:latin typeface="Malgun Gothic" pitchFamily="34" charset="0"/>
                <a:ea typeface="Malgun Gothic" pitchFamily="34" charset="-122"/>
                <a:cs typeface="Malgun Gothic" pitchFamily="34" charset="-120"/>
              </a:rPr>
              <a:t>FastAPI = 파이썬으로 API 서버를 만드는 웹 프레임워크. 코드가 간결하고, 문서(/docs)가 자동 생성된다.</a:t>
            </a:r>
            <a:endParaRPr lang="en-US" sz="1300" dirty="0"/>
          </a:p>
        </p:txBody>
      </p:sp>
      <p:sp>
        <p:nvSpPr>
          <p:cNvPr id="5" name="Shape 3"/>
          <p:cNvSpPr/>
          <p:nvPr/>
        </p:nvSpPr>
        <p:spPr>
          <a:xfrm>
            <a:off x="640080" y="1874520"/>
            <a:ext cx="11018520" cy="1783080"/>
          </a:xfrm>
          <a:prstGeom prst="roundRect">
            <a:avLst>
              <a:gd name="adj" fmla="val 4615"/>
            </a:avLst>
          </a:prstGeom>
          <a:solidFill>
            <a:srgbClr val="FBFAF8"/>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6" name="Text 4"/>
          <p:cNvSpPr txBox="1"/>
          <p:nvPr/>
        </p:nvSpPr>
        <p:spPr>
          <a:xfrm>
            <a:off x="868680" y="1993392"/>
            <a:ext cx="7315200" cy="320040"/>
          </a:xfrm>
          <a:prstGeom prst="rect">
            <a:avLst/>
          </a:prstGeom>
          <a:noFill/>
          <a:ln/>
        </p:spPr>
        <p:txBody>
          <a:bodyPr wrap="square" lIns="0" tIns="0" rIns="0" bIns="0" rtlCol="0" anchor="ctr"/>
          <a:lstStyle/>
          <a:p>
            <a:pPr indent="0" marL="0">
              <a:buNone/>
            </a:pPr>
            <a:r>
              <a:rPr lang="en-US" sz="1350" b="1" dirty="0">
                <a:solidFill>
                  <a:srgbClr val="E8590C"/>
                </a:solidFill>
                <a:latin typeface="Malgun Gothic" pitchFamily="34" charset="0"/>
                <a:ea typeface="Malgun Gothic" pitchFamily="34" charset="-122"/>
                <a:cs typeface="Malgun Gothic" pitchFamily="34" charset="-120"/>
              </a:rPr>
              <a:t>데코레이터가 하는 일 (그림으로)</a:t>
            </a:r>
            <a:endParaRPr lang="en-US" sz="1350" dirty="0"/>
          </a:p>
        </p:txBody>
      </p:sp>
      <p:sp>
        <p:nvSpPr>
          <p:cNvPr id="7" name="Shape 5"/>
          <p:cNvSpPr/>
          <p:nvPr/>
        </p:nvSpPr>
        <p:spPr>
          <a:xfrm>
            <a:off x="914400" y="2468880"/>
            <a:ext cx="2377440" cy="960120"/>
          </a:xfrm>
          <a:prstGeom prst="roundRect">
            <a:avLst>
              <a:gd name="adj" fmla="val 8571"/>
            </a:avLst>
          </a:prstGeom>
          <a:solidFill>
            <a:srgbClr val="1F2430"/>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8" name="Text 6"/>
          <p:cNvSpPr txBox="1"/>
          <p:nvPr/>
        </p:nvSpPr>
        <p:spPr>
          <a:xfrm>
            <a:off x="914400" y="2578608"/>
            <a:ext cx="237744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브라우저 요청</a:t>
            </a:r>
            <a:endParaRPr lang="en-US" sz="1250" dirty="0"/>
          </a:p>
        </p:txBody>
      </p:sp>
      <p:sp>
        <p:nvSpPr>
          <p:cNvPr id="9" name="Text 7"/>
          <p:cNvSpPr txBox="1"/>
          <p:nvPr/>
        </p:nvSpPr>
        <p:spPr>
          <a:xfrm>
            <a:off x="914400" y="2880360"/>
            <a:ext cx="2377440" cy="365760"/>
          </a:xfrm>
          <a:prstGeom prst="rect">
            <a:avLst/>
          </a:prstGeom>
          <a:noFill/>
          <a:ln/>
        </p:spPr>
        <p:txBody>
          <a:bodyPr wrap="square" lIns="0" tIns="0" rIns="0" bIns="0" rtlCol="0" anchor="ctr"/>
          <a:lstStyle/>
          <a:p>
            <a:pPr algn="ctr" indent="0" marL="0">
              <a:buNone/>
            </a:pPr>
            <a:r>
              <a:rPr lang="en-US" sz="1200" dirty="0">
                <a:solidFill>
                  <a:srgbClr val="FF922B"/>
                </a:solidFill>
                <a:latin typeface="Consolas" pitchFamily="34" charset="0"/>
                <a:ea typeface="Consolas" pitchFamily="34" charset="-122"/>
                <a:cs typeface="Consolas" pitchFamily="34" charset="-120"/>
              </a:rPr>
              <a:t>POST /posts</a:t>
            </a:r>
            <a:endParaRPr lang="en-US" sz="1200" dirty="0"/>
          </a:p>
        </p:txBody>
      </p:sp>
      <p:sp>
        <p:nvSpPr>
          <p:cNvPr id="10" name="Shape 8"/>
          <p:cNvSpPr/>
          <p:nvPr/>
        </p:nvSpPr>
        <p:spPr>
          <a:xfrm>
            <a:off x="3429000" y="2834640"/>
            <a:ext cx="457200" cy="219456"/>
          </a:xfrm>
          <a:prstGeom prst="rightArrow">
            <a:avLst/>
          </a:prstGeom>
          <a:solidFill>
            <a:srgbClr val="E8590C"/>
          </a:solidFill>
          <a:ln/>
        </p:spPr>
      </p:sp>
      <p:sp>
        <p:nvSpPr>
          <p:cNvPr id="11" name="Shape 9"/>
          <p:cNvSpPr/>
          <p:nvPr/>
        </p:nvSpPr>
        <p:spPr>
          <a:xfrm>
            <a:off x="4114800" y="2468880"/>
            <a:ext cx="3566160" cy="960120"/>
          </a:xfrm>
          <a:prstGeom prst="roundRect">
            <a:avLst>
              <a:gd name="adj" fmla="val 8571"/>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2" name="Shape 10"/>
          <p:cNvSpPr/>
          <p:nvPr/>
        </p:nvSpPr>
        <p:spPr>
          <a:xfrm>
            <a:off x="4251960" y="2331720"/>
            <a:ext cx="2743200" cy="384048"/>
          </a:xfrm>
          <a:prstGeom prst="roundRect">
            <a:avLst>
              <a:gd name="adj" fmla="val 14286"/>
            </a:avLst>
          </a:prstGeom>
          <a:solidFill>
            <a:srgbClr val="E8590C"/>
          </a:solidFill>
          <a:ln/>
        </p:spPr>
      </p:sp>
      <p:sp>
        <p:nvSpPr>
          <p:cNvPr id="13" name="Text 11"/>
          <p:cNvSpPr txBox="1"/>
          <p:nvPr/>
        </p:nvSpPr>
        <p:spPr>
          <a:xfrm>
            <a:off x="4251960" y="2331720"/>
            <a:ext cx="274320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@router.post  ← 라벨(데코레이터)</a:t>
            </a:r>
            <a:endParaRPr lang="en-US" sz="950" dirty="0"/>
          </a:p>
        </p:txBody>
      </p:sp>
      <p:sp>
        <p:nvSpPr>
          <p:cNvPr id="14" name="Text 12"/>
          <p:cNvSpPr txBox="1"/>
          <p:nvPr/>
        </p:nvSpPr>
        <p:spPr>
          <a:xfrm>
            <a:off x="4114800" y="2880360"/>
            <a:ext cx="3566160" cy="411480"/>
          </a:xfrm>
          <a:prstGeom prst="rect">
            <a:avLst/>
          </a:prstGeom>
          <a:noFill/>
          <a:ln/>
        </p:spPr>
        <p:txBody>
          <a:bodyPr wrap="square" lIns="0" tIns="0" rIns="0" bIns="0" rtlCol="0" anchor="ctr"/>
          <a:lstStyle/>
          <a:p>
            <a:pPr algn="ctr" indent="0" marL="0">
              <a:buNone/>
            </a:pPr>
            <a:r>
              <a:rPr lang="en-US" sz="1250" b="1" dirty="0">
                <a:solidFill>
                  <a:srgbClr val="1F2430"/>
                </a:solidFill>
                <a:latin typeface="Malgun Gothic" pitchFamily="34" charset="0"/>
                <a:ea typeface="Malgun Gothic" pitchFamily="34" charset="-122"/>
                <a:cs typeface="Malgun Gothic" pitchFamily="34" charset="-120"/>
              </a:rPr>
              <a:t>create_post() 함수 실행</a:t>
            </a:r>
            <a:endParaRPr lang="en-US" sz="1250" dirty="0"/>
          </a:p>
        </p:txBody>
      </p:sp>
      <p:sp>
        <p:nvSpPr>
          <p:cNvPr id="15" name="Shape 13"/>
          <p:cNvSpPr/>
          <p:nvPr/>
        </p:nvSpPr>
        <p:spPr>
          <a:xfrm>
            <a:off x="7818120" y="2834640"/>
            <a:ext cx="457200" cy="219456"/>
          </a:xfrm>
          <a:prstGeom prst="rightArrow">
            <a:avLst/>
          </a:prstGeom>
          <a:solidFill>
            <a:srgbClr val="2F9E44"/>
          </a:solidFill>
          <a:ln/>
        </p:spPr>
      </p:sp>
      <p:sp>
        <p:nvSpPr>
          <p:cNvPr id="16" name="Shape 14"/>
          <p:cNvSpPr/>
          <p:nvPr/>
        </p:nvSpPr>
        <p:spPr>
          <a:xfrm>
            <a:off x="8046720" y="2468880"/>
            <a:ext cx="3063240" cy="960120"/>
          </a:xfrm>
          <a:prstGeom prst="roundRect">
            <a:avLst>
              <a:gd name="adj" fmla="val 8571"/>
            </a:avLst>
          </a:prstGeom>
          <a:solidFill>
            <a:srgbClr val="EBFBEE"/>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7" name="Text 15"/>
          <p:cNvSpPr txBox="1"/>
          <p:nvPr/>
        </p:nvSpPr>
        <p:spPr>
          <a:xfrm>
            <a:off x="8046720" y="2761488"/>
            <a:ext cx="3063240" cy="365760"/>
          </a:xfrm>
          <a:prstGeom prst="rect">
            <a:avLst/>
          </a:prstGeom>
          <a:noFill/>
          <a:ln/>
        </p:spPr>
        <p:txBody>
          <a:bodyPr wrap="square" lIns="0" tIns="0" rIns="0" bIns="0" rtlCol="0" anchor="ctr"/>
          <a:lstStyle/>
          <a:p>
            <a:pPr algn="ctr" indent="0" marL="0">
              <a:buNone/>
            </a:pPr>
            <a:r>
              <a:rPr lang="en-US" sz="1300" b="1" dirty="0">
                <a:solidFill>
                  <a:srgbClr val="2B8A3E"/>
                </a:solidFill>
                <a:latin typeface="Malgun Gothic" pitchFamily="34" charset="0"/>
                <a:ea typeface="Malgun Gothic" pitchFamily="34" charset="-122"/>
                <a:cs typeface="Malgun Gothic" pitchFamily="34" charset="-120"/>
              </a:rPr>
              <a:t>매물 저장 · 응답</a:t>
            </a:r>
            <a:endParaRPr lang="en-US" sz="1300" dirty="0"/>
          </a:p>
        </p:txBody>
      </p:sp>
      <p:sp>
        <p:nvSpPr>
          <p:cNvPr id="18" name="Text 16"/>
          <p:cNvSpPr txBox="1"/>
          <p:nvPr/>
        </p:nvSpPr>
        <p:spPr>
          <a:xfrm>
            <a:off x="914400" y="3493008"/>
            <a:ext cx="10241280" cy="274320"/>
          </a:xfrm>
          <a:prstGeom prst="rect">
            <a:avLst/>
          </a:prstGeom>
          <a:noFill/>
          <a:ln/>
        </p:spPr>
        <p:txBody>
          <a:bodyPr wrap="square" lIns="0" tIns="0" rIns="0" bIns="0" rtlCol="0" anchor="ctr"/>
          <a:lstStyle/>
          <a:p>
            <a:pPr indent="0" marL="0">
              <a:buNone/>
            </a:pPr>
            <a:r>
              <a:rPr lang="en-US" sz="1100" i="1" dirty="0">
                <a:solidFill>
                  <a:srgbClr val="6B7280"/>
                </a:solidFill>
                <a:latin typeface="Malgun Gothic" pitchFamily="34" charset="0"/>
                <a:ea typeface="Malgun Gothic" pitchFamily="34" charset="-122"/>
                <a:cs typeface="Malgun Gothic" pitchFamily="34" charset="-120"/>
              </a:rPr>
              <a:t>→ @를 함수 위에 '라벨'처럼 붙여, 어떤 주소·방식의 요청이 오면 이 함수를 실행할지 정해준다. 함수 본체는 안 건드림.</a:t>
            </a:r>
            <a:endParaRPr lang="en-US" sz="1100" dirty="0"/>
          </a:p>
        </p:txBody>
      </p:sp>
      <p:sp>
        <p:nvSpPr>
          <p:cNvPr id="19" name="Shape 17"/>
          <p:cNvSpPr/>
          <p:nvPr/>
        </p:nvSpPr>
        <p:spPr>
          <a:xfrm>
            <a:off x="640080" y="3931920"/>
            <a:ext cx="5394960" cy="2103120"/>
          </a:xfrm>
          <a:prstGeom prst="roundRect">
            <a:avLst>
              <a:gd name="adj" fmla="val 391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0" name="Text 18"/>
          <p:cNvSpPr txBox="1"/>
          <p:nvPr/>
        </p:nvSpPr>
        <p:spPr>
          <a:xfrm>
            <a:off x="868680" y="4041648"/>
            <a:ext cx="4572000" cy="320040"/>
          </a:xfrm>
          <a:prstGeom prst="rect">
            <a:avLst/>
          </a:prstGeom>
          <a:noFill/>
          <a:ln/>
        </p:spPr>
        <p:txBody>
          <a:bodyPr wrap="square" lIns="0" tIns="0" rIns="0" bIns="0" rtlCol="0" anchor="ctr"/>
          <a:lstStyle/>
          <a:p>
            <a:pPr indent="0" marL="0">
              <a:buNone/>
            </a:pPr>
            <a:r>
              <a:rPr lang="en-US" sz="1350" b="1" dirty="0">
                <a:solidFill>
                  <a:srgbClr val="1F2430"/>
                </a:solidFill>
                <a:latin typeface="Malgun Gothic" pitchFamily="34" charset="0"/>
                <a:ea typeface="Malgun Gothic" pitchFamily="34" charset="-122"/>
                <a:cs typeface="Malgun Gothic" pitchFamily="34" charset="-120"/>
              </a:rPr>
              <a:t>백엔드 특징</a:t>
            </a:r>
            <a:endParaRPr lang="en-US" sz="1350" dirty="0"/>
          </a:p>
        </p:txBody>
      </p:sp>
      <p:sp>
        <p:nvSpPr>
          <p:cNvPr id="21" name="Shape 19"/>
          <p:cNvSpPr/>
          <p:nvPr/>
        </p:nvSpPr>
        <p:spPr>
          <a:xfrm>
            <a:off x="896112" y="4489704"/>
            <a:ext cx="109728" cy="109728"/>
          </a:xfrm>
          <a:prstGeom prst="ellipse">
            <a:avLst/>
          </a:prstGeom>
          <a:solidFill>
            <a:srgbClr val="FF922B"/>
          </a:solidFill>
          <a:ln/>
        </p:spPr>
      </p:sp>
      <p:sp>
        <p:nvSpPr>
          <p:cNvPr id="22" name="Text 20"/>
          <p:cNvSpPr txBox="1"/>
          <p:nvPr/>
        </p:nvSpPr>
        <p:spPr>
          <a:xfrm>
            <a:off x="1152144" y="4434840"/>
            <a:ext cx="4663440" cy="457200"/>
          </a:xfrm>
          <a:prstGeom prst="rect">
            <a:avLst/>
          </a:prstGeom>
          <a:noFill/>
          <a:ln/>
        </p:spPr>
        <p:txBody>
          <a:bodyPr wrap="square" lIns="0" tIns="0" rIns="0" bIns="0" rtlCol="0" anchor="ctr"/>
          <a:lstStyle/>
          <a:p>
            <a:pPr indent="0" marL="0">
              <a:buNone/>
            </a:pPr>
            <a:r>
              <a:rPr lang="en-US" sz="1100" b="1" dirty="0">
                <a:solidFill>
                  <a:srgbClr val="1F2430"/>
                </a:solidFill>
                <a:latin typeface="Malgun Gothic" pitchFamily="34" charset="0"/>
                <a:ea typeface="Malgun Gothic" pitchFamily="34" charset="-122"/>
                <a:cs typeface="Malgun Gothic" pitchFamily="34" charset="-120"/>
              </a:rPr>
              <a:t>라우터로 기능 분리  </a:t>
            </a:r>
            <a:pPr indent="0" marL="0">
              <a:buNone/>
            </a:pPr>
            <a:r>
              <a:rPr lang="en-US" sz="1100" dirty="0">
                <a:solidFill>
                  <a:srgbClr val="6B7280"/>
                </a:solidFill>
                <a:latin typeface="Malgun Gothic" pitchFamily="34" charset="0"/>
                <a:ea typeface="Malgun Gothic" pitchFamily="34" charset="-122"/>
                <a:cs typeface="Malgun Gothic" pitchFamily="34" charset="-120"/>
              </a:rPr>
              <a:t>auth·posts·chats·reports·search·admin</a:t>
            </a:r>
            <a:endParaRPr lang="en-US" sz="1100" dirty="0"/>
          </a:p>
        </p:txBody>
      </p:sp>
      <p:sp>
        <p:nvSpPr>
          <p:cNvPr id="23" name="Shape 21"/>
          <p:cNvSpPr/>
          <p:nvPr/>
        </p:nvSpPr>
        <p:spPr>
          <a:xfrm>
            <a:off x="896112" y="4992624"/>
            <a:ext cx="109728" cy="109728"/>
          </a:xfrm>
          <a:prstGeom prst="ellipse">
            <a:avLst/>
          </a:prstGeom>
          <a:solidFill>
            <a:srgbClr val="FF922B"/>
          </a:solidFill>
          <a:ln/>
        </p:spPr>
      </p:sp>
      <p:sp>
        <p:nvSpPr>
          <p:cNvPr id="24" name="Text 22"/>
          <p:cNvSpPr txBox="1"/>
          <p:nvPr/>
        </p:nvSpPr>
        <p:spPr>
          <a:xfrm>
            <a:off x="1152144" y="4937760"/>
            <a:ext cx="4663440" cy="457200"/>
          </a:xfrm>
          <a:prstGeom prst="rect">
            <a:avLst/>
          </a:prstGeom>
          <a:noFill/>
          <a:ln/>
        </p:spPr>
        <p:txBody>
          <a:bodyPr wrap="square" lIns="0" tIns="0" rIns="0" bIns="0" rtlCol="0" anchor="ctr"/>
          <a:lstStyle/>
          <a:p>
            <a:pPr indent="0" marL="0">
              <a:buNone/>
            </a:pPr>
            <a:r>
              <a:rPr lang="en-US" sz="1100" b="1" dirty="0">
                <a:solidFill>
                  <a:srgbClr val="1F2430"/>
                </a:solidFill>
                <a:latin typeface="Malgun Gothic" pitchFamily="34" charset="0"/>
                <a:ea typeface="Malgun Gothic" pitchFamily="34" charset="-122"/>
                <a:cs typeface="Malgun Gothic" pitchFamily="34" charset="-120"/>
              </a:rPr>
              <a:t>ORM으로 DB 다루기  </a:t>
            </a:r>
            <a:pPr indent="0" marL="0">
              <a:buNone/>
            </a:pPr>
            <a:r>
              <a:rPr lang="en-US" sz="1100" dirty="0">
                <a:solidFill>
                  <a:srgbClr val="6B7280"/>
                </a:solidFill>
                <a:latin typeface="Malgun Gothic" pitchFamily="34" charset="0"/>
                <a:ea typeface="Malgun Gothic" pitchFamily="34" charset="-122"/>
                <a:cs typeface="Malgun Gothic" pitchFamily="34" charset="-120"/>
              </a:rPr>
              <a:t>SQLAlchemy — SQL 없이 객체로</a:t>
            </a:r>
            <a:endParaRPr lang="en-US" sz="1100" dirty="0"/>
          </a:p>
        </p:txBody>
      </p:sp>
      <p:sp>
        <p:nvSpPr>
          <p:cNvPr id="25" name="Shape 23"/>
          <p:cNvSpPr/>
          <p:nvPr/>
        </p:nvSpPr>
        <p:spPr>
          <a:xfrm>
            <a:off x="896112" y="5495544"/>
            <a:ext cx="109728" cy="109728"/>
          </a:xfrm>
          <a:prstGeom prst="ellipse">
            <a:avLst/>
          </a:prstGeom>
          <a:solidFill>
            <a:srgbClr val="FF922B"/>
          </a:solidFill>
          <a:ln/>
        </p:spPr>
      </p:sp>
      <p:sp>
        <p:nvSpPr>
          <p:cNvPr id="26" name="Text 24"/>
          <p:cNvSpPr txBox="1"/>
          <p:nvPr/>
        </p:nvSpPr>
        <p:spPr>
          <a:xfrm>
            <a:off x="1152144" y="5440680"/>
            <a:ext cx="4663440" cy="457200"/>
          </a:xfrm>
          <a:prstGeom prst="rect">
            <a:avLst/>
          </a:prstGeom>
          <a:noFill/>
          <a:ln/>
        </p:spPr>
        <p:txBody>
          <a:bodyPr wrap="square" lIns="0" tIns="0" rIns="0" bIns="0" rtlCol="0" anchor="ctr"/>
          <a:lstStyle/>
          <a:p>
            <a:pPr indent="0" marL="0">
              <a:buNone/>
            </a:pPr>
            <a:r>
              <a:rPr lang="en-US" sz="1100" b="1" dirty="0">
                <a:solidFill>
                  <a:srgbClr val="1F2430"/>
                </a:solidFill>
                <a:latin typeface="Malgun Gothic" pitchFamily="34" charset="0"/>
                <a:ea typeface="Malgun Gothic" pitchFamily="34" charset="-122"/>
                <a:cs typeface="Malgun Gothic" pitchFamily="34" charset="-120"/>
              </a:rPr>
              <a:t>WebSocket  </a:t>
            </a:r>
            <a:pPr indent="0" marL="0">
              <a:buNone/>
            </a:pPr>
            <a:r>
              <a:rPr lang="en-US" sz="1100" dirty="0">
                <a:solidFill>
                  <a:srgbClr val="6B7280"/>
                </a:solidFill>
                <a:latin typeface="Malgun Gothic" pitchFamily="34" charset="0"/>
                <a:ea typeface="Malgun Gothic" pitchFamily="34" charset="-122"/>
                <a:cs typeface="Malgun Gothic" pitchFamily="34" charset="-120"/>
              </a:rPr>
              <a:t>채팅 실시간 통신</a:t>
            </a:r>
            <a:endParaRPr lang="en-US" sz="1100" dirty="0"/>
          </a:p>
        </p:txBody>
      </p:sp>
      <p:sp>
        <p:nvSpPr>
          <p:cNvPr id="27" name="Shape 25"/>
          <p:cNvSpPr/>
          <p:nvPr/>
        </p:nvSpPr>
        <p:spPr>
          <a:xfrm>
            <a:off x="6263640" y="3931920"/>
            <a:ext cx="5349240" cy="2103120"/>
          </a:xfrm>
          <a:prstGeom prst="roundRect">
            <a:avLst>
              <a:gd name="adj" fmla="val 3913"/>
            </a:avLst>
          </a:prstGeom>
          <a:solidFill>
            <a:srgbClr val="1F2430"/>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8" name="Text 26"/>
          <p:cNvSpPr txBox="1"/>
          <p:nvPr/>
        </p:nvSpPr>
        <p:spPr>
          <a:xfrm>
            <a:off x="6492240" y="4041648"/>
            <a:ext cx="4572000" cy="320040"/>
          </a:xfrm>
          <a:prstGeom prst="rect">
            <a:avLst/>
          </a:prstGeom>
          <a:noFill/>
          <a:ln/>
        </p:spPr>
        <p:txBody>
          <a:bodyPr wrap="square" lIns="0" tIns="0" rIns="0" bIns="0" rtlCol="0" anchor="ctr"/>
          <a:lstStyle/>
          <a:p>
            <a:pPr indent="0" marL="0">
              <a:buNone/>
            </a:pPr>
            <a:r>
              <a:rPr lang="en-US" sz="1350" b="1" dirty="0">
                <a:solidFill>
                  <a:srgbClr val="FF922B"/>
                </a:solidFill>
                <a:latin typeface="Malgun Gothic" pitchFamily="34" charset="0"/>
                <a:ea typeface="Malgun Gothic" pitchFamily="34" charset="-122"/>
                <a:cs typeface="Malgun Gothic" pitchFamily="34" charset="-120"/>
              </a:rPr>
              <a:t>보안도 신경 썼습니다</a:t>
            </a:r>
            <a:endParaRPr lang="en-US" sz="1350" dirty="0"/>
          </a:p>
        </p:txBody>
      </p:sp>
      <p:sp>
        <p:nvSpPr>
          <p:cNvPr id="29" name="Shape 27"/>
          <p:cNvSpPr/>
          <p:nvPr/>
        </p:nvSpPr>
        <p:spPr>
          <a:xfrm>
            <a:off x="6519672" y="4489704"/>
            <a:ext cx="109728" cy="109728"/>
          </a:xfrm>
          <a:prstGeom prst="ellipse">
            <a:avLst/>
          </a:prstGeom>
          <a:solidFill>
            <a:srgbClr val="2F9E44"/>
          </a:solidFill>
          <a:ln/>
        </p:spPr>
      </p:sp>
      <p:sp>
        <p:nvSpPr>
          <p:cNvPr id="30" name="Text 28"/>
          <p:cNvSpPr txBox="1"/>
          <p:nvPr/>
        </p:nvSpPr>
        <p:spPr>
          <a:xfrm>
            <a:off x="6775704" y="4434840"/>
            <a:ext cx="4663440" cy="457200"/>
          </a:xfrm>
          <a:prstGeom prst="rect">
            <a:avLst/>
          </a:prstGeom>
          <a:noFill/>
          <a:ln/>
        </p:spPr>
        <p:txBody>
          <a:bodyPr wrap="square" lIns="0" tIns="0" rIns="0" bIns="0" rtlCol="0" anchor="ctr"/>
          <a:lstStyle/>
          <a:p>
            <a:pPr indent="0" marL="0">
              <a:buNone/>
            </a:pPr>
            <a:r>
              <a:rPr lang="en-US" sz="1050" b="1" dirty="0">
                <a:solidFill>
                  <a:srgbClr val="FFFFFF"/>
                </a:solidFill>
                <a:latin typeface="Malgun Gothic" pitchFamily="34" charset="0"/>
                <a:ea typeface="Malgun Gothic" pitchFamily="34" charset="-122"/>
                <a:cs typeface="Malgun Gothic" pitchFamily="34" charset="-120"/>
              </a:rPr>
              <a:t>비밀번호는 bcrypt 해시로 저장  </a:t>
            </a:r>
            <a:pPr indent="0" marL="0">
              <a:buNone/>
            </a:pPr>
            <a:r>
              <a:rPr lang="en-US" sz="1050" dirty="0">
                <a:solidFill>
                  <a:srgbClr val="9AA0A6"/>
                </a:solidFill>
                <a:latin typeface="Malgun Gothic" pitchFamily="34" charset="0"/>
                <a:ea typeface="Malgun Gothic" pitchFamily="34" charset="-122"/>
                <a:cs typeface="Malgun Gothic" pitchFamily="34" charset="-120"/>
              </a:rPr>
              <a:t>원문 저장 X — 털려도 못 알아냄</a:t>
            </a:r>
            <a:endParaRPr lang="en-US" sz="1050" dirty="0"/>
          </a:p>
        </p:txBody>
      </p:sp>
      <p:sp>
        <p:nvSpPr>
          <p:cNvPr id="31" name="Shape 29"/>
          <p:cNvSpPr/>
          <p:nvPr/>
        </p:nvSpPr>
        <p:spPr>
          <a:xfrm>
            <a:off x="6519672" y="4992624"/>
            <a:ext cx="109728" cy="109728"/>
          </a:xfrm>
          <a:prstGeom prst="ellipse">
            <a:avLst/>
          </a:prstGeom>
          <a:solidFill>
            <a:srgbClr val="2F9E44"/>
          </a:solidFill>
          <a:ln/>
        </p:spPr>
      </p:sp>
      <p:sp>
        <p:nvSpPr>
          <p:cNvPr id="32" name="Text 30"/>
          <p:cNvSpPr txBox="1"/>
          <p:nvPr/>
        </p:nvSpPr>
        <p:spPr>
          <a:xfrm>
            <a:off x="6775704" y="4937760"/>
            <a:ext cx="4663440" cy="457200"/>
          </a:xfrm>
          <a:prstGeom prst="rect">
            <a:avLst/>
          </a:prstGeom>
          <a:noFill/>
          <a:ln/>
        </p:spPr>
        <p:txBody>
          <a:bodyPr wrap="square" lIns="0" tIns="0" rIns="0" bIns="0" rtlCol="0" anchor="ctr"/>
          <a:lstStyle/>
          <a:p>
            <a:pPr indent="0" marL="0">
              <a:buNone/>
            </a:pPr>
            <a:r>
              <a:rPr lang="en-US" sz="1050" b="1" dirty="0">
                <a:solidFill>
                  <a:srgbClr val="FFFFFF"/>
                </a:solidFill>
                <a:latin typeface="Malgun Gothic" pitchFamily="34" charset="0"/>
                <a:ea typeface="Malgun Gothic" pitchFamily="34" charset="-122"/>
                <a:cs typeface="Malgun Gothic" pitchFamily="34" charset="-120"/>
              </a:rPr>
              <a:t>JWT 토큰 인증  </a:t>
            </a:r>
            <a:pPr indent="0" marL="0">
              <a:buNone/>
            </a:pPr>
            <a:r>
              <a:rPr lang="en-US" sz="1050" dirty="0">
                <a:solidFill>
                  <a:srgbClr val="9AA0A6"/>
                </a:solidFill>
                <a:latin typeface="Malgun Gothic" pitchFamily="34" charset="0"/>
                <a:ea typeface="Malgun Gothic" pitchFamily="34" charset="-122"/>
                <a:cs typeface="Malgun Gothic" pitchFamily="34" charset="-120"/>
              </a:rPr>
              <a:t>로그인한 사람만 접근</a:t>
            </a:r>
            <a:endParaRPr lang="en-US" sz="1050" dirty="0"/>
          </a:p>
        </p:txBody>
      </p:sp>
      <p:sp>
        <p:nvSpPr>
          <p:cNvPr id="33" name="Shape 31"/>
          <p:cNvSpPr/>
          <p:nvPr/>
        </p:nvSpPr>
        <p:spPr>
          <a:xfrm>
            <a:off x="6519672" y="5495544"/>
            <a:ext cx="109728" cy="109728"/>
          </a:xfrm>
          <a:prstGeom prst="ellipse">
            <a:avLst/>
          </a:prstGeom>
          <a:solidFill>
            <a:srgbClr val="2F9E44"/>
          </a:solidFill>
          <a:ln/>
        </p:spPr>
      </p:sp>
      <p:sp>
        <p:nvSpPr>
          <p:cNvPr id="34" name="Text 32"/>
          <p:cNvSpPr txBox="1"/>
          <p:nvPr/>
        </p:nvSpPr>
        <p:spPr>
          <a:xfrm>
            <a:off x="6775704" y="5440680"/>
            <a:ext cx="4663440" cy="457200"/>
          </a:xfrm>
          <a:prstGeom prst="rect">
            <a:avLst/>
          </a:prstGeom>
          <a:noFill/>
          <a:ln/>
        </p:spPr>
        <p:txBody>
          <a:bodyPr wrap="square" lIns="0" tIns="0" rIns="0" bIns="0" rtlCol="0" anchor="ctr"/>
          <a:lstStyle/>
          <a:p>
            <a:pPr indent="0" marL="0">
              <a:buNone/>
            </a:pPr>
            <a:r>
              <a:rPr lang="en-US" sz="1050" b="1" dirty="0">
                <a:solidFill>
                  <a:srgbClr val="FFFFFF"/>
                </a:solidFill>
                <a:latin typeface="Malgun Gothic" pitchFamily="34" charset="0"/>
                <a:ea typeface="Malgun Gothic" pitchFamily="34" charset="-122"/>
                <a:cs typeface="Malgun Gothic" pitchFamily="34" charset="-120"/>
              </a:rPr>
              <a:t>production 모드 안전설정  </a:t>
            </a:r>
            <a:pPr indent="0" marL="0">
              <a:buNone/>
            </a:pPr>
            <a:r>
              <a:rPr lang="en-US" sz="1050" dirty="0">
                <a:solidFill>
                  <a:srgbClr val="9AA0A6"/>
                </a:solidFill>
                <a:latin typeface="Malgun Gothic" pitchFamily="34" charset="0"/>
                <a:ea typeface="Malgun Gothic" pitchFamily="34" charset="-122"/>
                <a:cs typeface="Malgun Gothic" pitchFamily="34" charset="-120"/>
              </a:rPr>
              <a:t>허용 주소만·문서 닫힘·코드 노출 X</a:t>
            </a:r>
            <a:endParaRPr lang="en-US" sz="1050" dirty="0"/>
          </a:p>
        </p:txBody>
      </p:sp>
      <p:sp>
        <p:nvSpPr>
          <p:cNvPr id="35" name="Text 33"/>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BACKEND ②</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백엔드 — 데이터베이스 (SQLite)</a:t>
            </a:r>
            <a:endParaRPr lang="en-US" sz="2800" dirty="0"/>
          </a:p>
        </p:txBody>
      </p:sp>
      <p:sp>
        <p:nvSpPr>
          <p:cNvPr id="4" name="Shape 2"/>
          <p:cNvSpPr/>
          <p:nvPr/>
        </p:nvSpPr>
        <p:spPr>
          <a:xfrm>
            <a:off x="640080" y="1463040"/>
            <a:ext cx="4023360" cy="1965960"/>
          </a:xfrm>
          <a:prstGeom prst="roundRect">
            <a:avLst>
              <a:gd name="adj" fmla="val 4186"/>
            </a:avLst>
          </a:prstGeom>
          <a:solidFill>
            <a:srgbClr val="FFF4E6"/>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5" name="Text 3"/>
          <p:cNvSpPr txBox="1"/>
          <p:nvPr/>
        </p:nvSpPr>
        <p:spPr>
          <a:xfrm>
            <a:off x="868680" y="1572768"/>
            <a:ext cx="3657600" cy="320040"/>
          </a:xfrm>
          <a:prstGeom prst="rect">
            <a:avLst/>
          </a:prstGeom>
          <a:noFill/>
          <a:ln/>
        </p:spPr>
        <p:txBody>
          <a:bodyPr wrap="square" lIns="0" tIns="0" rIns="0" bIns="0" rtlCol="0" anchor="ctr"/>
          <a:lstStyle/>
          <a:p>
            <a:pPr indent="0" marL="0">
              <a:buNone/>
            </a:pPr>
            <a:r>
              <a:rPr lang="en-US" sz="1300" b="1" dirty="0">
                <a:solidFill>
                  <a:srgbClr val="B5651D"/>
                </a:solidFill>
                <a:latin typeface="Malgun Gothic" pitchFamily="34" charset="0"/>
                <a:ea typeface="Malgun Gothic" pitchFamily="34" charset="-122"/>
                <a:cs typeface="Malgun Gothic" pitchFamily="34" charset="-120"/>
              </a:rPr>
              <a:t>왜 SQLite? (MySQL 아님)</a:t>
            </a:r>
            <a:endParaRPr lang="en-US" sz="1300" dirty="0"/>
          </a:p>
        </p:txBody>
      </p:sp>
      <p:sp>
        <p:nvSpPr>
          <p:cNvPr id="6" name="Text 4"/>
          <p:cNvSpPr txBox="1"/>
          <p:nvPr/>
        </p:nvSpPr>
        <p:spPr>
          <a:xfrm>
            <a:off x="868680" y="1938528"/>
            <a:ext cx="3657600" cy="1371600"/>
          </a:xfrm>
          <a:prstGeom prst="rect">
            <a:avLst/>
          </a:prstGeom>
          <a:noFill/>
          <a:ln/>
        </p:spPr>
        <p:txBody>
          <a:bodyPr wrap="square" lIns="0" tIns="0" rIns="0" bIns="0" rtlCol="0" anchor="t"/>
          <a:lstStyle/>
          <a:p>
            <a:pPr indent="0" marL="0">
              <a:lnSpc>
                <a:spcPct val="112000"/>
              </a:lnSpc>
              <a:buNone/>
            </a:pPr>
            <a:r>
              <a:rPr lang="en-US" sz="1150" dirty="0">
                <a:solidFill>
                  <a:srgbClr val="37503F"/>
                </a:solidFill>
                <a:latin typeface="Malgun Gothic" pitchFamily="34" charset="0"/>
                <a:ea typeface="Malgun Gothic" pitchFamily="34" charset="-122"/>
                <a:cs typeface="Malgun Gothic" pitchFamily="34" charset="-120"/>
              </a:rPr>
              <a:t>MySQL은 서버를 따로 띄워야 하는 DB. 이 프로젝트는 1인 개발·데모라 파일 하나(danggeun.db)가 곧 DB인 가벼운 SQLite를 골랐다.</a:t>
            </a:r>
            <a:endParaRPr lang="en-US" sz="1150" dirty="0"/>
          </a:p>
        </p:txBody>
      </p:sp>
      <p:sp>
        <p:nvSpPr>
          <p:cNvPr id="7" name="Text 5"/>
          <p:cNvSpPr txBox="1"/>
          <p:nvPr/>
        </p:nvSpPr>
        <p:spPr>
          <a:xfrm>
            <a:off x="4937760" y="1481328"/>
            <a:ext cx="6400800" cy="320040"/>
          </a:xfrm>
          <a:prstGeom prst="rect">
            <a:avLst/>
          </a:prstGeom>
          <a:noFill/>
          <a:ln/>
        </p:spPr>
        <p:txBody>
          <a:bodyPr wrap="square" lIns="0" tIns="0" rIns="0" bIns="0" rtlCol="0" anchor="ctr"/>
          <a:lstStyle/>
          <a:p>
            <a:pPr indent="0" marL="0">
              <a:buNone/>
            </a:pPr>
            <a:r>
              <a:rPr lang="en-US" sz="1300" b="1" dirty="0">
                <a:solidFill>
                  <a:srgbClr val="1C7293"/>
                </a:solidFill>
                <a:latin typeface="Malgun Gothic" pitchFamily="34" charset="0"/>
                <a:ea typeface="Malgun Gothic" pitchFamily="34" charset="-122"/>
                <a:cs typeface="Malgun Gothic" pitchFamily="34" charset="-120"/>
              </a:rPr>
              <a:t>핵심 테이블 관계 (13개 중)</a:t>
            </a:r>
            <a:endParaRPr lang="en-US" sz="1300" dirty="0"/>
          </a:p>
        </p:txBody>
      </p:sp>
      <p:sp>
        <p:nvSpPr>
          <p:cNvPr id="8" name="Shape 6"/>
          <p:cNvSpPr/>
          <p:nvPr/>
        </p:nvSpPr>
        <p:spPr>
          <a:xfrm>
            <a:off x="4937760" y="2148840"/>
            <a:ext cx="1828800" cy="548640"/>
          </a:xfrm>
          <a:prstGeom prst="roundRect">
            <a:avLst>
              <a:gd name="adj" fmla="val 13333"/>
            </a:avLst>
          </a:prstGeom>
          <a:solidFill>
            <a:srgbClr val="1F2430"/>
          </a:solidFill>
          <a:ln/>
        </p:spPr>
      </p:sp>
      <p:sp>
        <p:nvSpPr>
          <p:cNvPr id="9" name="Text 7"/>
          <p:cNvSpPr txBox="1"/>
          <p:nvPr/>
        </p:nvSpPr>
        <p:spPr>
          <a:xfrm>
            <a:off x="4937760" y="2148840"/>
            <a:ext cx="18288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users 회원</a:t>
            </a:r>
            <a:endParaRPr lang="en-US" sz="1200" dirty="0"/>
          </a:p>
        </p:txBody>
      </p:sp>
      <p:sp>
        <p:nvSpPr>
          <p:cNvPr id="10" name="Shape 8"/>
          <p:cNvSpPr/>
          <p:nvPr/>
        </p:nvSpPr>
        <p:spPr>
          <a:xfrm>
            <a:off x="6766560" y="2423160"/>
            <a:ext cx="640080" cy="0"/>
          </a:xfrm>
          <a:prstGeom prst="line">
            <a:avLst/>
          </a:prstGeom>
          <a:noFill/>
          <a:ln w="19050">
            <a:solidFill>
              <a:srgbClr val="B0B6BE"/>
            </a:solidFill>
            <a:prstDash val="solid"/>
          </a:ln>
        </p:spPr>
      </p:sp>
      <p:sp>
        <p:nvSpPr>
          <p:cNvPr id="11" name="Shape 9"/>
          <p:cNvSpPr/>
          <p:nvPr/>
        </p:nvSpPr>
        <p:spPr>
          <a:xfrm>
            <a:off x="7406640" y="2148840"/>
            <a:ext cx="1828800" cy="548640"/>
          </a:xfrm>
          <a:prstGeom prst="roundRect">
            <a:avLst>
              <a:gd name="adj" fmla="val 13333"/>
            </a:avLst>
          </a:prstGeom>
          <a:solidFill>
            <a:srgbClr val="E8590C"/>
          </a:solidFill>
          <a:ln/>
        </p:spPr>
      </p:sp>
      <p:sp>
        <p:nvSpPr>
          <p:cNvPr id="12" name="Text 10"/>
          <p:cNvSpPr txBox="1"/>
          <p:nvPr/>
        </p:nvSpPr>
        <p:spPr>
          <a:xfrm>
            <a:off x="7406640" y="2148840"/>
            <a:ext cx="18288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posts 매물</a:t>
            </a:r>
            <a:endParaRPr lang="en-US" sz="1200" dirty="0"/>
          </a:p>
        </p:txBody>
      </p:sp>
      <p:sp>
        <p:nvSpPr>
          <p:cNvPr id="13" name="Shape 11"/>
          <p:cNvSpPr/>
          <p:nvPr/>
        </p:nvSpPr>
        <p:spPr>
          <a:xfrm>
            <a:off x="9235440" y="2286000"/>
            <a:ext cx="640080" cy="-137160"/>
          </a:xfrm>
          <a:prstGeom prst="line">
            <a:avLst/>
          </a:prstGeom>
          <a:noFill/>
          <a:ln w="19050">
            <a:solidFill>
              <a:srgbClr val="B0B6BE"/>
            </a:solidFill>
            <a:prstDash val="solid"/>
          </a:ln>
        </p:spPr>
      </p:sp>
      <p:sp>
        <p:nvSpPr>
          <p:cNvPr id="14" name="Shape 12"/>
          <p:cNvSpPr/>
          <p:nvPr/>
        </p:nvSpPr>
        <p:spPr>
          <a:xfrm>
            <a:off x="9875520" y="1874520"/>
            <a:ext cx="1737360" cy="548640"/>
          </a:xfrm>
          <a:prstGeom prst="roundRect">
            <a:avLst>
              <a:gd name="adj" fmla="val 13333"/>
            </a:avLst>
          </a:prstGeom>
          <a:solidFill>
            <a:srgbClr val="FF922B"/>
          </a:solidFill>
          <a:ln/>
        </p:spPr>
      </p:sp>
      <p:sp>
        <p:nvSpPr>
          <p:cNvPr id="15" name="Text 13"/>
          <p:cNvSpPr txBox="1"/>
          <p:nvPr/>
        </p:nvSpPr>
        <p:spPr>
          <a:xfrm>
            <a:off x="9875520" y="1874520"/>
            <a:ext cx="17373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post_images</a:t>
            </a:r>
            <a:endParaRPr lang="en-US" sz="1200" dirty="0"/>
          </a:p>
        </p:txBody>
      </p:sp>
      <p:sp>
        <p:nvSpPr>
          <p:cNvPr id="16" name="Shape 14"/>
          <p:cNvSpPr/>
          <p:nvPr/>
        </p:nvSpPr>
        <p:spPr>
          <a:xfrm>
            <a:off x="9235440" y="2560320"/>
            <a:ext cx="640080" cy="228600"/>
          </a:xfrm>
          <a:prstGeom prst="line">
            <a:avLst/>
          </a:prstGeom>
          <a:noFill/>
          <a:ln w="19050">
            <a:solidFill>
              <a:srgbClr val="B0B6BE"/>
            </a:solidFill>
            <a:prstDash val="solid"/>
          </a:ln>
        </p:spPr>
      </p:sp>
      <p:sp>
        <p:nvSpPr>
          <p:cNvPr id="17" name="Shape 15"/>
          <p:cNvSpPr/>
          <p:nvPr/>
        </p:nvSpPr>
        <p:spPr>
          <a:xfrm>
            <a:off x="9875520" y="2514600"/>
            <a:ext cx="1737360" cy="548640"/>
          </a:xfrm>
          <a:prstGeom prst="roundRect">
            <a:avLst>
              <a:gd name="adj" fmla="val 13333"/>
            </a:avLst>
          </a:prstGeom>
          <a:solidFill>
            <a:srgbClr val="1C7293"/>
          </a:solidFill>
          <a:ln/>
        </p:spPr>
      </p:sp>
      <p:sp>
        <p:nvSpPr>
          <p:cNvPr id="18" name="Text 16"/>
          <p:cNvSpPr txBox="1"/>
          <p:nvPr/>
        </p:nvSpPr>
        <p:spPr>
          <a:xfrm>
            <a:off x="9875520" y="2514600"/>
            <a:ext cx="17373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chat_rooms</a:t>
            </a:r>
            <a:endParaRPr lang="en-US" sz="1200" dirty="0"/>
          </a:p>
        </p:txBody>
      </p:sp>
      <p:sp>
        <p:nvSpPr>
          <p:cNvPr id="19" name="Shape 17"/>
          <p:cNvSpPr/>
          <p:nvPr/>
        </p:nvSpPr>
        <p:spPr>
          <a:xfrm>
            <a:off x="9875520" y="3063240"/>
            <a:ext cx="-548640" cy="274320"/>
          </a:xfrm>
          <a:prstGeom prst="line">
            <a:avLst/>
          </a:prstGeom>
          <a:noFill/>
          <a:ln w="19050">
            <a:solidFill>
              <a:srgbClr val="B0B6BE"/>
            </a:solidFill>
            <a:prstDash val="solid"/>
          </a:ln>
        </p:spPr>
      </p:sp>
      <p:sp>
        <p:nvSpPr>
          <p:cNvPr id="20" name="Shape 18"/>
          <p:cNvSpPr/>
          <p:nvPr/>
        </p:nvSpPr>
        <p:spPr>
          <a:xfrm>
            <a:off x="7589520" y="3246120"/>
            <a:ext cx="1737360" cy="548640"/>
          </a:xfrm>
          <a:prstGeom prst="roundRect">
            <a:avLst>
              <a:gd name="adj" fmla="val 13333"/>
            </a:avLst>
          </a:prstGeom>
          <a:solidFill>
            <a:srgbClr val="6B4FBB"/>
          </a:solidFill>
          <a:ln/>
        </p:spPr>
      </p:sp>
      <p:sp>
        <p:nvSpPr>
          <p:cNvPr id="21" name="Text 19"/>
          <p:cNvSpPr txBox="1"/>
          <p:nvPr/>
        </p:nvSpPr>
        <p:spPr>
          <a:xfrm>
            <a:off x="7589520" y="3246120"/>
            <a:ext cx="17373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messages</a:t>
            </a:r>
            <a:endParaRPr lang="en-US" sz="1200" dirty="0"/>
          </a:p>
        </p:txBody>
      </p:sp>
      <p:sp>
        <p:nvSpPr>
          <p:cNvPr id="22" name="Shape 20"/>
          <p:cNvSpPr/>
          <p:nvPr/>
        </p:nvSpPr>
        <p:spPr>
          <a:xfrm>
            <a:off x="5852160" y="2697480"/>
            <a:ext cx="0" cy="640080"/>
          </a:xfrm>
          <a:prstGeom prst="line">
            <a:avLst/>
          </a:prstGeom>
          <a:noFill/>
          <a:ln w="19050">
            <a:solidFill>
              <a:srgbClr val="B0B6BE"/>
            </a:solidFill>
            <a:prstDash val="solid"/>
          </a:ln>
        </p:spPr>
      </p:sp>
      <p:sp>
        <p:nvSpPr>
          <p:cNvPr id="23" name="Shape 21"/>
          <p:cNvSpPr/>
          <p:nvPr/>
        </p:nvSpPr>
        <p:spPr>
          <a:xfrm>
            <a:off x="4937760" y="3246120"/>
            <a:ext cx="2286000" cy="548640"/>
          </a:xfrm>
          <a:prstGeom prst="roundRect">
            <a:avLst>
              <a:gd name="adj" fmla="val 13333"/>
            </a:avLst>
          </a:prstGeom>
          <a:solidFill>
            <a:srgbClr val="2F9E44"/>
          </a:solidFill>
          <a:ln/>
        </p:spPr>
      </p:sp>
      <p:sp>
        <p:nvSpPr>
          <p:cNvPr id="24" name="Text 22"/>
          <p:cNvSpPr txBox="1"/>
          <p:nvPr/>
        </p:nvSpPr>
        <p:spPr>
          <a:xfrm>
            <a:off x="4937760" y="3246120"/>
            <a:ext cx="22860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reports 신고</a:t>
            </a:r>
            <a:endParaRPr lang="en-US" sz="1200" dirty="0"/>
          </a:p>
        </p:txBody>
      </p:sp>
      <p:sp>
        <p:nvSpPr>
          <p:cNvPr id="25" name="Shape 23"/>
          <p:cNvSpPr/>
          <p:nvPr/>
        </p:nvSpPr>
        <p:spPr>
          <a:xfrm>
            <a:off x="7223760" y="3520440"/>
            <a:ext cx="365760" cy="0"/>
          </a:xfrm>
          <a:prstGeom prst="line">
            <a:avLst/>
          </a:prstGeom>
          <a:noFill/>
          <a:ln w="19050">
            <a:solidFill>
              <a:srgbClr val="B0B6BE"/>
            </a:solidFill>
            <a:prstDash val="solid"/>
          </a:ln>
        </p:spPr>
      </p:sp>
      <p:sp>
        <p:nvSpPr>
          <p:cNvPr id="26" name="Shape 24"/>
          <p:cNvSpPr/>
          <p:nvPr/>
        </p:nvSpPr>
        <p:spPr>
          <a:xfrm>
            <a:off x="4937760" y="3977640"/>
            <a:ext cx="2286000" cy="548640"/>
          </a:xfrm>
          <a:prstGeom prst="roundRect">
            <a:avLst>
              <a:gd name="adj" fmla="val 13333"/>
            </a:avLst>
          </a:prstGeom>
          <a:solidFill>
            <a:srgbClr val="2F9E44"/>
          </a:solidFill>
          <a:ln/>
        </p:spPr>
      </p:sp>
      <p:sp>
        <p:nvSpPr>
          <p:cNvPr id="27" name="Text 25"/>
          <p:cNvSpPr txBox="1"/>
          <p:nvPr/>
        </p:nvSpPr>
        <p:spPr>
          <a:xfrm>
            <a:off x="4937760" y="3977640"/>
            <a:ext cx="22860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reviews 후기</a:t>
            </a:r>
            <a:endParaRPr lang="en-US" sz="1200" dirty="0"/>
          </a:p>
        </p:txBody>
      </p:sp>
      <p:sp>
        <p:nvSpPr>
          <p:cNvPr id="28" name="Shape 26"/>
          <p:cNvSpPr/>
          <p:nvPr/>
        </p:nvSpPr>
        <p:spPr>
          <a:xfrm>
            <a:off x="5852160" y="3794760"/>
            <a:ext cx="0" cy="182880"/>
          </a:xfrm>
          <a:prstGeom prst="line">
            <a:avLst/>
          </a:prstGeom>
          <a:noFill/>
          <a:ln w="19050">
            <a:solidFill>
              <a:srgbClr val="B0B6BE"/>
            </a:solidFill>
            <a:prstDash val="solid"/>
          </a:ln>
        </p:spPr>
      </p:sp>
      <p:sp>
        <p:nvSpPr>
          <p:cNvPr id="29" name="Shape 27"/>
          <p:cNvSpPr/>
          <p:nvPr/>
        </p:nvSpPr>
        <p:spPr>
          <a:xfrm>
            <a:off x="7406640" y="3977640"/>
            <a:ext cx="1737360" cy="548640"/>
          </a:xfrm>
          <a:prstGeom prst="roundRect">
            <a:avLst>
              <a:gd name="adj" fmla="val 13333"/>
            </a:avLst>
          </a:prstGeom>
          <a:solidFill>
            <a:srgbClr val="868E96"/>
          </a:solidFill>
          <a:ln/>
        </p:spPr>
      </p:sp>
      <p:sp>
        <p:nvSpPr>
          <p:cNvPr id="30" name="Text 28"/>
          <p:cNvSpPr txBox="1"/>
          <p:nvPr/>
        </p:nvSpPr>
        <p:spPr>
          <a:xfrm>
            <a:off x="7406640" y="3977640"/>
            <a:ext cx="17373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warnings 경고</a:t>
            </a:r>
            <a:endParaRPr lang="en-US" sz="1200" dirty="0"/>
          </a:p>
        </p:txBody>
      </p:sp>
      <p:sp>
        <p:nvSpPr>
          <p:cNvPr id="31" name="Text 29"/>
          <p:cNvSpPr txBox="1"/>
          <p:nvPr/>
        </p:nvSpPr>
        <p:spPr>
          <a:xfrm>
            <a:off x="4937760" y="4617720"/>
            <a:ext cx="6675120" cy="274320"/>
          </a:xfrm>
          <a:prstGeom prst="rect">
            <a:avLst/>
          </a:prstGeom>
          <a:noFill/>
          <a:ln/>
        </p:spPr>
        <p:txBody>
          <a:bodyPr wrap="square" lIns="0" tIns="0" rIns="0" bIns="0" rtlCol="0" anchor="ctr"/>
          <a:lstStyle/>
          <a:p>
            <a:pPr indent="0" marL="0">
              <a:buNone/>
            </a:pPr>
            <a:r>
              <a:rPr lang="en-US" sz="1050" i="1" dirty="0">
                <a:solidFill>
                  <a:srgbClr val="6B7280"/>
                </a:solidFill>
                <a:latin typeface="Malgun Gothic" pitchFamily="34" charset="0"/>
                <a:ea typeface="Malgun Gothic" pitchFamily="34" charset="-122"/>
                <a:cs typeface="Malgun Gothic" pitchFamily="34" charset="-120"/>
              </a:rPr>
              <a:t>화살표 = 1:N (회원 한 명이 매물 여럿, 매물 하나에 사진·채팅 여럿)</a:t>
            </a:r>
            <a:endParaRPr lang="en-US" sz="1050" dirty="0"/>
          </a:p>
        </p:txBody>
      </p:sp>
      <p:sp>
        <p:nvSpPr>
          <p:cNvPr id="32" name="Text 30"/>
          <p:cNvSpPr txBox="1"/>
          <p:nvPr/>
        </p:nvSpPr>
        <p:spPr>
          <a:xfrm>
            <a:off x="640080" y="4983480"/>
            <a:ext cx="4572000" cy="274320"/>
          </a:xfrm>
          <a:prstGeom prst="rect">
            <a:avLst/>
          </a:prstGeom>
          <a:noFill/>
          <a:ln/>
        </p:spPr>
        <p:txBody>
          <a:bodyPr wrap="square" lIns="0" tIns="0" rIns="0" bIns="0" rtlCol="0" anchor="ctr"/>
          <a:lstStyle/>
          <a:p>
            <a:pPr indent="0" marL="0">
              <a:buNone/>
            </a:pPr>
            <a:r>
              <a:rPr lang="en-US" sz="1200" b="1" dirty="0">
                <a:solidFill>
                  <a:srgbClr val="1F2430"/>
                </a:solidFill>
                <a:latin typeface="Malgun Gothic" pitchFamily="34" charset="0"/>
                <a:ea typeface="Malgun Gothic" pitchFamily="34" charset="-122"/>
                <a:cs typeface="Malgun Gothic" pitchFamily="34" charset="-120"/>
              </a:rPr>
              <a:t>전체 테이블 13개</a:t>
            </a:r>
            <a:endParaRPr lang="en-US" sz="1200" dirty="0"/>
          </a:p>
        </p:txBody>
      </p:sp>
      <p:sp>
        <p:nvSpPr>
          <p:cNvPr id="33" name="Shape 31"/>
          <p:cNvSpPr/>
          <p:nvPr/>
        </p:nvSpPr>
        <p:spPr>
          <a:xfrm>
            <a:off x="640080" y="5303520"/>
            <a:ext cx="1508760" cy="402336"/>
          </a:xfrm>
          <a:prstGeom prst="roundRect">
            <a:avLst>
              <a:gd name="adj" fmla="val 18182"/>
            </a:avLst>
          </a:prstGeom>
          <a:solidFill>
            <a:srgbClr val="FFF0E1"/>
          </a:solidFill>
          <a:ln w="12700">
            <a:solidFill>
              <a:srgbClr val="E5E1DA"/>
            </a:solidFill>
            <a:prstDash val="solid"/>
          </a:ln>
        </p:spPr>
      </p:sp>
      <p:sp>
        <p:nvSpPr>
          <p:cNvPr id="34" name="Text 32"/>
          <p:cNvSpPr txBox="1"/>
          <p:nvPr/>
        </p:nvSpPr>
        <p:spPr>
          <a:xfrm>
            <a:off x="640080" y="5303520"/>
            <a:ext cx="1508760" cy="402336"/>
          </a:xfrm>
          <a:prstGeom prst="rect">
            <a:avLst/>
          </a:prstGeom>
          <a:noFill/>
          <a:ln/>
        </p:spPr>
        <p:txBody>
          <a:bodyPr wrap="square" lIns="0" tIns="0" rIns="0" bIns="0" rtlCol="0" anchor="ctr"/>
          <a:lstStyle/>
          <a:p>
            <a:pPr algn="ctr" indent="0" marL="0">
              <a:buNone/>
            </a:pPr>
            <a:r>
              <a:rPr lang="en-US" sz="950" dirty="0">
                <a:solidFill>
                  <a:srgbClr val="1F2430"/>
                </a:solidFill>
                <a:latin typeface="Consolas" pitchFamily="34" charset="0"/>
                <a:ea typeface="Consolas" pitchFamily="34" charset="-122"/>
                <a:cs typeface="Consolas" pitchFamily="34" charset="-120"/>
              </a:rPr>
              <a:t>users</a:t>
            </a:r>
            <a:endParaRPr lang="en-US" sz="950" dirty="0"/>
          </a:p>
        </p:txBody>
      </p:sp>
      <p:sp>
        <p:nvSpPr>
          <p:cNvPr id="35" name="Shape 33"/>
          <p:cNvSpPr/>
          <p:nvPr/>
        </p:nvSpPr>
        <p:spPr>
          <a:xfrm>
            <a:off x="2240280" y="5303520"/>
            <a:ext cx="1508760" cy="402336"/>
          </a:xfrm>
          <a:prstGeom prst="roundRect">
            <a:avLst>
              <a:gd name="adj" fmla="val 18182"/>
            </a:avLst>
          </a:prstGeom>
          <a:solidFill>
            <a:srgbClr val="FFF0E1"/>
          </a:solidFill>
          <a:ln w="12700">
            <a:solidFill>
              <a:srgbClr val="E5E1DA"/>
            </a:solidFill>
            <a:prstDash val="solid"/>
          </a:ln>
        </p:spPr>
      </p:sp>
      <p:sp>
        <p:nvSpPr>
          <p:cNvPr id="36" name="Text 34"/>
          <p:cNvSpPr txBox="1"/>
          <p:nvPr/>
        </p:nvSpPr>
        <p:spPr>
          <a:xfrm>
            <a:off x="2240280" y="5303520"/>
            <a:ext cx="1508760" cy="402336"/>
          </a:xfrm>
          <a:prstGeom prst="rect">
            <a:avLst/>
          </a:prstGeom>
          <a:noFill/>
          <a:ln/>
        </p:spPr>
        <p:txBody>
          <a:bodyPr wrap="square" lIns="0" tIns="0" rIns="0" bIns="0" rtlCol="0" anchor="ctr"/>
          <a:lstStyle/>
          <a:p>
            <a:pPr algn="ctr" indent="0" marL="0">
              <a:buNone/>
            </a:pPr>
            <a:r>
              <a:rPr lang="en-US" sz="950" dirty="0">
                <a:solidFill>
                  <a:srgbClr val="1F2430"/>
                </a:solidFill>
                <a:latin typeface="Consolas" pitchFamily="34" charset="0"/>
                <a:ea typeface="Consolas" pitchFamily="34" charset="-122"/>
                <a:cs typeface="Consolas" pitchFamily="34" charset="-120"/>
              </a:rPr>
              <a:t>posts</a:t>
            </a:r>
            <a:endParaRPr lang="en-US" sz="950" dirty="0"/>
          </a:p>
        </p:txBody>
      </p:sp>
      <p:sp>
        <p:nvSpPr>
          <p:cNvPr id="37" name="Shape 35"/>
          <p:cNvSpPr/>
          <p:nvPr/>
        </p:nvSpPr>
        <p:spPr>
          <a:xfrm>
            <a:off x="3840480" y="5303520"/>
            <a:ext cx="1508760" cy="402336"/>
          </a:xfrm>
          <a:prstGeom prst="roundRect">
            <a:avLst>
              <a:gd name="adj" fmla="val 18182"/>
            </a:avLst>
          </a:prstGeom>
          <a:solidFill>
            <a:srgbClr val="FFF0E1"/>
          </a:solidFill>
          <a:ln w="12700">
            <a:solidFill>
              <a:srgbClr val="E5E1DA"/>
            </a:solidFill>
            <a:prstDash val="solid"/>
          </a:ln>
        </p:spPr>
      </p:sp>
      <p:sp>
        <p:nvSpPr>
          <p:cNvPr id="38" name="Text 36"/>
          <p:cNvSpPr txBox="1"/>
          <p:nvPr/>
        </p:nvSpPr>
        <p:spPr>
          <a:xfrm>
            <a:off x="3840480" y="5303520"/>
            <a:ext cx="1508760" cy="402336"/>
          </a:xfrm>
          <a:prstGeom prst="rect">
            <a:avLst/>
          </a:prstGeom>
          <a:noFill/>
          <a:ln/>
        </p:spPr>
        <p:txBody>
          <a:bodyPr wrap="square" lIns="0" tIns="0" rIns="0" bIns="0" rtlCol="0" anchor="ctr"/>
          <a:lstStyle/>
          <a:p>
            <a:pPr algn="ctr" indent="0" marL="0">
              <a:buNone/>
            </a:pPr>
            <a:r>
              <a:rPr lang="en-US" sz="950" dirty="0">
                <a:solidFill>
                  <a:srgbClr val="1F2430"/>
                </a:solidFill>
                <a:latin typeface="Consolas" pitchFamily="34" charset="0"/>
                <a:ea typeface="Consolas" pitchFamily="34" charset="-122"/>
                <a:cs typeface="Consolas" pitchFamily="34" charset="-120"/>
              </a:rPr>
              <a:t>post_images</a:t>
            </a:r>
            <a:endParaRPr lang="en-US" sz="950" dirty="0"/>
          </a:p>
        </p:txBody>
      </p:sp>
      <p:sp>
        <p:nvSpPr>
          <p:cNvPr id="39" name="Shape 37"/>
          <p:cNvSpPr/>
          <p:nvPr/>
        </p:nvSpPr>
        <p:spPr>
          <a:xfrm>
            <a:off x="5440680" y="5303520"/>
            <a:ext cx="1508760" cy="402336"/>
          </a:xfrm>
          <a:prstGeom prst="roundRect">
            <a:avLst>
              <a:gd name="adj" fmla="val 18182"/>
            </a:avLst>
          </a:prstGeom>
          <a:solidFill>
            <a:srgbClr val="FFF0E1"/>
          </a:solidFill>
          <a:ln w="12700">
            <a:solidFill>
              <a:srgbClr val="E5E1DA"/>
            </a:solidFill>
            <a:prstDash val="solid"/>
          </a:ln>
        </p:spPr>
      </p:sp>
      <p:sp>
        <p:nvSpPr>
          <p:cNvPr id="40" name="Text 38"/>
          <p:cNvSpPr txBox="1"/>
          <p:nvPr/>
        </p:nvSpPr>
        <p:spPr>
          <a:xfrm>
            <a:off x="5440680" y="5303520"/>
            <a:ext cx="1508760" cy="402336"/>
          </a:xfrm>
          <a:prstGeom prst="rect">
            <a:avLst/>
          </a:prstGeom>
          <a:noFill/>
          <a:ln/>
        </p:spPr>
        <p:txBody>
          <a:bodyPr wrap="square" lIns="0" tIns="0" rIns="0" bIns="0" rtlCol="0" anchor="ctr"/>
          <a:lstStyle/>
          <a:p>
            <a:pPr algn="ctr" indent="0" marL="0">
              <a:buNone/>
            </a:pPr>
            <a:r>
              <a:rPr lang="en-US" sz="950" dirty="0">
                <a:solidFill>
                  <a:srgbClr val="1F2430"/>
                </a:solidFill>
                <a:latin typeface="Consolas" pitchFamily="34" charset="0"/>
                <a:ea typeface="Consolas" pitchFamily="34" charset="-122"/>
                <a:cs typeface="Consolas" pitchFamily="34" charset="-120"/>
              </a:rPr>
              <a:t>favorites</a:t>
            </a:r>
            <a:endParaRPr lang="en-US" sz="950" dirty="0"/>
          </a:p>
        </p:txBody>
      </p:sp>
      <p:sp>
        <p:nvSpPr>
          <p:cNvPr id="41" name="Shape 39"/>
          <p:cNvSpPr/>
          <p:nvPr/>
        </p:nvSpPr>
        <p:spPr>
          <a:xfrm>
            <a:off x="7040880" y="5303520"/>
            <a:ext cx="1508760" cy="402336"/>
          </a:xfrm>
          <a:prstGeom prst="roundRect">
            <a:avLst>
              <a:gd name="adj" fmla="val 18182"/>
            </a:avLst>
          </a:prstGeom>
          <a:solidFill>
            <a:srgbClr val="FFF0E1"/>
          </a:solidFill>
          <a:ln w="12700">
            <a:solidFill>
              <a:srgbClr val="E5E1DA"/>
            </a:solidFill>
            <a:prstDash val="solid"/>
          </a:ln>
        </p:spPr>
      </p:sp>
      <p:sp>
        <p:nvSpPr>
          <p:cNvPr id="42" name="Text 40"/>
          <p:cNvSpPr txBox="1"/>
          <p:nvPr/>
        </p:nvSpPr>
        <p:spPr>
          <a:xfrm>
            <a:off x="7040880" y="5303520"/>
            <a:ext cx="1508760" cy="402336"/>
          </a:xfrm>
          <a:prstGeom prst="rect">
            <a:avLst/>
          </a:prstGeom>
          <a:noFill/>
          <a:ln/>
        </p:spPr>
        <p:txBody>
          <a:bodyPr wrap="square" lIns="0" tIns="0" rIns="0" bIns="0" rtlCol="0" anchor="ctr"/>
          <a:lstStyle/>
          <a:p>
            <a:pPr algn="ctr" indent="0" marL="0">
              <a:buNone/>
            </a:pPr>
            <a:r>
              <a:rPr lang="en-US" sz="950" dirty="0">
                <a:solidFill>
                  <a:srgbClr val="1F2430"/>
                </a:solidFill>
                <a:latin typeface="Consolas" pitchFamily="34" charset="0"/>
                <a:ea typeface="Consolas" pitchFamily="34" charset="-122"/>
                <a:cs typeface="Consolas" pitchFamily="34" charset="-120"/>
              </a:rPr>
              <a:t>chat_rooms</a:t>
            </a:r>
            <a:endParaRPr lang="en-US" sz="950" dirty="0"/>
          </a:p>
        </p:txBody>
      </p:sp>
      <p:sp>
        <p:nvSpPr>
          <p:cNvPr id="43" name="Shape 41"/>
          <p:cNvSpPr/>
          <p:nvPr/>
        </p:nvSpPr>
        <p:spPr>
          <a:xfrm>
            <a:off x="8641080" y="5303520"/>
            <a:ext cx="1508760" cy="402336"/>
          </a:xfrm>
          <a:prstGeom prst="roundRect">
            <a:avLst>
              <a:gd name="adj" fmla="val 18182"/>
            </a:avLst>
          </a:prstGeom>
          <a:solidFill>
            <a:srgbClr val="FFF0E1"/>
          </a:solidFill>
          <a:ln w="12700">
            <a:solidFill>
              <a:srgbClr val="E5E1DA"/>
            </a:solidFill>
            <a:prstDash val="solid"/>
          </a:ln>
        </p:spPr>
      </p:sp>
      <p:sp>
        <p:nvSpPr>
          <p:cNvPr id="44" name="Text 42"/>
          <p:cNvSpPr txBox="1"/>
          <p:nvPr/>
        </p:nvSpPr>
        <p:spPr>
          <a:xfrm>
            <a:off x="8641080" y="5303520"/>
            <a:ext cx="1508760" cy="402336"/>
          </a:xfrm>
          <a:prstGeom prst="rect">
            <a:avLst/>
          </a:prstGeom>
          <a:noFill/>
          <a:ln/>
        </p:spPr>
        <p:txBody>
          <a:bodyPr wrap="square" lIns="0" tIns="0" rIns="0" bIns="0" rtlCol="0" anchor="ctr"/>
          <a:lstStyle/>
          <a:p>
            <a:pPr algn="ctr" indent="0" marL="0">
              <a:buNone/>
            </a:pPr>
            <a:r>
              <a:rPr lang="en-US" sz="950" dirty="0">
                <a:solidFill>
                  <a:srgbClr val="1F2430"/>
                </a:solidFill>
                <a:latin typeface="Consolas" pitchFamily="34" charset="0"/>
                <a:ea typeface="Consolas" pitchFamily="34" charset="-122"/>
                <a:cs typeface="Consolas" pitchFamily="34" charset="-120"/>
              </a:rPr>
              <a:t>messages</a:t>
            </a:r>
            <a:endParaRPr lang="en-US" sz="950" dirty="0"/>
          </a:p>
        </p:txBody>
      </p:sp>
      <p:sp>
        <p:nvSpPr>
          <p:cNvPr id="45" name="Shape 43"/>
          <p:cNvSpPr/>
          <p:nvPr/>
        </p:nvSpPr>
        <p:spPr>
          <a:xfrm>
            <a:off x="10241280" y="5303520"/>
            <a:ext cx="1508760" cy="402336"/>
          </a:xfrm>
          <a:prstGeom prst="roundRect">
            <a:avLst>
              <a:gd name="adj" fmla="val 18182"/>
            </a:avLst>
          </a:prstGeom>
          <a:solidFill>
            <a:srgbClr val="FFF0E1"/>
          </a:solidFill>
          <a:ln w="12700">
            <a:solidFill>
              <a:srgbClr val="E5E1DA"/>
            </a:solidFill>
            <a:prstDash val="solid"/>
          </a:ln>
        </p:spPr>
      </p:sp>
      <p:sp>
        <p:nvSpPr>
          <p:cNvPr id="46" name="Text 44"/>
          <p:cNvSpPr txBox="1"/>
          <p:nvPr/>
        </p:nvSpPr>
        <p:spPr>
          <a:xfrm>
            <a:off x="10241280" y="5303520"/>
            <a:ext cx="1508760" cy="402336"/>
          </a:xfrm>
          <a:prstGeom prst="rect">
            <a:avLst/>
          </a:prstGeom>
          <a:noFill/>
          <a:ln/>
        </p:spPr>
        <p:txBody>
          <a:bodyPr wrap="square" lIns="0" tIns="0" rIns="0" bIns="0" rtlCol="0" anchor="ctr"/>
          <a:lstStyle/>
          <a:p>
            <a:pPr algn="ctr" indent="0" marL="0">
              <a:buNone/>
            </a:pPr>
            <a:r>
              <a:rPr lang="en-US" sz="950" dirty="0">
                <a:solidFill>
                  <a:srgbClr val="1F2430"/>
                </a:solidFill>
                <a:latin typeface="Consolas" pitchFamily="34" charset="0"/>
                <a:ea typeface="Consolas" pitchFamily="34" charset="-122"/>
                <a:cs typeface="Consolas" pitchFamily="34" charset="-120"/>
              </a:rPr>
              <a:t>reports</a:t>
            </a:r>
            <a:endParaRPr lang="en-US" sz="950" dirty="0"/>
          </a:p>
        </p:txBody>
      </p:sp>
      <p:sp>
        <p:nvSpPr>
          <p:cNvPr id="47" name="Shape 45"/>
          <p:cNvSpPr/>
          <p:nvPr/>
        </p:nvSpPr>
        <p:spPr>
          <a:xfrm>
            <a:off x="640080" y="5806440"/>
            <a:ext cx="1508760" cy="402336"/>
          </a:xfrm>
          <a:prstGeom prst="roundRect">
            <a:avLst>
              <a:gd name="adj" fmla="val 18182"/>
            </a:avLst>
          </a:prstGeom>
          <a:solidFill>
            <a:srgbClr val="EBFBEE"/>
          </a:solidFill>
          <a:ln w="12700">
            <a:solidFill>
              <a:srgbClr val="E5E1DA"/>
            </a:solidFill>
            <a:prstDash val="solid"/>
          </a:ln>
        </p:spPr>
      </p:sp>
      <p:sp>
        <p:nvSpPr>
          <p:cNvPr id="48" name="Text 46"/>
          <p:cNvSpPr txBox="1"/>
          <p:nvPr/>
        </p:nvSpPr>
        <p:spPr>
          <a:xfrm>
            <a:off x="640080" y="5806440"/>
            <a:ext cx="1508760" cy="402336"/>
          </a:xfrm>
          <a:prstGeom prst="rect">
            <a:avLst/>
          </a:prstGeom>
          <a:noFill/>
          <a:ln/>
        </p:spPr>
        <p:txBody>
          <a:bodyPr wrap="square" lIns="0" tIns="0" rIns="0" bIns="0" rtlCol="0" anchor="ctr"/>
          <a:lstStyle/>
          <a:p>
            <a:pPr algn="ctr" indent="0" marL="0">
              <a:buNone/>
            </a:pPr>
            <a:r>
              <a:rPr lang="en-US" sz="950" dirty="0">
                <a:solidFill>
                  <a:srgbClr val="1F2430"/>
                </a:solidFill>
                <a:latin typeface="Consolas" pitchFamily="34" charset="0"/>
                <a:ea typeface="Consolas" pitchFamily="34" charset="-122"/>
                <a:cs typeface="Consolas" pitchFamily="34" charset="-120"/>
              </a:rPr>
              <a:t>reviews</a:t>
            </a:r>
            <a:endParaRPr lang="en-US" sz="950" dirty="0"/>
          </a:p>
        </p:txBody>
      </p:sp>
      <p:sp>
        <p:nvSpPr>
          <p:cNvPr id="49" name="Shape 47"/>
          <p:cNvSpPr/>
          <p:nvPr/>
        </p:nvSpPr>
        <p:spPr>
          <a:xfrm>
            <a:off x="2240280" y="5806440"/>
            <a:ext cx="1508760" cy="402336"/>
          </a:xfrm>
          <a:prstGeom prst="roundRect">
            <a:avLst>
              <a:gd name="adj" fmla="val 18182"/>
            </a:avLst>
          </a:prstGeom>
          <a:solidFill>
            <a:srgbClr val="EBFBEE"/>
          </a:solidFill>
          <a:ln w="12700">
            <a:solidFill>
              <a:srgbClr val="E5E1DA"/>
            </a:solidFill>
            <a:prstDash val="solid"/>
          </a:ln>
        </p:spPr>
      </p:sp>
      <p:sp>
        <p:nvSpPr>
          <p:cNvPr id="50" name="Text 48"/>
          <p:cNvSpPr txBox="1"/>
          <p:nvPr/>
        </p:nvSpPr>
        <p:spPr>
          <a:xfrm>
            <a:off x="2240280" y="5806440"/>
            <a:ext cx="1508760" cy="402336"/>
          </a:xfrm>
          <a:prstGeom prst="rect">
            <a:avLst/>
          </a:prstGeom>
          <a:noFill/>
          <a:ln/>
        </p:spPr>
        <p:txBody>
          <a:bodyPr wrap="square" lIns="0" tIns="0" rIns="0" bIns="0" rtlCol="0" anchor="ctr"/>
          <a:lstStyle/>
          <a:p>
            <a:pPr algn="ctr" indent="0" marL="0">
              <a:buNone/>
            </a:pPr>
            <a:r>
              <a:rPr lang="en-US" sz="950" dirty="0">
                <a:solidFill>
                  <a:srgbClr val="1F2430"/>
                </a:solidFill>
                <a:latin typeface="Consolas" pitchFamily="34" charset="0"/>
                <a:ea typeface="Consolas" pitchFamily="34" charset="-122"/>
                <a:cs typeface="Consolas" pitchFamily="34" charset="-120"/>
              </a:rPr>
              <a:t>warnings</a:t>
            </a:r>
            <a:endParaRPr lang="en-US" sz="950" dirty="0"/>
          </a:p>
        </p:txBody>
      </p:sp>
      <p:sp>
        <p:nvSpPr>
          <p:cNvPr id="51" name="Shape 49"/>
          <p:cNvSpPr/>
          <p:nvPr/>
        </p:nvSpPr>
        <p:spPr>
          <a:xfrm>
            <a:off x="3840480" y="5806440"/>
            <a:ext cx="1508760" cy="402336"/>
          </a:xfrm>
          <a:prstGeom prst="roundRect">
            <a:avLst>
              <a:gd name="adj" fmla="val 18182"/>
            </a:avLst>
          </a:prstGeom>
          <a:solidFill>
            <a:srgbClr val="EBFBEE"/>
          </a:solidFill>
          <a:ln w="12700">
            <a:solidFill>
              <a:srgbClr val="E5E1DA"/>
            </a:solidFill>
            <a:prstDash val="solid"/>
          </a:ln>
        </p:spPr>
      </p:sp>
      <p:sp>
        <p:nvSpPr>
          <p:cNvPr id="52" name="Text 50"/>
          <p:cNvSpPr txBox="1"/>
          <p:nvPr/>
        </p:nvSpPr>
        <p:spPr>
          <a:xfrm>
            <a:off x="3840480" y="5806440"/>
            <a:ext cx="1508760" cy="402336"/>
          </a:xfrm>
          <a:prstGeom prst="rect">
            <a:avLst/>
          </a:prstGeom>
          <a:noFill/>
          <a:ln/>
        </p:spPr>
        <p:txBody>
          <a:bodyPr wrap="square" lIns="0" tIns="0" rIns="0" bIns="0" rtlCol="0" anchor="ctr"/>
          <a:lstStyle/>
          <a:p>
            <a:pPr algn="ctr" indent="0" marL="0">
              <a:buNone/>
            </a:pPr>
            <a:r>
              <a:rPr lang="en-US" sz="950" dirty="0">
                <a:solidFill>
                  <a:srgbClr val="1F2430"/>
                </a:solidFill>
                <a:latin typeface="Consolas" pitchFamily="34" charset="0"/>
                <a:ea typeface="Consolas" pitchFamily="34" charset="-122"/>
                <a:cs typeface="Consolas" pitchFamily="34" charset="-120"/>
              </a:rPr>
              <a:t>withdrawals</a:t>
            </a:r>
            <a:endParaRPr lang="en-US" sz="950" dirty="0"/>
          </a:p>
        </p:txBody>
      </p:sp>
      <p:sp>
        <p:nvSpPr>
          <p:cNvPr id="53" name="Shape 51"/>
          <p:cNvSpPr/>
          <p:nvPr/>
        </p:nvSpPr>
        <p:spPr>
          <a:xfrm>
            <a:off x="5440680" y="5806440"/>
            <a:ext cx="1508760" cy="402336"/>
          </a:xfrm>
          <a:prstGeom prst="roundRect">
            <a:avLst>
              <a:gd name="adj" fmla="val 18182"/>
            </a:avLst>
          </a:prstGeom>
          <a:solidFill>
            <a:srgbClr val="EBFBEE"/>
          </a:solidFill>
          <a:ln w="12700">
            <a:solidFill>
              <a:srgbClr val="E5E1DA"/>
            </a:solidFill>
            <a:prstDash val="solid"/>
          </a:ln>
        </p:spPr>
      </p:sp>
      <p:sp>
        <p:nvSpPr>
          <p:cNvPr id="54" name="Text 52"/>
          <p:cNvSpPr txBox="1"/>
          <p:nvPr/>
        </p:nvSpPr>
        <p:spPr>
          <a:xfrm>
            <a:off x="5440680" y="5806440"/>
            <a:ext cx="1508760" cy="402336"/>
          </a:xfrm>
          <a:prstGeom prst="rect">
            <a:avLst/>
          </a:prstGeom>
          <a:noFill/>
          <a:ln/>
        </p:spPr>
        <p:txBody>
          <a:bodyPr wrap="square" lIns="0" tIns="0" rIns="0" bIns="0" rtlCol="0" anchor="ctr"/>
          <a:lstStyle/>
          <a:p>
            <a:pPr algn="ctr" indent="0" marL="0">
              <a:buNone/>
            </a:pPr>
            <a:r>
              <a:rPr lang="en-US" sz="950" dirty="0">
                <a:solidFill>
                  <a:srgbClr val="1F2430"/>
                </a:solidFill>
                <a:latin typeface="Consolas" pitchFamily="34" charset="0"/>
                <a:ea typeface="Consolas" pitchFamily="34" charset="-122"/>
                <a:cs typeface="Consolas" pitchFamily="34" charset="-120"/>
              </a:rPr>
              <a:t>admin_notices</a:t>
            </a:r>
            <a:endParaRPr lang="en-US" sz="950" dirty="0"/>
          </a:p>
        </p:txBody>
      </p:sp>
      <p:sp>
        <p:nvSpPr>
          <p:cNvPr id="55" name="Shape 53"/>
          <p:cNvSpPr/>
          <p:nvPr/>
        </p:nvSpPr>
        <p:spPr>
          <a:xfrm>
            <a:off x="7040880" y="5806440"/>
            <a:ext cx="1508760" cy="402336"/>
          </a:xfrm>
          <a:prstGeom prst="roundRect">
            <a:avLst>
              <a:gd name="adj" fmla="val 18182"/>
            </a:avLst>
          </a:prstGeom>
          <a:solidFill>
            <a:srgbClr val="EBFBEE"/>
          </a:solidFill>
          <a:ln w="12700">
            <a:solidFill>
              <a:srgbClr val="E5E1DA"/>
            </a:solidFill>
            <a:prstDash val="solid"/>
          </a:ln>
        </p:spPr>
      </p:sp>
      <p:sp>
        <p:nvSpPr>
          <p:cNvPr id="56" name="Text 54"/>
          <p:cNvSpPr txBox="1"/>
          <p:nvPr/>
        </p:nvSpPr>
        <p:spPr>
          <a:xfrm>
            <a:off x="7040880" y="5806440"/>
            <a:ext cx="1508760" cy="402336"/>
          </a:xfrm>
          <a:prstGeom prst="rect">
            <a:avLst/>
          </a:prstGeom>
          <a:noFill/>
          <a:ln/>
        </p:spPr>
        <p:txBody>
          <a:bodyPr wrap="square" lIns="0" tIns="0" rIns="0" bIns="0" rtlCol="0" anchor="ctr"/>
          <a:lstStyle/>
          <a:p>
            <a:pPr algn="ctr" indent="0" marL="0">
              <a:buNone/>
            </a:pPr>
            <a:r>
              <a:rPr lang="en-US" sz="950" dirty="0">
                <a:solidFill>
                  <a:srgbClr val="1F2430"/>
                </a:solidFill>
                <a:latin typeface="Consolas" pitchFamily="34" charset="0"/>
                <a:ea typeface="Consolas" pitchFamily="34" charset="-122"/>
                <a:cs typeface="Consolas" pitchFamily="34" charset="-120"/>
              </a:rPr>
              <a:t>admin_actions</a:t>
            </a:r>
            <a:endParaRPr lang="en-US" sz="950" dirty="0"/>
          </a:p>
        </p:txBody>
      </p:sp>
      <p:sp>
        <p:nvSpPr>
          <p:cNvPr id="57" name="Shape 55"/>
          <p:cNvSpPr/>
          <p:nvPr/>
        </p:nvSpPr>
        <p:spPr>
          <a:xfrm>
            <a:off x="8641080" y="5806440"/>
            <a:ext cx="1508760" cy="402336"/>
          </a:xfrm>
          <a:prstGeom prst="roundRect">
            <a:avLst>
              <a:gd name="adj" fmla="val 18182"/>
            </a:avLst>
          </a:prstGeom>
          <a:solidFill>
            <a:srgbClr val="EBFBEE"/>
          </a:solidFill>
          <a:ln w="12700">
            <a:solidFill>
              <a:srgbClr val="E5E1DA"/>
            </a:solidFill>
            <a:prstDash val="solid"/>
          </a:ln>
        </p:spPr>
      </p:sp>
      <p:sp>
        <p:nvSpPr>
          <p:cNvPr id="58" name="Text 56"/>
          <p:cNvSpPr txBox="1"/>
          <p:nvPr/>
        </p:nvSpPr>
        <p:spPr>
          <a:xfrm>
            <a:off x="8641080" y="5806440"/>
            <a:ext cx="1508760" cy="402336"/>
          </a:xfrm>
          <a:prstGeom prst="rect">
            <a:avLst/>
          </a:prstGeom>
          <a:noFill/>
          <a:ln/>
        </p:spPr>
        <p:txBody>
          <a:bodyPr wrap="square" lIns="0" tIns="0" rIns="0" bIns="0" rtlCol="0" anchor="ctr"/>
          <a:lstStyle/>
          <a:p>
            <a:pPr algn="ctr" indent="0" marL="0">
              <a:buNone/>
            </a:pPr>
            <a:r>
              <a:rPr lang="en-US" sz="950" dirty="0">
                <a:solidFill>
                  <a:srgbClr val="1F2430"/>
                </a:solidFill>
                <a:latin typeface="Consolas" pitchFamily="34" charset="0"/>
                <a:ea typeface="Consolas" pitchFamily="34" charset="-122"/>
                <a:cs typeface="Consolas" pitchFamily="34" charset="-120"/>
              </a:rPr>
              <a:t>search_logs</a:t>
            </a:r>
            <a:endParaRPr lang="en-US" sz="950" dirty="0"/>
          </a:p>
        </p:txBody>
      </p:sp>
      <p:sp>
        <p:nvSpPr>
          <p:cNvPr id="59" name="Text 57"/>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2430"/>
        </a:solidFill>
      </p:bgPr>
    </p:bg>
    <p:spTree>
      <p:nvGrpSpPr>
        <p:cNvPr id="1" name=""/>
        <p:cNvGrpSpPr/>
        <p:nvPr/>
      </p:nvGrpSpPr>
      <p:grpSpPr>
        <a:xfrm>
          <a:off x="0" y="0"/>
          <a:ext cx="0" cy="0"/>
          <a:chOff x="0" y="0"/>
          <a:chExt cx="0" cy="0"/>
        </a:xfrm>
      </p:grpSpPr>
      <p:sp>
        <p:nvSpPr>
          <p:cNvPr id="2" name="Shape 0"/>
          <p:cNvSpPr/>
          <p:nvPr/>
        </p:nvSpPr>
        <p:spPr>
          <a:xfrm>
            <a:off x="9692640" y="-1188720"/>
            <a:ext cx="3840480" cy="3840480"/>
          </a:xfrm>
          <a:prstGeom prst="ellipse">
            <a:avLst/>
          </a:prstGeom>
          <a:solidFill>
            <a:srgbClr val="E8590C"/>
          </a:solidFill>
          <a:ln/>
        </p:spPr>
      </p:sp>
      <p:sp>
        <p:nvSpPr>
          <p:cNvPr id="3" name="Shape 1"/>
          <p:cNvSpPr/>
          <p:nvPr/>
        </p:nvSpPr>
        <p:spPr>
          <a:xfrm>
            <a:off x="10972800" y="4572000"/>
            <a:ext cx="2560320" cy="2560320"/>
          </a:xfrm>
          <a:prstGeom prst="ellipse">
            <a:avLst/>
          </a:prstGeom>
          <a:solidFill>
            <a:srgbClr val="2F9E44"/>
          </a:solidFill>
          <a:ln/>
        </p:spPr>
      </p:sp>
      <p:sp>
        <p:nvSpPr>
          <p:cNvPr id="4" name="Text 2"/>
          <p:cNvSpPr txBox="1"/>
          <p:nvPr/>
        </p:nvSpPr>
        <p:spPr>
          <a:xfrm>
            <a:off x="731520" y="2468880"/>
            <a:ext cx="8229600" cy="365760"/>
          </a:xfrm>
          <a:prstGeom prst="rect">
            <a:avLst/>
          </a:prstGeom>
          <a:noFill/>
          <a:ln/>
        </p:spPr>
        <p:txBody>
          <a:bodyPr wrap="square" lIns="0" tIns="0" rIns="0" bIns="0" rtlCol="0" anchor="ctr"/>
          <a:lstStyle/>
          <a:p>
            <a:pPr indent="0" marL="0">
              <a:buNone/>
            </a:pPr>
            <a:r>
              <a:rPr lang="en-US" sz="1500" b="1" spc="200" kern="0" dirty="0">
                <a:solidFill>
                  <a:srgbClr val="FF922B"/>
                </a:solidFill>
                <a:latin typeface="Malgun Gothic" pitchFamily="34" charset="0"/>
                <a:ea typeface="Malgun Gothic" pitchFamily="34" charset="-122"/>
                <a:cs typeface="Malgun Gothic" pitchFamily="34" charset="-120"/>
              </a:rPr>
              <a:t>PART 3</a:t>
            </a:r>
            <a:endParaRPr lang="en-US" sz="1500" dirty="0"/>
          </a:p>
        </p:txBody>
      </p:sp>
      <p:sp>
        <p:nvSpPr>
          <p:cNvPr id="5" name="Text 3"/>
          <p:cNvSpPr txBox="1"/>
          <p:nvPr/>
        </p:nvSpPr>
        <p:spPr>
          <a:xfrm>
            <a:off x="694944" y="2880360"/>
            <a:ext cx="9144000" cy="914400"/>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핵심 기능</a:t>
            </a:r>
            <a:endParaRPr lang="en-US" sz="4400" dirty="0"/>
          </a:p>
        </p:txBody>
      </p:sp>
      <p:sp>
        <p:nvSpPr>
          <p:cNvPr id="6" name="Shape 4"/>
          <p:cNvSpPr/>
          <p:nvPr/>
        </p:nvSpPr>
        <p:spPr>
          <a:xfrm>
            <a:off x="777240" y="3977640"/>
            <a:ext cx="2011680" cy="0"/>
          </a:xfrm>
          <a:prstGeom prst="line">
            <a:avLst/>
          </a:prstGeom>
          <a:noFill/>
          <a:ln w="31750">
            <a:solidFill>
              <a:srgbClr val="FF922B"/>
            </a:solidFill>
            <a:prstDash val="solid"/>
          </a:ln>
        </p:spPr>
      </p:sp>
      <p:sp>
        <p:nvSpPr>
          <p:cNvPr id="7" name="Text 5"/>
          <p:cNvSpPr txBox="1"/>
          <p:nvPr/>
        </p:nvSpPr>
        <p:spPr>
          <a:xfrm>
            <a:off x="731520" y="4160520"/>
            <a:ext cx="8686800" cy="457200"/>
          </a:xfrm>
          <a:prstGeom prst="rect">
            <a:avLst/>
          </a:prstGeom>
          <a:noFill/>
          <a:ln/>
        </p:spPr>
        <p:txBody>
          <a:bodyPr wrap="square" lIns="0" tIns="0" rIns="0" bIns="0" rtlCol="0" anchor="ctr"/>
          <a:lstStyle/>
          <a:p>
            <a:pPr indent="0" marL="0">
              <a:buNone/>
            </a:pPr>
            <a:r>
              <a:rPr lang="en-US" sz="1500" dirty="0">
                <a:solidFill>
                  <a:srgbClr val="C9CDD6"/>
                </a:solidFill>
                <a:latin typeface="Malgun Gothic" pitchFamily="34" charset="0"/>
                <a:ea typeface="Malgun Gothic" pitchFamily="34" charset="-122"/>
                <a:cs typeface="Malgun Gothic" pitchFamily="34" charset="-120"/>
              </a:rPr>
              <a:t>사용자가 실제로 쓰는 기능 — 검색 · 채팅 · AI 도우미</a:t>
            </a:r>
            <a:endParaRPr lang="en-US" sz="1500" dirty="0"/>
          </a:p>
        </p:txBody>
      </p:sp>
      <p:sp>
        <p:nvSpPr>
          <p:cNvPr id="8" name="Text 6"/>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FEATURES ①</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핵심 기능 — 똑똑한 검색</a:t>
            </a:r>
            <a:endParaRPr lang="en-US" sz="2800" dirty="0"/>
          </a:p>
        </p:txBody>
      </p:sp>
      <p:sp>
        <p:nvSpPr>
          <p:cNvPr id="4" name="Shape 2"/>
          <p:cNvSpPr/>
          <p:nvPr/>
        </p:nvSpPr>
        <p:spPr>
          <a:xfrm>
            <a:off x="640080" y="1554480"/>
            <a:ext cx="4937760" cy="4297680"/>
          </a:xfrm>
          <a:prstGeom prst="roundRect">
            <a:avLst>
              <a:gd name="adj" fmla="val 1915"/>
            </a:avLst>
          </a:prstGeom>
          <a:solidFill>
            <a:srgbClr val="F4F5F7"/>
          </a:solidFill>
          <a:ln w="12700">
            <a:solidFill>
              <a:srgbClr val="D8DBE0"/>
            </a:solidFill>
            <a:prstDash val="solid"/>
          </a:ln>
          <a:effectLst>
            <a:outerShdw sx="100000" sy="100000" kx="0" ky="0" algn="bl" rotWithShape="0" blurRad="76200" dist="25400" dir="5400000">
              <a:srgbClr val="9AA0A6">
                <a:alpha val="20000"/>
              </a:srgbClr>
            </a:outerShdw>
          </a:effectLst>
        </p:spPr>
      </p:sp>
      <p:pic>
        <p:nvPicPr>
          <p:cNvPr id="5" name="Image 0" descr="/tmp/edit/shots/s5_search.png">    </p:cNvPr>
          <p:cNvPicPr>
            <a:picLocks noChangeAspect="1"/>
          </p:cNvPicPr>
          <p:nvPr/>
        </p:nvPicPr>
        <p:blipFill>
          <a:blip r:embed="rId1"/>
          <a:stretch>
            <a:fillRect/>
          </a:stretch>
        </p:blipFill>
        <p:spPr>
          <a:xfrm>
            <a:off x="1716786" y="1700784"/>
            <a:ext cx="2784348" cy="3712464"/>
          </a:xfrm>
          <a:prstGeom prst="rect">
            <a:avLst/>
          </a:prstGeom>
        </p:spPr>
      </p:pic>
      <p:sp>
        <p:nvSpPr>
          <p:cNvPr id="6" name="Text 3"/>
          <p:cNvSpPr txBox="1"/>
          <p:nvPr/>
        </p:nvSpPr>
        <p:spPr>
          <a:xfrm>
            <a:off x="640080" y="5559552"/>
            <a:ext cx="4937760" cy="274320"/>
          </a:xfrm>
          <a:prstGeom prst="rect">
            <a:avLst/>
          </a:prstGeom>
          <a:noFill/>
          <a:ln/>
        </p:spPr>
        <p:txBody>
          <a:bodyPr wrap="square" lIns="0" tIns="0" rIns="0" bIns="0" rtlCol="0" anchor="ctr"/>
          <a:lstStyle/>
          <a:p>
            <a:pPr algn="ctr" indent="0" marL="0">
              <a:buNone/>
            </a:pPr>
            <a:r>
              <a:rPr lang="en-US" sz="1000" b="1" dirty="0">
                <a:solidFill>
                  <a:srgbClr val="6B7280"/>
                </a:solidFill>
                <a:latin typeface="Malgun Gothic" pitchFamily="34" charset="0"/>
                <a:ea typeface="Malgun Gothic" pitchFamily="34" charset="-122"/>
                <a:cs typeface="Malgun Gothic" pitchFamily="34" charset="-120"/>
              </a:rPr>
              <a:t>자음(초성) 검색 — 'ㄴㅌㅂ' → 노트북</a:t>
            </a:r>
            <a:endParaRPr lang="en-US" sz="1000" dirty="0"/>
          </a:p>
        </p:txBody>
      </p:sp>
      <p:sp>
        <p:nvSpPr>
          <p:cNvPr id="7" name="Shape 4"/>
          <p:cNvSpPr/>
          <p:nvPr/>
        </p:nvSpPr>
        <p:spPr>
          <a:xfrm>
            <a:off x="5806440" y="1554480"/>
            <a:ext cx="5806440" cy="4297680"/>
          </a:xfrm>
          <a:prstGeom prst="roundRect">
            <a:avLst>
              <a:gd name="adj" fmla="val 1915"/>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8" name="Text 5"/>
          <p:cNvSpPr txBox="1"/>
          <p:nvPr/>
        </p:nvSpPr>
        <p:spPr>
          <a:xfrm>
            <a:off x="6035040" y="1691640"/>
            <a:ext cx="5303520" cy="320040"/>
          </a:xfrm>
          <a:prstGeom prst="rect">
            <a:avLst/>
          </a:prstGeom>
          <a:noFill/>
          <a:ln/>
        </p:spPr>
        <p:txBody>
          <a:bodyPr wrap="square" lIns="0" tIns="0" rIns="0" bIns="0" rtlCol="0" anchor="ctr"/>
          <a:lstStyle/>
          <a:p>
            <a:pPr indent="0" marL="0">
              <a:buNone/>
            </a:pPr>
            <a:r>
              <a:rPr lang="en-US" sz="1400" b="1" dirty="0">
                <a:solidFill>
                  <a:srgbClr val="E8590C"/>
                </a:solidFill>
                <a:latin typeface="Malgun Gothic" pitchFamily="34" charset="0"/>
                <a:ea typeface="Malgun Gothic" pitchFamily="34" charset="-122"/>
                <a:cs typeface="Malgun Gothic" pitchFamily="34" charset="-120"/>
              </a:rPr>
              <a:t>검색창 하나에 여러 방식</a:t>
            </a:r>
            <a:endParaRPr lang="en-US" sz="1400" dirty="0"/>
          </a:p>
        </p:txBody>
      </p:sp>
      <p:sp>
        <p:nvSpPr>
          <p:cNvPr id="9" name="Shape 6"/>
          <p:cNvSpPr/>
          <p:nvPr/>
        </p:nvSpPr>
        <p:spPr>
          <a:xfrm>
            <a:off x="6035040" y="2148840"/>
            <a:ext cx="384048" cy="384048"/>
          </a:xfrm>
          <a:prstGeom prst="ellipse">
            <a:avLst/>
          </a:prstGeom>
          <a:solidFill>
            <a:srgbClr val="E8590C"/>
          </a:solidFill>
          <a:ln/>
        </p:spPr>
      </p:sp>
      <p:sp>
        <p:nvSpPr>
          <p:cNvPr id="10" name="Text 7"/>
          <p:cNvSpPr txBox="1"/>
          <p:nvPr/>
        </p:nvSpPr>
        <p:spPr>
          <a:xfrm>
            <a:off x="6035040" y="214884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1</a:t>
            </a:r>
            <a:endParaRPr lang="en-US" sz="1250" dirty="0"/>
          </a:p>
        </p:txBody>
      </p:sp>
      <p:sp>
        <p:nvSpPr>
          <p:cNvPr id="11" name="Text 8"/>
          <p:cNvSpPr txBox="1"/>
          <p:nvPr/>
        </p:nvSpPr>
        <p:spPr>
          <a:xfrm>
            <a:off x="6583680" y="2121408"/>
            <a:ext cx="4846320" cy="457200"/>
          </a:xfrm>
          <a:prstGeom prst="rect">
            <a:avLst/>
          </a:prstGeom>
          <a:noFill/>
          <a:ln/>
        </p:spPr>
        <p:txBody>
          <a:bodyPr wrap="square" lIns="0" tIns="0" rIns="0" bIns="0" rtlCol="0" anchor="ctr"/>
          <a:lstStyle/>
          <a:p>
            <a:pPr indent="0" marL="0">
              <a:buNone/>
            </a:pPr>
            <a:r>
              <a:rPr lang="en-US" sz="1150" b="1" dirty="0">
                <a:solidFill>
                  <a:srgbClr val="1F2430"/>
                </a:solidFill>
                <a:latin typeface="Malgun Gothic" pitchFamily="34" charset="0"/>
                <a:ea typeface="Malgun Gothic" pitchFamily="34" charset="-122"/>
                <a:cs typeface="Malgun Gothic" pitchFamily="34" charset="-120"/>
              </a:rPr>
              <a:t>자동완성·오타보정  </a:t>
            </a:r>
            <a:pPr indent="0" marL="0">
              <a:buNone/>
            </a:pPr>
            <a:r>
              <a:rPr lang="en-US" sz="1150" dirty="0">
                <a:solidFill>
                  <a:srgbClr val="6B7280"/>
                </a:solidFill>
                <a:latin typeface="Malgun Gothic" pitchFamily="34" charset="0"/>
                <a:ea typeface="Malgun Gothic" pitchFamily="34" charset="-122"/>
                <a:cs typeface="Malgun Gothic" pitchFamily="34" charset="-120"/>
              </a:rPr>
              <a:t>비슷한 제목 추천, 오타도 잡음</a:t>
            </a:r>
            <a:endParaRPr lang="en-US" sz="1150" dirty="0"/>
          </a:p>
        </p:txBody>
      </p:sp>
      <p:sp>
        <p:nvSpPr>
          <p:cNvPr id="12" name="Shape 9"/>
          <p:cNvSpPr/>
          <p:nvPr/>
        </p:nvSpPr>
        <p:spPr>
          <a:xfrm>
            <a:off x="6035040" y="2752344"/>
            <a:ext cx="384048" cy="384048"/>
          </a:xfrm>
          <a:prstGeom prst="ellipse">
            <a:avLst/>
          </a:prstGeom>
          <a:solidFill>
            <a:srgbClr val="FF922B"/>
          </a:solidFill>
          <a:ln/>
        </p:spPr>
      </p:sp>
      <p:sp>
        <p:nvSpPr>
          <p:cNvPr id="13" name="Text 10"/>
          <p:cNvSpPr txBox="1"/>
          <p:nvPr/>
        </p:nvSpPr>
        <p:spPr>
          <a:xfrm>
            <a:off x="6035040" y="2752344"/>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2</a:t>
            </a:r>
            <a:endParaRPr lang="en-US" sz="1250" dirty="0"/>
          </a:p>
        </p:txBody>
      </p:sp>
      <p:sp>
        <p:nvSpPr>
          <p:cNvPr id="14" name="Text 11"/>
          <p:cNvSpPr txBox="1"/>
          <p:nvPr/>
        </p:nvSpPr>
        <p:spPr>
          <a:xfrm>
            <a:off x="6583680" y="2724912"/>
            <a:ext cx="4846320" cy="457200"/>
          </a:xfrm>
          <a:prstGeom prst="rect">
            <a:avLst/>
          </a:prstGeom>
          <a:noFill/>
          <a:ln/>
        </p:spPr>
        <p:txBody>
          <a:bodyPr wrap="square" lIns="0" tIns="0" rIns="0" bIns="0" rtlCol="0" anchor="ctr"/>
          <a:lstStyle/>
          <a:p>
            <a:pPr indent="0" marL="0">
              <a:buNone/>
            </a:pPr>
            <a:r>
              <a:rPr lang="en-US" sz="1150" b="1" dirty="0">
                <a:solidFill>
                  <a:srgbClr val="1F2430"/>
                </a:solidFill>
                <a:latin typeface="Malgun Gothic" pitchFamily="34" charset="0"/>
                <a:ea typeface="Malgun Gothic" pitchFamily="34" charset="-122"/>
                <a:cs typeface="Malgun Gothic" pitchFamily="34" charset="-120"/>
              </a:rPr>
              <a:t>초성 검색  </a:t>
            </a:r>
            <a:pPr indent="0" marL="0">
              <a:buNone/>
            </a:pPr>
            <a:r>
              <a:rPr lang="en-US" sz="1150" dirty="0">
                <a:solidFill>
                  <a:srgbClr val="6B7280"/>
                </a:solidFill>
                <a:latin typeface="Malgun Gothic" pitchFamily="34" charset="0"/>
                <a:ea typeface="Malgun Gothic" pitchFamily="34" charset="-122"/>
                <a:cs typeface="Malgun Gothic" pitchFamily="34" charset="-120"/>
              </a:rPr>
              <a:t>'ㄴㅌㅂ'→'노트북'</a:t>
            </a:r>
            <a:endParaRPr lang="en-US" sz="1150" dirty="0"/>
          </a:p>
        </p:txBody>
      </p:sp>
      <p:sp>
        <p:nvSpPr>
          <p:cNvPr id="15" name="Shape 12"/>
          <p:cNvSpPr/>
          <p:nvPr/>
        </p:nvSpPr>
        <p:spPr>
          <a:xfrm>
            <a:off x="6035040" y="3355848"/>
            <a:ext cx="384048" cy="384048"/>
          </a:xfrm>
          <a:prstGeom prst="ellipse">
            <a:avLst/>
          </a:prstGeom>
          <a:solidFill>
            <a:srgbClr val="2F9E44"/>
          </a:solidFill>
          <a:ln/>
        </p:spPr>
      </p:sp>
      <p:sp>
        <p:nvSpPr>
          <p:cNvPr id="16" name="Text 13"/>
          <p:cNvSpPr txBox="1"/>
          <p:nvPr/>
        </p:nvSpPr>
        <p:spPr>
          <a:xfrm>
            <a:off x="6035040" y="335584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3</a:t>
            </a:r>
            <a:endParaRPr lang="en-US" sz="1250" dirty="0"/>
          </a:p>
        </p:txBody>
      </p:sp>
      <p:sp>
        <p:nvSpPr>
          <p:cNvPr id="17" name="Text 14"/>
          <p:cNvSpPr txBox="1"/>
          <p:nvPr/>
        </p:nvSpPr>
        <p:spPr>
          <a:xfrm>
            <a:off x="6583680" y="3328416"/>
            <a:ext cx="4846320" cy="457200"/>
          </a:xfrm>
          <a:prstGeom prst="rect">
            <a:avLst/>
          </a:prstGeom>
          <a:noFill/>
          <a:ln/>
        </p:spPr>
        <p:txBody>
          <a:bodyPr wrap="square" lIns="0" tIns="0" rIns="0" bIns="0" rtlCol="0" anchor="ctr"/>
          <a:lstStyle/>
          <a:p>
            <a:pPr indent="0" marL="0">
              <a:buNone/>
            </a:pPr>
            <a:r>
              <a:rPr lang="en-US" sz="1150" b="1" dirty="0">
                <a:solidFill>
                  <a:srgbClr val="1F2430"/>
                </a:solidFill>
                <a:latin typeface="Malgun Gothic" pitchFamily="34" charset="0"/>
                <a:ea typeface="Malgun Gothic" pitchFamily="34" charset="-122"/>
                <a:cs typeface="Malgun Gothic" pitchFamily="34" charset="-120"/>
              </a:rPr>
              <a:t>의미 검색  </a:t>
            </a:r>
            <a:pPr indent="0" marL="0">
              <a:buNone/>
            </a:pPr>
            <a:r>
              <a:rPr lang="en-US" sz="1150" dirty="0">
                <a:solidFill>
                  <a:srgbClr val="6B7280"/>
                </a:solidFill>
                <a:latin typeface="Malgun Gothic" pitchFamily="34" charset="0"/>
                <a:ea typeface="Malgun Gothic" pitchFamily="34" charset="-122"/>
                <a:cs typeface="Malgun Gothic" pitchFamily="34" charset="-120"/>
              </a:rPr>
              <a:t>'노트북'으로 '랩탑'도 (ko-sroberta)</a:t>
            </a:r>
            <a:endParaRPr lang="en-US" sz="1150" dirty="0"/>
          </a:p>
        </p:txBody>
      </p:sp>
      <p:sp>
        <p:nvSpPr>
          <p:cNvPr id="18" name="Shape 15"/>
          <p:cNvSpPr/>
          <p:nvPr/>
        </p:nvSpPr>
        <p:spPr>
          <a:xfrm>
            <a:off x="6035040" y="3959352"/>
            <a:ext cx="384048" cy="384048"/>
          </a:xfrm>
          <a:prstGeom prst="ellipse">
            <a:avLst/>
          </a:prstGeom>
          <a:solidFill>
            <a:srgbClr val="1C7293"/>
          </a:solidFill>
          <a:ln/>
        </p:spPr>
      </p:sp>
      <p:sp>
        <p:nvSpPr>
          <p:cNvPr id="19" name="Text 16"/>
          <p:cNvSpPr txBox="1"/>
          <p:nvPr/>
        </p:nvSpPr>
        <p:spPr>
          <a:xfrm>
            <a:off x="6035040" y="395935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4</a:t>
            </a:r>
            <a:endParaRPr lang="en-US" sz="1250" dirty="0"/>
          </a:p>
        </p:txBody>
      </p:sp>
      <p:sp>
        <p:nvSpPr>
          <p:cNvPr id="20" name="Text 17"/>
          <p:cNvSpPr txBox="1"/>
          <p:nvPr/>
        </p:nvSpPr>
        <p:spPr>
          <a:xfrm>
            <a:off x="6583680" y="3931920"/>
            <a:ext cx="4846320" cy="457200"/>
          </a:xfrm>
          <a:prstGeom prst="rect">
            <a:avLst/>
          </a:prstGeom>
          <a:noFill/>
          <a:ln/>
        </p:spPr>
        <p:txBody>
          <a:bodyPr wrap="square" lIns="0" tIns="0" rIns="0" bIns="0" rtlCol="0" anchor="ctr"/>
          <a:lstStyle/>
          <a:p>
            <a:pPr indent="0" marL="0">
              <a:buNone/>
            </a:pPr>
            <a:r>
              <a:rPr lang="en-US" sz="1150" b="1" dirty="0">
                <a:solidFill>
                  <a:srgbClr val="1F2430"/>
                </a:solidFill>
                <a:latin typeface="Malgun Gothic" pitchFamily="34" charset="0"/>
                <a:ea typeface="Malgun Gothic" pitchFamily="34" charset="-122"/>
                <a:cs typeface="Malgun Gothic" pitchFamily="34" charset="-120"/>
              </a:rPr>
              <a:t>사진으로 검색  </a:t>
            </a:r>
            <a:pPr indent="0" marL="0">
              <a:buNone/>
            </a:pPr>
            <a:r>
              <a:rPr lang="en-US" sz="1150" dirty="0">
                <a:solidFill>
                  <a:srgbClr val="6B7280"/>
                </a:solidFill>
                <a:latin typeface="Malgun Gothic" pitchFamily="34" charset="0"/>
                <a:ea typeface="Malgun Gothic" pitchFamily="34" charset="-122"/>
                <a:cs typeface="Malgun Gothic" pitchFamily="34" charset="-120"/>
              </a:rPr>
              <a:t>비슷한 매물 찾기 (CLIP)</a:t>
            </a:r>
            <a:endParaRPr lang="en-US" sz="1150" dirty="0"/>
          </a:p>
        </p:txBody>
      </p:sp>
      <p:sp>
        <p:nvSpPr>
          <p:cNvPr id="21" name="Shape 18"/>
          <p:cNvSpPr/>
          <p:nvPr/>
        </p:nvSpPr>
        <p:spPr>
          <a:xfrm>
            <a:off x="6035040" y="4562856"/>
            <a:ext cx="384048" cy="384048"/>
          </a:xfrm>
          <a:prstGeom prst="ellipse">
            <a:avLst/>
          </a:prstGeom>
          <a:solidFill>
            <a:srgbClr val="6B4FBB"/>
          </a:solidFill>
          <a:ln/>
        </p:spPr>
      </p:sp>
      <p:sp>
        <p:nvSpPr>
          <p:cNvPr id="22" name="Text 19"/>
          <p:cNvSpPr txBox="1"/>
          <p:nvPr/>
        </p:nvSpPr>
        <p:spPr>
          <a:xfrm>
            <a:off x="6035040" y="456285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5</a:t>
            </a:r>
            <a:endParaRPr lang="en-US" sz="1250" dirty="0"/>
          </a:p>
        </p:txBody>
      </p:sp>
      <p:sp>
        <p:nvSpPr>
          <p:cNvPr id="23" name="Text 20"/>
          <p:cNvSpPr txBox="1"/>
          <p:nvPr/>
        </p:nvSpPr>
        <p:spPr>
          <a:xfrm>
            <a:off x="6583680" y="4535424"/>
            <a:ext cx="4846320" cy="457200"/>
          </a:xfrm>
          <a:prstGeom prst="rect">
            <a:avLst/>
          </a:prstGeom>
          <a:noFill/>
          <a:ln/>
        </p:spPr>
        <p:txBody>
          <a:bodyPr wrap="square" lIns="0" tIns="0" rIns="0" bIns="0" rtlCol="0" anchor="ctr"/>
          <a:lstStyle/>
          <a:p>
            <a:pPr indent="0" marL="0">
              <a:buNone/>
            </a:pPr>
            <a:r>
              <a:rPr lang="en-US" sz="1150" b="1" dirty="0">
                <a:solidFill>
                  <a:srgbClr val="1F2430"/>
                </a:solidFill>
                <a:latin typeface="Malgun Gothic" pitchFamily="34" charset="0"/>
                <a:ea typeface="Malgun Gothic" pitchFamily="34" charset="-122"/>
                <a:cs typeface="Malgun Gothic" pitchFamily="34" charset="-120"/>
              </a:rPr>
              <a:t>질의 해석  </a:t>
            </a:r>
            <a:pPr indent="0" marL="0">
              <a:buNone/>
            </a:pPr>
            <a:r>
              <a:rPr lang="en-US" sz="1150" dirty="0">
                <a:solidFill>
                  <a:srgbClr val="6B7280"/>
                </a:solidFill>
                <a:latin typeface="Malgun Gothic" pitchFamily="34" charset="0"/>
                <a:ea typeface="Malgun Gothic" pitchFamily="34" charset="-122"/>
                <a:cs typeface="Malgun Gothic" pitchFamily="34" charset="-120"/>
              </a:rPr>
              <a:t>말뜻을 AI가 풀어줌 (gemma3)</a:t>
            </a:r>
            <a:endParaRPr lang="en-US" sz="1150" dirty="0"/>
          </a:p>
        </p:txBody>
      </p:sp>
      <p:sp>
        <p:nvSpPr>
          <p:cNvPr id="24" name="Shape 21"/>
          <p:cNvSpPr/>
          <p:nvPr/>
        </p:nvSpPr>
        <p:spPr>
          <a:xfrm>
            <a:off x="6035040" y="5166360"/>
            <a:ext cx="384048" cy="384048"/>
          </a:xfrm>
          <a:prstGeom prst="ellipse">
            <a:avLst/>
          </a:prstGeom>
          <a:solidFill>
            <a:srgbClr val="6B7280"/>
          </a:solidFill>
          <a:ln/>
        </p:spPr>
      </p:sp>
      <p:sp>
        <p:nvSpPr>
          <p:cNvPr id="25" name="Text 22"/>
          <p:cNvSpPr txBox="1"/>
          <p:nvPr/>
        </p:nvSpPr>
        <p:spPr>
          <a:xfrm>
            <a:off x="6035040" y="516636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6</a:t>
            </a:r>
            <a:endParaRPr lang="en-US" sz="1250" dirty="0"/>
          </a:p>
        </p:txBody>
      </p:sp>
      <p:sp>
        <p:nvSpPr>
          <p:cNvPr id="26" name="Text 23"/>
          <p:cNvSpPr txBox="1"/>
          <p:nvPr/>
        </p:nvSpPr>
        <p:spPr>
          <a:xfrm>
            <a:off x="6583680" y="5138928"/>
            <a:ext cx="4846320" cy="457200"/>
          </a:xfrm>
          <a:prstGeom prst="rect">
            <a:avLst/>
          </a:prstGeom>
          <a:noFill/>
          <a:ln/>
        </p:spPr>
        <p:txBody>
          <a:bodyPr wrap="square" lIns="0" tIns="0" rIns="0" bIns="0" rtlCol="0" anchor="ctr"/>
          <a:lstStyle/>
          <a:p>
            <a:pPr indent="0" marL="0">
              <a:buNone/>
            </a:pPr>
            <a:r>
              <a:rPr lang="en-US" sz="1150" b="1" dirty="0">
                <a:solidFill>
                  <a:srgbClr val="1F2430"/>
                </a:solidFill>
                <a:latin typeface="Malgun Gothic" pitchFamily="34" charset="0"/>
                <a:ea typeface="Malgun Gothic" pitchFamily="34" charset="-122"/>
                <a:cs typeface="Malgun Gothic" pitchFamily="34" charset="-120"/>
              </a:rPr>
              <a:t>인기 검색어  </a:t>
            </a:r>
            <a:pPr indent="0" marL="0">
              <a:buNone/>
            </a:pPr>
            <a:r>
              <a:rPr lang="en-US" sz="1150" dirty="0">
                <a:solidFill>
                  <a:srgbClr val="6B7280"/>
                </a:solidFill>
                <a:latin typeface="Malgun Gothic" pitchFamily="34" charset="0"/>
                <a:ea typeface="Malgun Gothic" pitchFamily="34" charset="-122"/>
                <a:cs typeface="Malgun Gothic" pitchFamily="34" charset="-120"/>
              </a:rPr>
              <a:t>많이 찾은 단어 순위</a:t>
            </a:r>
            <a:endParaRPr lang="en-US" sz="1150" dirty="0"/>
          </a:p>
        </p:txBody>
      </p:sp>
      <p:sp>
        <p:nvSpPr>
          <p:cNvPr id="27" name="Text 24"/>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FEATURES ②</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핵심 기능 — 실시간 채팅 (WebSocket)</a:t>
            </a:r>
            <a:endParaRPr lang="en-US" sz="2800" dirty="0"/>
          </a:p>
        </p:txBody>
      </p:sp>
      <p:sp>
        <p:nvSpPr>
          <p:cNvPr id="4" name="Shape 2"/>
          <p:cNvSpPr/>
          <p:nvPr/>
        </p:nvSpPr>
        <p:spPr>
          <a:xfrm>
            <a:off x="640080" y="1554480"/>
            <a:ext cx="4937760" cy="4297680"/>
          </a:xfrm>
          <a:prstGeom prst="roundRect">
            <a:avLst>
              <a:gd name="adj" fmla="val 1915"/>
            </a:avLst>
          </a:prstGeom>
          <a:solidFill>
            <a:srgbClr val="F4F5F7"/>
          </a:solidFill>
          <a:ln w="12700">
            <a:solidFill>
              <a:srgbClr val="D8DBE0"/>
            </a:solidFill>
            <a:prstDash val="solid"/>
          </a:ln>
          <a:effectLst>
            <a:outerShdw sx="100000" sy="100000" kx="0" ky="0" algn="bl" rotWithShape="0" blurRad="76200" dist="25400" dir="5400000">
              <a:srgbClr val="9AA0A6">
                <a:alpha val="20000"/>
              </a:srgbClr>
            </a:outerShdw>
          </a:effectLst>
        </p:spPr>
      </p:sp>
      <p:pic>
        <p:nvPicPr>
          <p:cNvPr id="5" name="Image 0" descr="/tmp/edit/shots/s6_chat.png">    </p:cNvPr>
          <p:cNvPicPr>
            <a:picLocks noChangeAspect="1"/>
          </p:cNvPicPr>
          <p:nvPr/>
        </p:nvPicPr>
        <p:blipFill>
          <a:blip r:embed="rId1"/>
          <a:stretch>
            <a:fillRect/>
          </a:stretch>
        </p:blipFill>
        <p:spPr>
          <a:xfrm>
            <a:off x="1746486" y="1700784"/>
            <a:ext cx="2724949" cy="3712464"/>
          </a:xfrm>
          <a:prstGeom prst="rect">
            <a:avLst/>
          </a:prstGeom>
        </p:spPr>
      </p:pic>
      <p:sp>
        <p:nvSpPr>
          <p:cNvPr id="6" name="Text 3"/>
          <p:cNvSpPr txBox="1"/>
          <p:nvPr/>
        </p:nvSpPr>
        <p:spPr>
          <a:xfrm>
            <a:off x="640080" y="5559552"/>
            <a:ext cx="4937760" cy="274320"/>
          </a:xfrm>
          <a:prstGeom prst="rect">
            <a:avLst/>
          </a:prstGeom>
          <a:noFill/>
          <a:ln/>
        </p:spPr>
        <p:txBody>
          <a:bodyPr wrap="square" lIns="0" tIns="0" rIns="0" bIns="0" rtlCol="0" anchor="ctr"/>
          <a:lstStyle/>
          <a:p>
            <a:pPr algn="ctr" indent="0" marL="0">
              <a:buNone/>
            </a:pPr>
            <a:r>
              <a:rPr lang="en-US" sz="1000" b="1" dirty="0">
                <a:solidFill>
                  <a:srgbClr val="6B7280"/>
                </a:solidFill>
                <a:latin typeface="Malgun Gothic" pitchFamily="34" charset="0"/>
                <a:ea typeface="Malgun Gothic" pitchFamily="34" charset="-122"/>
                <a:cs typeface="Malgun Gothic" pitchFamily="34" charset="-120"/>
              </a:rPr>
              <a:t>실시간 채팅 · 추천 문구</a:t>
            </a:r>
            <a:endParaRPr lang="en-US" sz="1000" dirty="0"/>
          </a:p>
        </p:txBody>
      </p:sp>
      <p:sp>
        <p:nvSpPr>
          <p:cNvPr id="7" name="Shape 4"/>
          <p:cNvSpPr/>
          <p:nvPr/>
        </p:nvSpPr>
        <p:spPr>
          <a:xfrm>
            <a:off x="5806440" y="1554480"/>
            <a:ext cx="5806440" cy="2103120"/>
          </a:xfrm>
          <a:prstGeom prst="roundRect">
            <a:avLst>
              <a:gd name="adj" fmla="val 3913"/>
            </a:avLst>
          </a:prstGeom>
          <a:solidFill>
            <a:srgbClr val="FFF4E6"/>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8" name="Text 5"/>
          <p:cNvSpPr txBox="1"/>
          <p:nvPr/>
        </p:nvSpPr>
        <p:spPr>
          <a:xfrm>
            <a:off x="6035040" y="1691640"/>
            <a:ext cx="5303520" cy="320040"/>
          </a:xfrm>
          <a:prstGeom prst="rect">
            <a:avLst/>
          </a:prstGeom>
          <a:noFill/>
          <a:ln/>
        </p:spPr>
        <p:txBody>
          <a:bodyPr wrap="square" lIns="0" tIns="0" rIns="0" bIns="0" rtlCol="0" anchor="ctr"/>
          <a:lstStyle/>
          <a:p>
            <a:pPr indent="0" marL="0">
              <a:buNone/>
            </a:pPr>
            <a:r>
              <a:rPr lang="en-US" sz="1400" b="1" dirty="0">
                <a:solidFill>
                  <a:srgbClr val="B5651D"/>
                </a:solidFill>
                <a:latin typeface="Malgun Gothic" pitchFamily="34" charset="0"/>
                <a:ea typeface="Malgun Gothic" pitchFamily="34" charset="-122"/>
                <a:cs typeface="Malgun Gothic" pitchFamily="34" charset="-120"/>
              </a:rPr>
              <a:t>왜 WebSocket?</a:t>
            </a:r>
            <a:endParaRPr lang="en-US" sz="1400" dirty="0"/>
          </a:p>
        </p:txBody>
      </p:sp>
      <p:sp>
        <p:nvSpPr>
          <p:cNvPr id="9" name="Text 6"/>
          <p:cNvSpPr txBox="1"/>
          <p:nvPr/>
        </p:nvSpPr>
        <p:spPr>
          <a:xfrm>
            <a:off x="6035040" y="2084832"/>
            <a:ext cx="5349240" cy="1463040"/>
          </a:xfrm>
          <a:prstGeom prst="rect">
            <a:avLst/>
          </a:prstGeom>
          <a:noFill/>
          <a:ln/>
        </p:spPr>
        <p:txBody>
          <a:bodyPr wrap="square" lIns="0" tIns="0" rIns="0" bIns="0" rtlCol="0" anchor="t"/>
          <a:lstStyle/>
          <a:p>
            <a:pPr indent="0" marL="0">
              <a:lnSpc>
                <a:spcPct val="114000"/>
              </a:lnSpc>
              <a:buNone/>
            </a:pPr>
            <a:r>
              <a:rPr lang="en-US" sz="1200" dirty="0">
                <a:solidFill>
                  <a:srgbClr val="37503F"/>
                </a:solidFill>
                <a:latin typeface="Malgun Gothic" pitchFamily="34" charset="0"/>
                <a:ea typeface="Malgun Gothic" pitchFamily="34" charset="-122"/>
                <a:cs typeface="Malgun Gothic" pitchFamily="34" charset="-120"/>
              </a:rPr>
              <a:t>일반 요청(REST)은 '묻고 답하면 끊김'이라 실시간 채팅엔 부적합. 연결을 계속 열어두고 양방향으로 주고받는 WebSocket을 썼다.</a:t>
            </a:r>
            <a:endParaRPr lang="en-US" sz="1200" dirty="0"/>
          </a:p>
        </p:txBody>
      </p:sp>
      <p:sp>
        <p:nvSpPr>
          <p:cNvPr id="10" name="Shape 7"/>
          <p:cNvSpPr/>
          <p:nvPr/>
        </p:nvSpPr>
        <p:spPr>
          <a:xfrm>
            <a:off x="5806440" y="3794760"/>
            <a:ext cx="5806440" cy="2057400"/>
          </a:xfrm>
          <a:prstGeom prst="roundRect">
            <a:avLst>
              <a:gd name="adj" fmla="val 4000"/>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1" name="Text 8"/>
          <p:cNvSpPr txBox="1"/>
          <p:nvPr/>
        </p:nvSpPr>
        <p:spPr>
          <a:xfrm>
            <a:off x="6035040" y="3913632"/>
            <a:ext cx="5303520" cy="320040"/>
          </a:xfrm>
          <a:prstGeom prst="rect">
            <a:avLst/>
          </a:prstGeom>
          <a:noFill/>
          <a:ln/>
        </p:spPr>
        <p:txBody>
          <a:bodyPr wrap="square" lIns="0" tIns="0" rIns="0" bIns="0" rtlCol="0" anchor="ctr"/>
          <a:lstStyle/>
          <a:p>
            <a:pPr indent="0" marL="0">
              <a:buNone/>
            </a:pPr>
            <a:r>
              <a:rPr lang="en-US" sz="1350" b="1" dirty="0">
                <a:solidFill>
                  <a:srgbClr val="6B4FBB"/>
                </a:solidFill>
                <a:latin typeface="Malgun Gothic" pitchFamily="34" charset="0"/>
                <a:ea typeface="Malgun Gothic" pitchFamily="34" charset="-122"/>
                <a:cs typeface="Malgun Gothic" pitchFamily="34" charset="-120"/>
              </a:rPr>
              <a:t>연결 흐름 &amp; 안전 거래</a:t>
            </a:r>
            <a:endParaRPr lang="en-US" sz="1350" dirty="0"/>
          </a:p>
        </p:txBody>
      </p:sp>
      <p:sp>
        <p:nvSpPr>
          <p:cNvPr id="12" name="Shape 9"/>
          <p:cNvSpPr/>
          <p:nvPr/>
        </p:nvSpPr>
        <p:spPr>
          <a:xfrm>
            <a:off x="6053328" y="4370832"/>
            <a:ext cx="109728" cy="109728"/>
          </a:xfrm>
          <a:prstGeom prst="ellipse">
            <a:avLst/>
          </a:prstGeom>
          <a:solidFill>
            <a:srgbClr val="6B4FBB"/>
          </a:solidFill>
          <a:ln/>
        </p:spPr>
      </p:sp>
      <p:sp>
        <p:nvSpPr>
          <p:cNvPr id="13" name="Text 10"/>
          <p:cNvSpPr txBox="1"/>
          <p:nvPr/>
        </p:nvSpPr>
        <p:spPr>
          <a:xfrm>
            <a:off x="6309360" y="4315968"/>
            <a:ext cx="5120640" cy="457200"/>
          </a:xfrm>
          <a:prstGeom prst="rect">
            <a:avLst/>
          </a:prstGeom>
          <a:noFill/>
          <a:ln/>
        </p:spPr>
        <p:txBody>
          <a:bodyPr wrap="square" lIns="0" tIns="0" rIns="0" bIns="0" rtlCol="0" anchor="ctr"/>
          <a:lstStyle/>
          <a:p>
            <a:pPr indent="0" marL="0">
              <a:buNone/>
            </a:pPr>
            <a:r>
              <a:rPr lang="en-US" sz="1100" dirty="0">
                <a:solidFill>
                  <a:srgbClr val="3A3F4B"/>
                </a:solidFill>
                <a:latin typeface="Malgun Gothic" pitchFamily="34" charset="0"/>
                <a:ea typeface="Malgun Gothic" pitchFamily="34" charset="-122"/>
                <a:cs typeface="Malgun Gothic" pitchFamily="34" charset="-120"/>
              </a:rPr>
              <a:t>지난 대화는 REST로 한 번, 새 메시지는 WebSocket 실시간</a:t>
            </a:r>
            <a:endParaRPr lang="en-US" sz="1100" dirty="0"/>
          </a:p>
        </p:txBody>
      </p:sp>
      <p:sp>
        <p:nvSpPr>
          <p:cNvPr id="14" name="Shape 11"/>
          <p:cNvSpPr/>
          <p:nvPr/>
        </p:nvSpPr>
        <p:spPr>
          <a:xfrm>
            <a:off x="6053328" y="4828032"/>
            <a:ext cx="109728" cy="109728"/>
          </a:xfrm>
          <a:prstGeom prst="ellipse">
            <a:avLst/>
          </a:prstGeom>
          <a:solidFill>
            <a:srgbClr val="6B4FBB"/>
          </a:solidFill>
          <a:ln/>
        </p:spPr>
      </p:sp>
      <p:sp>
        <p:nvSpPr>
          <p:cNvPr id="15" name="Text 12"/>
          <p:cNvSpPr txBox="1"/>
          <p:nvPr/>
        </p:nvSpPr>
        <p:spPr>
          <a:xfrm>
            <a:off x="6309360" y="4773168"/>
            <a:ext cx="5120640" cy="457200"/>
          </a:xfrm>
          <a:prstGeom prst="rect">
            <a:avLst/>
          </a:prstGeom>
          <a:noFill/>
          <a:ln/>
        </p:spPr>
        <p:txBody>
          <a:bodyPr wrap="square" lIns="0" tIns="0" rIns="0" bIns="0" rtlCol="0" anchor="ctr"/>
          <a:lstStyle/>
          <a:p>
            <a:pPr indent="0" marL="0">
              <a:buNone/>
            </a:pPr>
            <a:r>
              <a:rPr lang="en-US" sz="1100" dirty="0">
                <a:solidFill>
                  <a:srgbClr val="3A3F4B"/>
                </a:solidFill>
                <a:latin typeface="Malgun Gothic" pitchFamily="34" charset="0"/>
                <a:ea typeface="Malgun Gothic" pitchFamily="34" charset="-122"/>
                <a:cs typeface="Malgun Gothic" pitchFamily="34" charset="-120"/>
              </a:rPr>
              <a:t>구매 결정 + 판매 확인 둘 다 눌러야 거래완료</a:t>
            </a:r>
            <a:endParaRPr lang="en-US" sz="1100" dirty="0"/>
          </a:p>
        </p:txBody>
      </p:sp>
      <p:sp>
        <p:nvSpPr>
          <p:cNvPr id="16" name="Shape 13"/>
          <p:cNvSpPr/>
          <p:nvPr/>
        </p:nvSpPr>
        <p:spPr>
          <a:xfrm>
            <a:off x="6053328" y="5285232"/>
            <a:ext cx="109728" cy="109728"/>
          </a:xfrm>
          <a:prstGeom prst="ellipse">
            <a:avLst/>
          </a:prstGeom>
          <a:solidFill>
            <a:srgbClr val="6B4FBB"/>
          </a:solidFill>
          <a:ln/>
        </p:spPr>
      </p:sp>
      <p:sp>
        <p:nvSpPr>
          <p:cNvPr id="17" name="Text 14"/>
          <p:cNvSpPr txBox="1"/>
          <p:nvPr/>
        </p:nvSpPr>
        <p:spPr>
          <a:xfrm>
            <a:off x="6309360" y="5230368"/>
            <a:ext cx="5120640" cy="457200"/>
          </a:xfrm>
          <a:prstGeom prst="rect">
            <a:avLst/>
          </a:prstGeom>
          <a:noFill/>
          <a:ln/>
        </p:spPr>
        <p:txBody>
          <a:bodyPr wrap="square" lIns="0" tIns="0" rIns="0" bIns="0" rtlCol="0" anchor="ctr"/>
          <a:lstStyle/>
          <a:p>
            <a:pPr indent="0" marL="0">
              <a:buNone/>
            </a:pPr>
            <a:r>
              <a:rPr lang="en-US" sz="1100" dirty="0">
                <a:solidFill>
                  <a:srgbClr val="3A3F4B"/>
                </a:solidFill>
                <a:latin typeface="Malgun Gothic" pitchFamily="34" charset="0"/>
                <a:ea typeface="Malgun Gothic" pitchFamily="34" charset="-122"/>
                <a:cs typeface="Malgun Gothic" pitchFamily="34" charset="-120"/>
              </a:rPr>
              <a:t>대화 중 바로 신고 → 관리자에게 전달</a:t>
            </a:r>
            <a:endParaRPr lang="en-US" sz="1100" dirty="0"/>
          </a:p>
        </p:txBody>
      </p:sp>
      <p:sp>
        <p:nvSpPr>
          <p:cNvPr id="18" name="Text 15"/>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FEATURES ③</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핵심 기능 — AI 도우미</a:t>
            </a:r>
            <a:endParaRPr lang="en-US" sz="2800" dirty="0"/>
          </a:p>
        </p:txBody>
      </p:sp>
      <p:sp>
        <p:nvSpPr>
          <p:cNvPr id="4" name="Text 2"/>
          <p:cNvSpPr txBox="1"/>
          <p:nvPr/>
        </p:nvSpPr>
        <p:spPr>
          <a:xfrm>
            <a:off x="548640" y="1371600"/>
            <a:ext cx="10972800" cy="365760"/>
          </a:xfrm>
          <a:prstGeom prst="rect">
            <a:avLst/>
          </a:prstGeom>
          <a:noFill/>
          <a:ln/>
        </p:spPr>
        <p:txBody>
          <a:bodyPr wrap="square" lIns="0" tIns="0" rIns="0" bIns="0" rtlCol="0" anchor="ctr"/>
          <a:lstStyle/>
          <a:p>
            <a:pPr indent="0" marL="0">
              <a:buNone/>
            </a:pPr>
            <a:r>
              <a:rPr lang="en-US" sz="1300" dirty="0">
                <a:solidFill>
                  <a:srgbClr val="6B7280"/>
                </a:solidFill>
                <a:latin typeface="Malgun Gothic" pitchFamily="34" charset="0"/>
                <a:ea typeface="Malgun Gothic" pitchFamily="34" charset="-122"/>
                <a:cs typeface="Malgun Gothic" pitchFamily="34" charset="-120"/>
              </a:rPr>
              <a:t>판매자·구매자를 돕는 AI. 사진을 넣으면 AI가 처리해 결과를 돌려준다. (모두 로컬 실행)</a:t>
            </a:r>
            <a:endParaRPr lang="en-US" sz="1300" dirty="0"/>
          </a:p>
        </p:txBody>
      </p:sp>
      <p:sp>
        <p:nvSpPr>
          <p:cNvPr id="5" name="Shape 3"/>
          <p:cNvSpPr/>
          <p:nvPr/>
        </p:nvSpPr>
        <p:spPr>
          <a:xfrm>
            <a:off x="822960" y="1965960"/>
            <a:ext cx="2194560" cy="1051560"/>
          </a:xfrm>
          <a:prstGeom prst="roundRect">
            <a:avLst>
              <a:gd name="adj" fmla="val 7826"/>
            </a:avLst>
          </a:prstGeom>
          <a:solidFill>
            <a:srgbClr val="FFF4E6"/>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6" name="Text 4"/>
          <p:cNvSpPr txBox="1"/>
          <p:nvPr/>
        </p:nvSpPr>
        <p:spPr>
          <a:xfrm>
            <a:off x="822960" y="2075688"/>
            <a:ext cx="2194560" cy="274320"/>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입력</a:t>
            </a:r>
            <a:endParaRPr lang="en-US" sz="1000" dirty="0"/>
          </a:p>
        </p:txBody>
      </p:sp>
      <p:sp>
        <p:nvSpPr>
          <p:cNvPr id="7" name="Text 5"/>
          <p:cNvSpPr txBox="1"/>
          <p:nvPr/>
        </p:nvSpPr>
        <p:spPr>
          <a:xfrm>
            <a:off x="822960" y="2350008"/>
            <a:ext cx="2194560" cy="457200"/>
          </a:xfrm>
          <a:prstGeom prst="rect">
            <a:avLst/>
          </a:prstGeom>
          <a:noFill/>
          <a:ln/>
        </p:spPr>
        <p:txBody>
          <a:bodyPr wrap="square" lIns="0" tIns="0" rIns="0" bIns="0" rtlCol="0" anchor="ctr"/>
          <a:lstStyle/>
          <a:p>
            <a:pPr algn="ctr" indent="0" marL="0">
              <a:buNone/>
            </a:pPr>
            <a:r>
              <a:rPr lang="en-US" sz="1700" b="1" dirty="0">
                <a:solidFill>
                  <a:srgbClr val="1F2430"/>
                </a:solidFill>
                <a:latin typeface="Malgun Gothic" pitchFamily="34" charset="0"/>
                <a:ea typeface="Malgun Gothic" pitchFamily="34" charset="-122"/>
                <a:cs typeface="Malgun Gothic" pitchFamily="34" charset="-120"/>
              </a:rPr>
              <a:t>사진</a:t>
            </a:r>
            <a:endParaRPr lang="en-US" sz="1700" dirty="0"/>
          </a:p>
        </p:txBody>
      </p:sp>
      <p:sp>
        <p:nvSpPr>
          <p:cNvPr id="8" name="Shape 6"/>
          <p:cNvSpPr/>
          <p:nvPr/>
        </p:nvSpPr>
        <p:spPr>
          <a:xfrm>
            <a:off x="3154680" y="2377440"/>
            <a:ext cx="640080" cy="219456"/>
          </a:xfrm>
          <a:prstGeom prst="rightArrow">
            <a:avLst/>
          </a:prstGeom>
          <a:solidFill>
            <a:srgbClr val="FF922B"/>
          </a:solidFill>
          <a:ln/>
        </p:spPr>
      </p:sp>
      <p:sp>
        <p:nvSpPr>
          <p:cNvPr id="9" name="Shape 7"/>
          <p:cNvSpPr/>
          <p:nvPr/>
        </p:nvSpPr>
        <p:spPr>
          <a:xfrm>
            <a:off x="3931920" y="1965960"/>
            <a:ext cx="2743200" cy="1051560"/>
          </a:xfrm>
          <a:prstGeom prst="roundRect">
            <a:avLst>
              <a:gd name="adj" fmla="val 7826"/>
            </a:avLst>
          </a:prstGeom>
          <a:solidFill>
            <a:srgbClr val="1F2430"/>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0" name="Text 8"/>
          <p:cNvSpPr txBox="1"/>
          <p:nvPr/>
        </p:nvSpPr>
        <p:spPr>
          <a:xfrm>
            <a:off x="3931920" y="2093976"/>
            <a:ext cx="2743200" cy="274320"/>
          </a:xfrm>
          <a:prstGeom prst="rect">
            <a:avLst/>
          </a:prstGeom>
          <a:noFill/>
          <a:ln/>
        </p:spPr>
        <p:txBody>
          <a:bodyPr wrap="square" lIns="0" tIns="0" rIns="0" bIns="0" rtlCol="0" anchor="ctr"/>
          <a:lstStyle/>
          <a:p>
            <a:pPr algn="ctr" indent="0" marL="0">
              <a:buNone/>
            </a:pPr>
            <a:r>
              <a:rPr lang="en-US" sz="1000" dirty="0">
                <a:solidFill>
                  <a:srgbClr val="9AA0A6"/>
                </a:solidFill>
                <a:latin typeface="Malgun Gothic" pitchFamily="34" charset="0"/>
                <a:ea typeface="Malgun Gothic" pitchFamily="34" charset="-122"/>
                <a:cs typeface="Malgun Gothic" pitchFamily="34" charset="-120"/>
              </a:rPr>
              <a:t>AI 엔진</a:t>
            </a:r>
            <a:endParaRPr lang="en-US" sz="1000" dirty="0"/>
          </a:p>
        </p:txBody>
      </p:sp>
      <p:sp>
        <p:nvSpPr>
          <p:cNvPr id="11" name="Text 9"/>
          <p:cNvSpPr txBox="1"/>
          <p:nvPr/>
        </p:nvSpPr>
        <p:spPr>
          <a:xfrm>
            <a:off x="3931920" y="2368296"/>
            <a:ext cx="2743200" cy="457200"/>
          </a:xfrm>
          <a:prstGeom prst="rect">
            <a:avLst/>
          </a:prstGeom>
          <a:noFill/>
          <a:ln/>
        </p:spPr>
        <p:txBody>
          <a:bodyPr wrap="square" lIns="0" tIns="0" rIns="0" bIns="0" rtlCol="0" anchor="ctr"/>
          <a:lstStyle/>
          <a:p>
            <a:pPr algn="ctr" indent="0" marL="0">
              <a:buNone/>
            </a:pPr>
            <a:r>
              <a:rPr lang="en-US" sz="1700" b="1" dirty="0">
                <a:solidFill>
                  <a:srgbClr val="FF922B"/>
                </a:solidFill>
                <a:latin typeface="Malgun Gothic" pitchFamily="34" charset="0"/>
                <a:ea typeface="Malgun Gothic" pitchFamily="34" charset="-122"/>
                <a:cs typeface="Malgun Gothic" pitchFamily="34" charset="-120"/>
              </a:rPr>
              <a:t>CLIP</a:t>
            </a:r>
            <a:endParaRPr lang="en-US" sz="1700" dirty="0"/>
          </a:p>
        </p:txBody>
      </p:sp>
      <p:sp>
        <p:nvSpPr>
          <p:cNvPr id="12" name="Shape 10"/>
          <p:cNvSpPr/>
          <p:nvPr/>
        </p:nvSpPr>
        <p:spPr>
          <a:xfrm>
            <a:off x="6812280" y="2377440"/>
            <a:ext cx="640080" cy="219456"/>
          </a:xfrm>
          <a:prstGeom prst="rightArrow">
            <a:avLst/>
          </a:prstGeom>
          <a:solidFill>
            <a:srgbClr val="2F9E44"/>
          </a:solidFill>
          <a:ln/>
        </p:spPr>
      </p:sp>
      <p:sp>
        <p:nvSpPr>
          <p:cNvPr id="13" name="Shape 11"/>
          <p:cNvSpPr/>
          <p:nvPr/>
        </p:nvSpPr>
        <p:spPr>
          <a:xfrm>
            <a:off x="7589520" y="1965960"/>
            <a:ext cx="3749040" cy="1051560"/>
          </a:xfrm>
          <a:prstGeom prst="roundRect">
            <a:avLst>
              <a:gd name="adj" fmla="val 7826"/>
            </a:avLst>
          </a:prstGeom>
          <a:solidFill>
            <a:srgbClr val="EBFBEE"/>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4" name="Text 12"/>
          <p:cNvSpPr txBox="1"/>
          <p:nvPr/>
        </p:nvSpPr>
        <p:spPr>
          <a:xfrm>
            <a:off x="7589520" y="2075688"/>
            <a:ext cx="3749040" cy="274320"/>
          </a:xfrm>
          <a:prstGeom prst="rect">
            <a:avLst/>
          </a:prstGeom>
          <a:noFill/>
          <a:ln/>
        </p:spPr>
        <p:txBody>
          <a:bodyPr wrap="square" lIns="0" tIns="0" rIns="0" bIns="0" rtlCol="0" anchor="ctr"/>
          <a:lstStyle/>
          <a:p>
            <a:pPr algn="ctr" indent="0" marL="0">
              <a:buNone/>
            </a:pPr>
            <a:r>
              <a:rPr lang="en-US" sz="1000" dirty="0">
                <a:solidFill>
                  <a:srgbClr val="7BA98A"/>
                </a:solidFill>
                <a:latin typeface="Malgun Gothic" pitchFamily="34" charset="0"/>
                <a:ea typeface="Malgun Gothic" pitchFamily="34" charset="-122"/>
                <a:cs typeface="Malgun Gothic" pitchFamily="34" charset="-120"/>
              </a:rPr>
              <a:t>출력</a:t>
            </a:r>
            <a:endParaRPr lang="en-US" sz="1000" dirty="0"/>
          </a:p>
        </p:txBody>
      </p:sp>
      <p:sp>
        <p:nvSpPr>
          <p:cNvPr id="15" name="Text 13"/>
          <p:cNvSpPr txBox="1"/>
          <p:nvPr/>
        </p:nvSpPr>
        <p:spPr>
          <a:xfrm>
            <a:off x="7589520" y="2350008"/>
            <a:ext cx="3749040" cy="457200"/>
          </a:xfrm>
          <a:prstGeom prst="rect">
            <a:avLst/>
          </a:prstGeom>
          <a:noFill/>
          <a:ln/>
        </p:spPr>
        <p:txBody>
          <a:bodyPr wrap="square" lIns="0" tIns="0" rIns="0" bIns="0" rtlCol="0" anchor="ctr"/>
          <a:lstStyle/>
          <a:p>
            <a:pPr algn="ctr" indent="0" marL="0">
              <a:buNone/>
            </a:pPr>
            <a:r>
              <a:rPr lang="en-US" sz="1600" b="1" dirty="0">
                <a:solidFill>
                  <a:srgbClr val="2B8A3E"/>
                </a:solidFill>
                <a:latin typeface="Malgun Gothic" pitchFamily="34" charset="0"/>
                <a:ea typeface="Malgun Gothic" pitchFamily="34" charset="-122"/>
                <a:cs typeface="Malgun Gothic" pitchFamily="34" charset="-120"/>
              </a:rPr>
              <a:t>카테고리 추천</a:t>
            </a:r>
            <a:endParaRPr lang="en-US" sz="1600" dirty="0"/>
          </a:p>
        </p:txBody>
      </p:sp>
      <p:sp>
        <p:nvSpPr>
          <p:cNvPr id="16" name="Shape 14"/>
          <p:cNvSpPr/>
          <p:nvPr/>
        </p:nvSpPr>
        <p:spPr>
          <a:xfrm>
            <a:off x="822960" y="3337560"/>
            <a:ext cx="2194560" cy="1051560"/>
          </a:xfrm>
          <a:prstGeom prst="roundRect">
            <a:avLst>
              <a:gd name="adj" fmla="val 7826"/>
            </a:avLst>
          </a:prstGeom>
          <a:solidFill>
            <a:srgbClr val="FFF4E6"/>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7" name="Text 15"/>
          <p:cNvSpPr txBox="1"/>
          <p:nvPr/>
        </p:nvSpPr>
        <p:spPr>
          <a:xfrm>
            <a:off x="822960" y="3447288"/>
            <a:ext cx="2194560" cy="274320"/>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입력</a:t>
            </a:r>
            <a:endParaRPr lang="en-US" sz="1000" dirty="0"/>
          </a:p>
        </p:txBody>
      </p:sp>
      <p:sp>
        <p:nvSpPr>
          <p:cNvPr id="18" name="Text 16"/>
          <p:cNvSpPr txBox="1"/>
          <p:nvPr/>
        </p:nvSpPr>
        <p:spPr>
          <a:xfrm>
            <a:off x="822960" y="3721608"/>
            <a:ext cx="2194560" cy="457200"/>
          </a:xfrm>
          <a:prstGeom prst="rect">
            <a:avLst/>
          </a:prstGeom>
          <a:noFill/>
          <a:ln/>
        </p:spPr>
        <p:txBody>
          <a:bodyPr wrap="square" lIns="0" tIns="0" rIns="0" bIns="0" rtlCol="0" anchor="ctr"/>
          <a:lstStyle/>
          <a:p>
            <a:pPr algn="ctr" indent="0" marL="0">
              <a:buNone/>
            </a:pPr>
            <a:r>
              <a:rPr lang="en-US" sz="1700" b="1" dirty="0">
                <a:solidFill>
                  <a:srgbClr val="1F2430"/>
                </a:solidFill>
                <a:latin typeface="Malgun Gothic" pitchFamily="34" charset="0"/>
                <a:ea typeface="Malgun Gothic" pitchFamily="34" charset="-122"/>
                <a:cs typeface="Malgun Gothic" pitchFamily="34" charset="-120"/>
              </a:rPr>
              <a:t>사진</a:t>
            </a:r>
            <a:endParaRPr lang="en-US" sz="1700" dirty="0"/>
          </a:p>
        </p:txBody>
      </p:sp>
      <p:sp>
        <p:nvSpPr>
          <p:cNvPr id="19" name="Shape 17"/>
          <p:cNvSpPr/>
          <p:nvPr/>
        </p:nvSpPr>
        <p:spPr>
          <a:xfrm>
            <a:off x="3154680" y="3749040"/>
            <a:ext cx="640080" cy="219456"/>
          </a:xfrm>
          <a:prstGeom prst="rightArrow">
            <a:avLst/>
          </a:prstGeom>
          <a:solidFill>
            <a:srgbClr val="FF922B"/>
          </a:solidFill>
          <a:ln/>
        </p:spPr>
      </p:sp>
      <p:sp>
        <p:nvSpPr>
          <p:cNvPr id="20" name="Shape 18"/>
          <p:cNvSpPr/>
          <p:nvPr/>
        </p:nvSpPr>
        <p:spPr>
          <a:xfrm>
            <a:off x="3931920" y="3337560"/>
            <a:ext cx="2743200" cy="1051560"/>
          </a:xfrm>
          <a:prstGeom prst="roundRect">
            <a:avLst>
              <a:gd name="adj" fmla="val 7826"/>
            </a:avLst>
          </a:prstGeom>
          <a:solidFill>
            <a:srgbClr val="1F2430"/>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1" name="Text 19"/>
          <p:cNvSpPr txBox="1"/>
          <p:nvPr/>
        </p:nvSpPr>
        <p:spPr>
          <a:xfrm>
            <a:off x="3931920" y="3465576"/>
            <a:ext cx="2743200" cy="274320"/>
          </a:xfrm>
          <a:prstGeom prst="rect">
            <a:avLst/>
          </a:prstGeom>
          <a:noFill/>
          <a:ln/>
        </p:spPr>
        <p:txBody>
          <a:bodyPr wrap="square" lIns="0" tIns="0" rIns="0" bIns="0" rtlCol="0" anchor="ctr"/>
          <a:lstStyle/>
          <a:p>
            <a:pPr algn="ctr" indent="0" marL="0">
              <a:buNone/>
            </a:pPr>
            <a:r>
              <a:rPr lang="en-US" sz="1000" dirty="0">
                <a:solidFill>
                  <a:srgbClr val="9AA0A6"/>
                </a:solidFill>
                <a:latin typeface="Malgun Gothic" pitchFamily="34" charset="0"/>
                <a:ea typeface="Malgun Gothic" pitchFamily="34" charset="-122"/>
                <a:cs typeface="Malgun Gothic" pitchFamily="34" charset="-120"/>
              </a:rPr>
              <a:t>AI 엔진</a:t>
            </a:r>
            <a:endParaRPr lang="en-US" sz="1000" dirty="0"/>
          </a:p>
        </p:txBody>
      </p:sp>
      <p:sp>
        <p:nvSpPr>
          <p:cNvPr id="22" name="Text 20"/>
          <p:cNvSpPr txBox="1"/>
          <p:nvPr/>
        </p:nvSpPr>
        <p:spPr>
          <a:xfrm>
            <a:off x="3931920" y="3739896"/>
            <a:ext cx="2743200" cy="457200"/>
          </a:xfrm>
          <a:prstGeom prst="rect">
            <a:avLst/>
          </a:prstGeom>
          <a:noFill/>
          <a:ln/>
        </p:spPr>
        <p:txBody>
          <a:bodyPr wrap="square" lIns="0" tIns="0" rIns="0" bIns="0" rtlCol="0" anchor="ctr"/>
          <a:lstStyle/>
          <a:p>
            <a:pPr algn="ctr" indent="0" marL="0">
              <a:buNone/>
            </a:pPr>
            <a:r>
              <a:rPr lang="en-US" sz="1700" b="1" dirty="0">
                <a:solidFill>
                  <a:srgbClr val="FF922B"/>
                </a:solidFill>
                <a:latin typeface="Malgun Gothic" pitchFamily="34" charset="0"/>
                <a:ea typeface="Malgun Gothic" pitchFamily="34" charset="-122"/>
                <a:cs typeface="Malgun Gothic" pitchFamily="34" charset="-120"/>
              </a:rPr>
              <a:t>gemma3</a:t>
            </a:r>
            <a:endParaRPr lang="en-US" sz="1700" dirty="0"/>
          </a:p>
        </p:txBody>
      </p:sp>
      <p:sp>
        <p:nvSpPr>
          <p:cNvPr id="23" name="Shape 21"/>
          <p:cNvSpPr/>
          <p:nvPr/>
        </p:nvSpPr>
        <p:spPr>
          <a:xfrm>
            <a:off x="6812280" y="3749040"/>
            <a:ext cx="640080" cy="219456"/>
          </a:xfrm>
          <a:prstGeom prst="rightArrow">
            <a:avLst/>
          </a:prstGeom>
          <a:solidFill>
            <a:srgbClr val="2F9E44"/>
          </a:solidFill>
          <a:ln/>
        </p:spPr>
      </p:sp>
      <p:sp>
        <p:nvSpPr>
          <p:cNvPr id="24" name="Shape 22"/>
          <p:cNvSpPr/>
          <p:nvPr/>
        </p:nvSpPr>
        <p:spPr>
          <a:xfrm>
            <a:off x="7589520" y="3337560"/>
            <a:ext cx="3749040" cy="1051560"/>
          </a:xfrm>
          <a:prstGeom prst="roundRect">
            <a:avLst>
              <a:gd name="adj" fmla="val 7826"/>
            </a:avLst>
          </a:prstGeom>
          <a:solidFill>
            <a:srgbClr val="EBFBEE"/>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5" name="Text 23"/>
          <p:cNvSpPr txBox="1"/>
          <p:nvPr/>
        </p:nvSpPr>
        <p:spPr>
          <a:xfrm>
            <a:off x="7589520" y="3447288"/>
            <a:ext cx="3749040" cy="274320"/>
          </a:xfrm>
          <a:prstGeom prst="rect">
            <a:avLst/>
          </a:prstGeom>
          <a:noFill/>
          <a:ln/>
        </p:spPr>
        <p:txBody>
          <a:bodyPr wrap="square" lIns="0" tIns="0" rIns="0" bIns="0" rtlCol="0" anchor="ctr"/>
          <a:lstStyle/>
          <a:p>
            <a:pPr algn="ctr" indent="0" marL="0">
              <a:buNone/>
            </a:pPr>
            <a:r>
              <a:rPr lang="en-US" sz="1000" dirty="0">
                <a:solidFill>
                  <a:srgbClr val="7BA98A"/>
                </a:solidFill>
                <a:latin typeface="Malgun Gothic" pitchFamily="34" charset="0"/>
                <a:ea typeface="Malgun Gothic" pitchFamily="34" charset="-122"/>
                <a:cs typeface="Malgun Gothic" pitchFamily="34" charset="-120"/>
              </a:rPr>
              <a:t>출력</a:t>
            </a:r>
            <a:endParaRPr lang="en-US" sz="1000" dirty="0"/>
          </a:p>
        </p:txBody>
      </p:sp>
      <p:sp>
        <p:nvSpPr>
          <p:cNvPr id="26" name="Text 24"/>
          <p:cNvSpPr txBox="1"/>
          <p:nvPr/>
        </p:nvSpPr>
        <p:spPr>
          <a:xfrm>
            <a:off x="7589520" y="3721608"/>
            <a:ext cx="3749040" cy="457200"/>
          </a:xfrm>
          <a:prstGeom prst="rect">
            <a:avLst/>
          </a:prstGeom>
          <a:noFill/>
          <a:ln/>
        </p:spPr>
        <p:txBody>
          <a:bodyPr wrap="square" lIns="0" tIns="0" rIns="0" bIns="0" rtlCol="0" anchor="ctr"/>
          <a:lstStyle/>
          <a:p>
            <a:pPr algn="ctr" indent="0" marL="0">
              <a:buNone/>
            </a:pPr>
            <a:r>
              <a:rPr lang="en-US" sz="1600" b="1" dirty="0">
                <a:solidFill>
                  <a:srgbClr val="2B8A3E"/>
                </a:solidFill>
                <a:latin typeface="Malgun Gothic" pitchFamily="34" charset="0"/>
                <a:ea typeface="Malgun Gothic" pitchFamily="34" charset="-122"/>
                <a:cs typeface="Malgun Gothic" pitchFamily="34" charset="-120"/>
              </a:rPr>
              <a:t>판매글 초안</a:t>
            </a:r>
            <a:endParaRPr lang="en-US" sz="1600" dirty="0"/>
          </a:p>
        </p:txBody>
      </p:sp>
      <p:sp>
        <p:nvSpPr>
          <p:cNvPr id="27" name="Shape 25"/>
          <p:cNvSpPr/>
          <p:nvPr/>
        </p:nvSpPr>
        <p:spPr>
          <a:xfrm>
            <a:off x="822960" y="4709160"/>
            <a:ext cx="2194560" cy="1051560"/>
          </a:xfrm>
          <a:prstGeom prst="roundRect">
            <a:avLst>
              <a:gd name="adj" fmla="val 7826"/>
            </a:avLst>
          </a:prstGeom>
          <a:solidFill>
            <a:srgbClr val="FFF4E6"/>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8" name="Text 26"/>
          <p:cNvSpPr txBox="1"/>
          <p:nvPr/>
        </p:nvSpPr>
        <p:spPr>
          <a:xfrm>
            <a:off x="822960" y="4818888"/>
            <a:ext cx="2194560" cy="274320"/>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입력</a:t>
            </a:r>
            <a:endParaRPr lang="en-US" sz="1000" dirty="0"/>
          </a:p>
        </p:txBody>
      </p:sp>
      <p:sp>
        <p:nvSpPr>
          <p:cNvPr id="29" name="Text 27"/>
          <p:cNvSpPr txBox="1"/>
          <p:nvPr/>
        </p:nvSpPr>
        <p:spPr>
          <a:xfrm>
            <a:off x="822960" y="5093208"/>
            <a:ext cx="2194560" cy="457200"/>
          </a:xfrm>
          <a:prstGeom prst="rect">
            <a:avLst/>
          </a:prstGeom>
          <a:noFill/>
          <a:ln/>
        </p:spPr>
        <p:txBody>
          <a:bodyPr wrap="square" lIns="0" tIns="0" rIns="0" bIns="0" rtlCol="0" anchor="ctr"/>
          <a:lstStyle/>
          <a:p>
            <a:pPr algn="ctr" indent="0" marL="0">
              <a:buNone/>
            </a:pPr>
            <a:r>
              <a:rPr lang="en-US" sz="1700" b="1" dirty="0">
                <a:solidFill>
                  <a:srgbClr val="1F2430"/>
                </a:solidFill>
                <a:latin typeface="Malgun Gothic" pitchFamily="34" charset="0"/>
                <a:ea typeface="Malgun Gothic" pitchFamily="34" charset="-122"/>
                <a:cs typeface="Malgun Gothic" pitchFamily="34" charset="-120"/>
              </a:rPr>
              <a:t>사진</a:t>
            </a:r>
            <a:endParaRPr lang="en-US" sz="1700" dirty="0"/>
          </a:p>
        </p:txBody>
      </p:sp>
      <p:sp>
        <p:nvSpPr>
          <p:cNvPr id="30" name="Shape 28"/>
          <p:cNvSpPr/>
          <p:nvPr/>
        </p:nvSpPr>
        <p:spPr>
          <a:xfrm>
            <a:off x="3154680" y="5120640"/>
            <a:ext cx="640080" cy="219456"/>
          </a:xfrm>
          <a:prstGeom prst="rightArrow">
            <a:avLst/>
          </a:prstGeom>
          <a:solidFill>
            <a:srgbClr val="FF922B"/>
          </a:solidFill>
          <a:ln/>
        </p:spPr>
      </p:sp>
      <p:sp>
        <p:nvSpPr>
          <p:cNvPr id="31" name="Shape 29"/>
          <p:cNvSpPr/>
          <p:nvPr/>
        </p:nvSpPr>
        <p:spPr>
          <a:xfrm>
            <a:off x="3931920" y="4709160"/>
            <a:ext cx="2743200" cy="1051560"/>
          </a:xfrm>
          <a:prstGeom prst="roundRect">
            <a:avLst>
              <a:gd name="adj" fmla="val 7826"/>
            </a:avLst>
          </a:prstGeom>
          <a:solidFill>
            <a:srgbClr val="1F2430"/>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32" name="Text 30"/>
          <p:cNvSpPr txBox="1"/>
          <p:nvPr/>
        </p:nvSpPr>
        <p:spPr>
          <a:xfrm>
            <a:off x="3931920" y="4837176"/>
            <a:ext cx="2743200" cy="274320"/>
          </a:xfrm>
          <a:prstGeom prst="rect">
            <a:avLst/>
          </a:prstGeom>
          <a:noFill/>
          <a:ln/>
        </p:spPr>
        <p:txBody>
          <a:bodyPr wrap="square" lIns="0" tIns="0" rIns="0" bIns="0" rtlCol="0" anchor="ctr"/>
          <a:lstStyle/>
          <a:p>
            <a:pPr algn="ctr" indent="0" marL="0">
              <a:buNone/>
            </a:pPr>
            <a:r>
              <a:rPr lang="en-US" sz="1000" dirty="0">
                <a:solidFill>
                  <a:srgbClr val="9AA0A6"/>
                </a:solidFill>
                <a:latin typeface="Malgun Gothic" pitchFamily="34" charset="0"/>
                <a:ea typeface="Malgun Gothic" pitchFamily="34" charset="-122"/>
                <a:cs typeface="Malgun Gothic" pitchFamily="34" charset="-120"/>
              </a:rPr>
              <a:t>AI 엔진</a:t>
            </a:r>
            <a:endParaRPr lang="en-US" sz="1000" dirty="0"/>
          </a:p>
        </p:txBody>
      </p:sp>
      <p:sp>
        <p:nvSpPr>
          <p:cNvPr id="33" name="Text 31"/>
          <p:cNvSpPr txBox="1"/>
          <p:nvPr/>
        </p:nvSpPr>
        <p:spPr>
          <a:xfrm>
            <a:off x="3931920" y="5111496"/>
            <a:ext cx="2743200" cy="457200"/>
          </a:xfrm>
          <a:prstGeom prst="rect">
            <a:avLst/>
          </a:prstGeom>
          <a:noFill/>
          <a:ln/>
        </p:spPr>
        <p:txBody>
          <a:bodyPr wrap="square" lIns="0" tIns="0" rIns="0" bIns="0" rtlCol="0" anchor="ctr"/>
          <a:lstStyle/>
          <a:p>
            <a:pPr algn="ctr" indent="0" marL="0">
              <a:buNone/>
            </a:pPr>
            <a:r>
              <a:rPr lang="en-US" sz="1700" b="1" dirty="0">
                <a:solidFill>
                  <a:srgbClr val="FF922B"/>
                </a:solidFill>
                <a:latin typeface="Malgun Gothic" pitchFamily="34" charset="0"/>
                <a:ea typeface="Malgun Gothic" pitchFamily="34" charset="-122"/>
                <a:cs typeface="Malgun Gothic" pitchFamily="34" charset="-120"/>
              </a:rPr>
              <a:t>pHash</a:t>
            </a:r>
            <a:endParaRPr lang="en-US" sz="1700" dirty="0"/>
          </a:p>
        </p:txBody>
      </p:sp>
      <p:sp>
        <p:nvSpPr>
          <p:cNvPr id="34" name="Shape 32"/>
          <p:cNvSpPr/>
          <p:nvPr/>
        </p:nvSpPr>
        <p:spPr>
          <a:xfrm>
            <a:off x="6812280" y="5120640"/>
            <a:ext cx="640080" cy="219456"/>
          </a:xfrm>
          <a:prstGeom prst="rightArrow">
            <a:avLst/>
          </a:prstGeom>
          <a:solidFill>
            <a:srgbClr val="2F9E44"/>
          </a:solidFill>
          <a:ln/>
        </p:spPr>
      </p:sp>
      <p:sp>
        <p:nvSpPr>
          <p:cNvPr id="35" name="Shape 33"/>
          <p:cNvSpPr/>
          <p:nvPr/>
        </p:nvSpPr>
        <p:spPr>
          <a:xfrm>
            <a:off x="7589520" y="4709160"/>
            <a:ext cx="3749040" cy="1051560"/>
          </a:xfrm>
          <a:prstGeom prst="roundRect">
            <a:avLst>
              <a:gd name="adj" fmla="val 7826"/>
            </a:avLst>
          </a:prstGeom>
          <a:solidFill>
            <a:srgbClr val="EBFBEE"/>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36" name="Text 34"/>
          <p:cNvSpPr txBox="1"/>
          <p:nvPr/>
        </p:nvSpPr>
        <p:spPr>
          <a:xfrm>
            <a:off x="7589520" y="4818888"/>
            <a:ext cx="3749040" cy="274320"/>
          </a:xfrm>
          <a:prstGeom prst="rect">
            <a:avLst/>
          </a:prstGeom>
          <a:noFill/>
          <a:ln/>
        </p:spPr>
        <p:txBody>
          <a:bodyPr wrap="square" lIns="0" tIns="0" rIns="0" bIns="0" rtlCol="0" anchor="ctr"/>
          <a:lstStyle/>
          <a:p>
            <a:pPr algn="ctr" indent="0" marL="0">
              <a:buNone/>
            </a:pPr>
            <a:r>
              <a:rPr lang="en-US" sz="1000" dirty="0">
                <a:solidFill>
                  <a:srgbClr val="7BA98A"/>
                </a:solidFill>
                <a:latin typeface="Malgun Gothic" pitchFamily="34" charset="0"/>
                <a:ea typeface="Malgun Gothic" pitchFamily="34" charset="-122"/>
                <a:cs typeface="Malgun Gothic" pitchFamily="34" charset="-120"/>
              </a:rPr>
              <a:t>출력</a:t>
            </a:r>
            <a:endParaRPr lang="en-US" sz="1000" dirty="0"/>
          </a:p>
        </p:txBody>
      </p:sp>
      <p:sp>
        <p:nvSpPr>
          <p:cNvPr id="37" name="Text 35"/>
          <p:cNvSpPr txBox="1"/>
          <p:nvPr/>
        </p:nvSpPr>
        <p:spPr>
          <a:xfrm>
            <a:off x="7589520" y="5093208"/>
            <a:ext cx="3749040" cy="457200"/>
          </a:xfrm>
          <a:prstGeom prst="rect">
            <a:avLst/>
          </a:prstGeom>
          <a:noFill/>
          <a:ln/>
        </p:spPr>
        <p:txBody>
          <a:bodyPr wrap="square" lIns="0" tIns="0" rIns="0" bIns="0" rtlCol="0" anchor="ctr"/>
          <a:lstStyle/>
          <a:p>
            <a:pPr algn="ctr" indent="0" marL="0">
              <a:buNone/>
            </a:pPr>
            <a:r>
              <a:rPr lang="en-US" sz="1600" b="1" dirty="0">
                <a:solidFill>
                  <a:srgbClr val="2B8A3E"/>
                </a:solidFill>
                <a:latin typeface="Malgun Gothic" pitchFamily="34" charset="0"/>
                <a:ea typeface="Malgun Gothic" pitchFamily="34" charset="-122"/>
                <a:cs typeface="Malgun Gothic" pitchFamily="34" charset="-120"/>
              </a:rPr>
              <a:t>도용 여부 판정</a:t>
            </a:r>
            <a:endParaRPr lang="en-US" sz="1600" dirty="0"/>
          </a:p>
        </p:txBody>
      </p:sp>
      <p:sp>
        <p:nvSpPr>
          <p:cNvPr id="38" name="Text 36"/>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2430"/>
        </a:solidFill>
      </p:bgPr>
    </p:bg>
    <p:spTree>
      <p:nvGrpSpPr>
        <p:cNvPr id="1" name=""/>
        <p:cNvGrpSpPr/>
        <p:nvPr/>
      </p:nvGrpSpPr>
      <p:grpSpPr>
        <a:xfrm>
          <a:off x="0" y="0"/>
          <a:ext cx="0" cy="0"/>
          <a:chOff x="0" y="0"/>
          <a:chExt cx="0" cy="0"/>
        </a:xfrm>
      </p:grpSpPr>
      <p:sp>
        <p:nvSpPr>
          <p:cNvPr id="2" name="Shape 0"/>
          <p:cNvSpPr/>
          <p:nvPr/>
        </p:nvSpPr>
        <p:spPr>
          <a:xfrm>
            <a:off x="9692640" y="-1188720"/>
            <a:ext cx="3840480" cy="3840480"/>
          </a:xfrm>
          <a:prstGeom prst="ellipse">
            <a:avLst/>
          </a:prstGeom>
          <a:solidFill>
            <a:srgbClr val="E8590C"/>
          </a:solidFill>
          <a:ln/>
        </p:spPr>
      </p:sp>
      <p:sp>
        <p:nvSpPr>
          <p:cNvPr id="3" name="Shape 1"/>
          <p:cNvSpPr/>
          <p:nvPr/>
        </p:nvSpPr>
        <p:spPr>
          <a:xfrm>
            <a:off x="10972800" y="4572000"/>
            <a:ext cx="2560320" cy="2560320"/>
          </a:xfrm>
          <a:prstGeom prst="ellipse">
            <a:avLst/>
          </a:prstGeom>
          <a:solidFill>
            <a:srgbClr val="2F9E44"/>
          </a:solidFill>
          <a:ln/>
        </p:spPr>
      </p:sp>
      <p:sp>
        <p:nvSpPr>
          <p:cNvPr id="4" name="Text 2"/>
          <p:cNvSpPr txBox="1"/>
          <p:nvPr/>
        </p:nvSpPr>
        <p:spPr>
          <a:xfrm>
            <a:off x="731520" y="2468880"/>
            <a:ext cx="8229600" cy="365760"/>
          </a:xfrm>
          <a:prstGeom prst="rect">
            <a:avLst/>
          </a:prstGeom>
          <a:noFill/>
          <a:ln/>
        </p:spPr>
        <p:txBody>
          <a:bodyPr wrap="square" lIns="0" tIns="0" rIns="0" bIns="0" rtlCol="0" anchor="ctr"/>
          <a:lstStyle/>
          <a:p>
            <a:pPr indent="0" marL="0">
              <a:buNone/>
            </a:pPr>
            <a:r>
              <a:rPr lang="en-US" sz="1500" b="1" spc="200" kern="0" dirty="0">
                <a:solidFill>
                  <a:srgbClr val="FF922B"/>
                </a:solidFill>
                <a:latin typeface="Malgun Gothic" pitchFamily="34" charset="0"/>
                <a:ea typeface="Malgun Gothic" pitchFamily="34" charset="-122"/>
                <a:cs typeface="Malgun Gothic" pitchFamily="34" charset="-120"/>
              </a:rPr>
              <a:t>PART 4</a:t>
            </a:r>
            <a:endParaRPr lang="en-US" sz="1500" dirty="0"/>
          </a:p>
        </p:txBody>
      </p:sp>
      <p:sp>
        <p:nvSpPr>
          <p:cNvPr id="5" name="Text 3"/>
          <p:cNvSpPr txBox="1"/>
          <p:nvPr/>
        </p:nvSpPr>
        <p:spPr>
          <a:xfrm>
            <a:off x="694944" y="2880360"/>
            <a:ext cx="9144000" cy="914400"/>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멀티에이전트</a:t>
            </a:r>
            <a:endParaRPr lang="en-US" sz="4400" dirty="0"/>
          </a:p>
        </p:txBody>
      </p:sp>
      <p:sp>
        <p:nvSpPr>
          <p:cNvPr id="6" name="Shape 4"/>
          <p:cNvSpPr/>
          <p:nvPr/>
        </p:nvSpPr>
        <p:spPr>
          <a:xfrm>
            <a:off x="777240" y="3977640"/>
            <a:ext cx="2011680" cy="0"/>
          </a:xfrm>
          <a:prstGeom prst="line">
            <a:avLst/>
          </a:prstGeom>
          <a:noFill/>
          <a:ln w="31750">
            <a:solidFill>
              <a:srgbClr val="FF922B"/>
            </a:solidFill>
            <a:prstDash val="solid"/>
          </a:ln>
        </p:spPr>
      </p:sp>
      <p:sp>
        <p:nvSpPr>
          <p:cNvPr id="7" name="Text 5"/>
          <p:cNvSpPr txBox="1"/>
          <p:nvPr/>
        </p:nvSpPr>
        <p:spPr>
          <a:xfrm>
            <a:off x="731520" y="4160520"/>
            <a:ext cx="8686800" cy="457200"/>
          </a:xfrm>
          <a:prstGeom prst="rect">
            <a:avLst/>
          </a:prstGeom>
          <a:noFill/>
          <a:ln/>
        </p:spPr>
        <p:txBody>
          <a:bodyPr wrap="square" lIns="0" tIns="0" rIns="0" bIns="0" rtlCol="0" anchor="ctr"/>
          <a:lstStyle/>
          <a:p>
            <a:pPr indent="0" marL="0">
              <a:buNone/>
            </a:pPr>
            <a:r>
              <a:rPr lang="en-US" sz="1500" dirty="0">
                <a:solidFill>
                  <a:srgbClr val="C9CDD6"/>
                </a:solidFill>
                <a:latin typeface="Malgun Gothic" pitchFamily="34" charset="0"/>
                <a:ea typeface="Malgun Gothic" pitchFamily="34" charset="-122"/>
                <a:cs typeface="Malgun Gothic" pitchFamily="34" charset="-120"/>
              </a:rPr>
              <a:t>이 프로젝트의 핵심 — 여러 AI가 나눠 조사하고 서로 견제한다</a:t>
            </a:r>
            <a:endParaRPr lang="en-US" sz="1500" dirty="0"/>
          </a:p>
        </p:txBody>
      </p:sp>
      <p:sp>
        <p:nvSpPr>
          <p:cNvPr id="8" name="Text 6"/>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2430"/>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274320"/>
          </a:xfrm>
          <a:prstGeom prst="rect">
            <a:avLst/>
          </a:prstGeom>
          <a:noFill/>
          <a:ln/>
        </p:spPr>
        <p:txBody>
          <a:bodyPr wrap="square" lIns="0" tIns="0" rIns="0" bIns="0" rtlCol="0" anchor="ctr"/>
          <a:lstStyle/>
          <a:p>
            <a:pPr indent="0" marL="0">
              <a:buNone/>
            </a:pPr>
            <a:r>
              <a:rPr lang="en-US" sz="1250" b="1" spc="200" kern="0" dirty="0">
                <a:solidFill>
                  <a:srgbClr val="FF922B"/>
                </a:solidFill>
                <a:latin typeface="Malgun Gothic" pitchFamily="34" charset="0"/>
                <a:ea typeface="Malgun Gothic" pitchFamily="34" charset="-122"/>
                <a:cs typeface="Malgun Gothic" pitchFamily="34" charset="-120"/>
              </a:rPr>
              <a:t>MULTI-AGENT ①</a:t>
            </a:r>
            <a:endParaRPr lang="en-US" sz="125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멀티에이전트란? 왜 필요한가</a:t>
            </a:r>
            <a:endParaRPr lang="en-US" sz="2800" dirty="0"/>
          </a:p>
        </p:txBody>
      </p:sp>
      <p:sp>
        <p:nvSpPr>
          <p:cNvPr id="4" name="Shape 2"/>
          <p:cNvSpPr/>
          <p:nvPr/>
        </p:nvSpPr>
        <p:spPr>
          <a:xfrm>
            <a:off x="640080" y="1600200"/>
            <a:ext cx="11018520" cy="1371600"/>
          </a:xfrm>
          <a:prstGeom prst="roundRect">
            <a:avLst>
              <a:gd name="adj" fmla="val 6000"/>
            </a:avLst>
          </a:prstGeom>
          <a:solidFill>
            <a:srgbClr val="2A2F3D"/>
          </a:solidFill>
          <a:ln w="12700">
            <a:solidFill>
              <a:srgbClr val="2A2F3D"/>
            </a:solidFill>
            <a:prstDash val="solid"/>
          </a:ln>
          <a:effectLst>
            <a:outerShdw sx="100000" sy="100000" kx="0" ky="0" algn="bl" rotWithShape="0" blurRad="76200" dist="25400" dir="5400000">
              <a:srgbClr val="9AA0A6">
                <a:alpha val="20000"/>
              </a:srgbClr>
            </a:outerShdw>
          </a:effectLst>
        </p:spPr>
      </p:sp>
      <p:sp>
        <p:nvSpPr>
          <p:cNvPr id="5" name="Text 3"/>
          <p:cNvSpPr txBox="1"/>
          <p:nvPr/>
        </p:nvSpPr>
        <p:spPr>
          <a:xfrm>
            <a:off x="868680" y="1783080"/>
            <a:ext cx="10515600" cy="1005840"/>
          </a:xfrm>
          <a:prstGeom prst="rect">
            <a:avLst/>
          </a:prstGeom>
          <a:noFill/>
          <a:ln/>
        </p:spPr>
        <p:txBody>
          <a:bodyPr wrap="square" lIns="0" tIns="0" rIns="0" bIns="0" rtlCol="0" anchor="ctr"/>
          <a:lstStyle/>
          <a:p>
            <a:pPr indent="0" marL="0">
              <a:lnSpc>
                <a:spcPct val="115000"/>
              </a:lnSpc>
              <a:buNone/>
            </a:pPr>
            <a:r>
              <a:rPr lang="en-US" sz="1400" b="1" dirty="0">
                <a:solidFill>
                  <a:srgbClr val="FF922B"/>
                </a:solidFill>
                <a:latin typeface="Malgun Gothic" pitchFamily="34" charset="0"/>
                <a:ea typeface="Malgun Gothic" pitchFamily="34" charset="-122"/>
                <a:cs typeface="Malgun Gothic" pitchFamily="34" charset="-120"/>
              </a:rPr>
              <a:t>에이전트(Agent)</a:t>
            </a:r>
            <a:pPr indent="0" marL="0">
              <a:lnSpc>
                <a:spcPct val="115000"/>
              </a:lnSpc>
              <a:buNone/>
            </a:pPr>
            <a:r>
              <a:rPr lang="en-US" sz="1400" dirty="0">
                <a:solidFill>
                  <a:srgbClr val="D7DBE3"/>
                </a:solidFill>
                <a:latin typeface="Malgun Gothic" pitchFamily="34" charset="0"/>
                <a:ea typeface="Malgun Gothic" pitchFamily="34" charset="-122"/>
                <a:cs typeface="Malgun Gothic" pitchFamily="34" charset="-120"/>
              </a:rPr>
              <a:t> = 목표를 주면 스스로 '무엇을 볼지' 판단하고 도구를 골라 실행하는 AI.  </a:t>
            </a:r>
            <a:pPr indent="0" marL="0">
              <a:lnSpc>
                <a:spcPct val="115000"/>
              </a:lnSpc>
              <a:buNone/>
            </a:pPr>
            <a:r>
              <a:rPr lang="en-US" sz="1400" b="1" dirty="0">
                <a:solidFill>
                  <a:srgbClr val="69DB7C"/>
                </a:solidFill>
                <a:latin typeface="Malgun Gothic" pitchFamily="34" charset="0"/>
                <a:ea typeface="Malgun Gothic" pitchFamily="34" charset="-122"/>
                <a:cs typeface="Malgun Gothic" pitchFamily="34" charset="-120"/>
              </a:rPr>
              <a:t>멀티에이전트</a:t>
            </a:r>
            <a:pPr indent="0" marL="0">
              <a:lnSpc>
                <a:spcPct val="115000"/>
              </a:lnSpc>
              <a:buNone/>
            </a:pPr>
            <a:r>
              <a:rPr lang="en-US" sz="1400" dirty="0">
                <a:solidFill>
                  <a:srgbClr val="D7DBE3"/>
                </a:solidFill>
                <a:latin typeface="Malgun Gothic" pitchFamily="34" charset="0"/>
                <a:ea typeface="Malgun Gothic" pitchFamily="34" charset="-122"/>
                <a:cs typeface="Malgun Gothic" pitchFamily="34" charset="-120"/>
              </a:rPr>
              <a:t> = 여럿이 역할을 나눠 협업·견제하는 구조.</a:t>
            </a:r>
            <a:endParaRPr lang="en-US" sz="1400" dirty="0"/>
          </a:p>
        </p:txBody>
      </p:sp>
      <p:sp>
        <p:nvSpPr>
          <p:cNvPr id="6" name="Text 4"/>
          <p:cNvSpPr txBox="1"/>
          <p:nvPr/>
        </p:nvSpPr>
        <p:spPr>
          <a:xfrm>
            <a:off x="640080" y="3200400"/>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Malgun Gothic" pitchFamily="34" charset="0"/>
                <a:ea typeface="Malgun Gothic" pitchFamily="34" charset="-122"/>
                <a:cs typeface="Malgun Gothic" pitchFamily="34" charset="-120"/>
              </a:rPr>
              <a:t>왜 필요한가 — 사기 방지</a:t>
            </a:r>
            <a:endParaRPr lang="en-US" sz="1600" dirty="0"/>
          </a:p>
        </p:txBody>
      </p:sp>
      <p:sp>
        <p:nvSpPr>
          <p:cNvPr id="7" name="Shape 5"/>
          <p:cNvSpPr/>
          <p:nvPr/>
        </p:nvSpPr>
        <p:spPr>
          <a:xfrm>
            <a:off x="640080" y="3657600"/>
            <a:ext cx="3429000" cy="1965960"/>
          </a:xfrm>
          <a:prstGeom prst="roundRect">
            <a:avLst>
              <a:gd name="adj" fmla="val 4186"/>
            </a:avLst>
          </a:prstGeom>
          <a:solidFill>
            <a:srgbClr val="2A2F3D"/>
          </a:solidFill>
          <a:ln w="12700">
            <a:solidFill>
              <a:srgbClr val="2A2F3D"/>
            </a:solidFill>
            <a:prstDash val="solid"/>
          </a:ln>
          <a:effectLst>
            <a:outerShdw sx="100000" sy="100000" kx="0" ky="0" algn="bl" rotWithShape="0" blurRad="76200" dist="25400" dir="5400000">
              <a:srgbClr val="9AA0A6">
                <a:alpha val="20000"/>
              </a:srgbClr>
            </a:outerShdw>
          </a:effectLst>
        </p:spPr>
      </p:sp>
      <p:sp>
        <p:nvSpPr>
          <p:cNvPr id="8" name="Shape 6"/>
          <p:cNvSpPr/>
          <p:nvPr/>
        </p:nvSpPr>
        <p:spPr>
          <a:xfrm>
            <a:off x="868680" y="3886200"/>
            <a:ext cx="457200" cy="457200"/>
          </a:xfrm>
          <a:prstGeom prst="ellipse">
            <a:avLst/>
          </a:prstGeom>
          <a:solidFill>
            <a:srgbClr val="FF6B6B"/>
          </a:solidFill>
          <a:ln/>
        </p:spPr>
      </p:sp>
      <p:sp>
        <p:nvSpPr>
          <p:cNvPr id="9" name="Text 7"/>
          <p:cNvSpPr txBox="1"/>
          <p:nvPr/>
        </p:nvSpPr>
        <p:spPr>
          <a:xfrm>
            <a:off x="1463040" y="3913632"/>
            <a:ext cx="2468880" cy="411480"/>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신고 폭주</a:t>
            </a:r>
            <a:endParaRPr lang="en-US" sz="1500" dirty="0"/>
          </a:p>
        </p:txBody>
      </p:sp>
      <p:sp>
        <p:nvSpPr>
          <p:cNvPr id="10" name="Text 8"/>
          <p:cNvSpPr txBox="1"/>
          <p:nvPr/>
        </p:nvSpPr>
        <p:spPr>
          <a:xfrm>
            <a:off x="896112" y="4526280"/>
            <a:ext cx="2971800" cy="1005840"/>
          </a:xfrm>
          <a:prstGeom prst="rect">
            <a:avLst/>
          </a:prstGeom>
          <a:noFill/>
          <a:ln/>
        </p:spPr>
        <p:txBody>
          <a:bodyPr wrap="square" lIns="0" tIns="0" rIns="0" bIns="0" rtlCol="0" anchor="t"/>
          <a:lstStyle/>
          <a:p>
            <a:pPr indent="0" marL="0">
              <a:lnSpc>
                <a:spcPct val="110000"/>
              </a:lnSpc>
              <a:buNone/>
            </a:pPr>
            <a:r>
              <a:rPr lang="en-US" sz="1200" dirty="0">
                <a:solidFill>
                  <a:srgbClr val="C9CDD6"/>
                </a:solidFill>
                <a:latin typeface="Malgun Gothic" pitchFamily="34" charset="0"/>
                <a:ea typeface="Malgun Gothic" pitchFamily="34" charset="-122"/>
                <a:cs typeface="Malgun Gothic" pitchFamily="34" charset="-120"/>
              </a:rPr>
              <a:t>사람이 한 건씩 뒤지기엔 너무 느림</a:t>
            </a:r>
            <a:endParaRPr lang="en-US" sz="1200" dirty="0"/>
          </a:p>
        </p:txBody>
      </p:sp>
      <p:sp>
        <p:nvSpPr>
          <p:cNvPr id="11" name="Shape 9"/>
          <p:cNvSpPr/>
          <p:nvPr/>
        </p:nvSpPr>
        <p:spPr>
          <a:xfrm>
            <a:off x="4343400" y="3657600"/>
            <a:ext cx="3429000" cy="1965960"/>
          </a:xfrm>
          <a:prstGeom prst="roundRect">
            <a:avLst>
              <a:gd name="adj" fmla="val 4186"/>
            </a:avLst>
          </a:prstGeom>
          <a:solidFill>
            <a:srgbClr val="2A2F3D"/>
          </a:solidFill>
          <a:ln w="12700">
            <a:solidFill>
              <a:srgbClr val="2A2F3D"/>
            </a:solidFill>
            <a:prstDash val="solid"/>
          </a:ln>
          <a:effectLst>
            <a:outerShdw sx="100000" sy="100000" kx="0" ky="0" algn="bl" rotWithShape="0" blurRad="76200" dist="25400" dir="5400000">
              <a:srgbClr val="9AA0A6">
                <a:alpha val="20000"/>
              </a:srgbClr>
            </a:outerShdw>
          </a:effectLst>
        </p:spPr>
      </p:sp>
      <p:sp>
        <p:nvSpPr>
          <p:cNvPr id="12" name="Shape 10"/>
          <p:cNvSpPr/>
          <p:nvPr/>
        </p:nvSpPr>
        <p:spPr>
          <a:xfrm>
            <a:off x="4572000" y="3886200"/>
            <a:ext cx="457200" cy="457200"/>
          </a:xfrm>
          <a:prstGeom prst="ellipse">
            <a:avLst/>
          </a:prstGeom>
          <a:solidFill>
            <a:srgbClr val="FFD43B"/>
          </a:solidFill>
          <a:ln/>
        </p:spPr>
      </p:sp>
      <p:sp>
        <p:nvSpPr>
          <p:cNvPr id="13" name="Text 11"/>
          <p:cNvSpPr txBox="1"/>
          <p:nvPr/>
        </p:nvSpPr>
        <p:spPr>
          <a:xfrm>
            <a:off x="5166360" y="3913632"/>
            <a:ext cx="2468880" cy="411480"/>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편향 위험</a:t>
            </a:r>
            <a:endParaRPr lang="en-US" sz="1500" dirty="0"/>
          </a:p>
        </p:txBody>
      </p:sp>
      <p:sp>
        <p:nvSpPr>
          <p:cNvPr id="14" name="Text 12"/>
          <p:cNvSpPr txBox="1"/>
          <p:nvPr/>
        </p:nvSpPr>
        <p:spPr>
          <a:xfrm>
            <a:off x="4599432" y="4526280"/>
            <a:ext cx="2971800" cy="1005840"/>
          </a:xfrm>
          <a:prstGeom prst="rect">
            <a:avLst/>
          </a:prstGeom>
          <a:noFill/>
          <a:ln/>
        </p:spPr>
        <p:txBody>
          <a:bodyPr wrap="square" lIns="0" tIns="0" rIns="0" bIns="0" rtlCol="0" anchor="t"/>
          <a:lstStyle/>
          <a:p>
            <a:pPr indent="0" marL="0">
              <a:lnSpc>
                <a:spcPct val="110000"/>
              </a:lnSpc>
              <a:buNone/>
            </a:pPr>
            <a:r>
              <a:rPr lang="en-US" sz="1200" dirty="0">
                <a:solidFill>
                  <a:srgbClr val="C9CDD6"/>
                </a:solidFill>
                <a:latin typeface="Malgun Gothic" pitchFamily="34" charset="0"/>
                <a:ea typeface="Malgun Gothic" pitchFamily="34" charset="-122"/>
                <a:cs typeface="Malgun Gothic" pitchFamily="34" charset="-120"/>
              </a:rPr>
              <a:t>한 명이 보면 처음 신호에 끌려가 초보를 사기꾼 취급</a:t>
            </a:r>
            <a:endParaRPr lang="en-US" sz="1200" dirty="0"/>
          </a:p>
        </p:txBody>
      </p:sp>
      <p:sp>
        <p:nvSpPr>
          <p:cNvPr id="15" name="Shape 13"/>
          <p:cNvSpPr/>
          <p:nvPr/>
        </p:nvSpPr>
        <p:spPr>
          <a:xfrm>
            <a:off x="8046720" y="3657600"/>
            <a:ext cx="3429000" cy="1965960"/>
          </a:xfrm>
          <a:prstGeom prst="roundRect">
            <a:avLst>
              <a:gd name="adj" fmla="val 4186"/>
            </a:avLst>
          </a:prstGeom>
          <a:solidFill>
            <a:srgbClr val="2A2F3D"/>
          </a:solidFill>
          <a:ln w="12700">
            <a:solidFill>
              <a:srgbClr val="2A2F3D"/>
            </a:solidFill>
            <a:prstDash val="solid"/>
          </a:ln>
          <a:effectLst>
            <a:outerShdw sx="100000" sy="100000" kx="0" ky="0" algn="bl" rotWithShape="0" blurRad="76200" dist="25400" dir="5400000">
              <a:srgbClr val="9AA0A6">
                <a:alpha val="20000"/>
              </a:srgbClr>
            </a:outerShdw>
          </a:effectLst>
        </p:spPr>
      </p:sp>
      <p:sp>
        <p:nvSpPr>
          <p:cNvPr id="16" name="Shape 14"/>
          <p:cNvSpPr/>
          <p:nvPr/>
        </p:nvSpPr>
        <p:spPr>
          <a:xfrm>
            <a:off x="8275320" y="3886200"/>
            <a:ext cx="457200" cy="457200"/>
          </a:xfrm>
          <a:prstGeom prst="ellipse">
            <a:avLst/>
          </a:prstGeom>
          <a:solidFill>
            <a:srgbClr val="4DABF7"/>
          </a:solidFill>
          <a:ln/>
        </p:spPr>
      </p:sp>
      <p:sp>
        <p:nvSpPr>
          <p:cNvPr id="17" name="Text 15"/>
          <p:cNvSpPr txBox="1"/>
          <p:nvPr/>
        </p:nvSpPr>
        <p:spPr>
          <a:xfrm>
            <a:off x="8869680" y="3913632"/>
            <a:ext cx="2468880" cy="411480"/>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일관성</a:t>
            </a:r>
            <a:endParaRPr lang="en-US" sz="1500" dirty="0"/>
          </a:p>
        </p:txBody>
      </p:sp>
      <p:sp>
        <p:nvSpPr>
          <p:cNvPr id="18" name="Text 16"/>
          <p:cNvSpPr txBox="1"/>
          <p:nvPr/>
        </p:nvSpPr>
        <p:spPr>
          <a:xfrm>
            <a:off x="8302752" y="4526280"/>
            <a:ext cx="2971800" cy="1005840"/>
          </a:xfrm>
          <a:prstGeom prst="rect">
            <a:avLst/>
          </a:prstGeom>
          <a:noFill/>
          <a:ln/>
        </p:spPr>
        <p:txBody>
          <a:bodyPr wrap="square" lIns="0" tIns="0" rIns="0" bIns="0" rtlCol="0" anchor="t"/>
          <a:lstStyle/>
          <a:p>
            <a:pPr indent="0" marL="0">
              <a:lnSpc>
                <a:spcPct val="110000"/>
              </a:lnSpc>
              <a:buNone/>
            </a:pPr>
            <a:r>
              <a:rPr lang="en-US" sz="1200" dirty="0">
                <a:solidFill>
                  <a:srgbClr val="C9CDD6"/>
                </a:solidFill>
                <a:latin typeface="Malgun Gothic" pitchFamily="34" charset="0"/>
                <a:ea typeface="Malgun Gothic" pitchFamily="34" charset="-122"/>
                <a:cs typeface="Malgun Gothic" pitchFamily="34" charset="-120"/>
              </a:rPr>
              <a:t>사람마다 기준이 달라 같은 건도 다르게 판단</a:t>
            </a:r>
            <a:endParaRPr lang="en-US" sz="1200" dirty="0"/>
          </a:p>
        </p:txBody>
      </p:sp>
      <p:sp>
        <p:nvSpPr>
          <p:cNvPr id="19" name="Text 17"/>
          <p:cNvSpPr txBox="1"/>
          <p:nvPr/>
        </p:nvSpPr>
        <p:spPr>
          <a:xfrm>
            <a:off x="640080" y="5806440"/>
            <a:ext cx="10972800" cy="320040"/>
          </a:xfrm>
          <a:prstGeom prst="rect">
            <a:avLst/>
          </a:prstGeom>
          <a:noFill/>
          <a:ln/>
        </p:spPr>
        <p:txBody>
          <a:bodyPr wrap="square" lIns="0" tIns="0" rIns="0" bIns="0" rtlCol="0" anchor="ctr"/>
          <a:lstStyle/>
          <a:p>
            <a:pPr indent="0" marL="0">
              <a:buNone/>
            </a:pPr>
            <a:r>
              <a:rPr lang="en-US" sz="1300" i="1" dirty="0">
                <a:solidFill>
                  <a:srgbClr val="FF922B"/>
                </a:solidFill>
                <a:latin typeface="Malgun Gothic" pitchFamily="34" charset="0"/>
                <a:ea typeface="Malgun Gothic" pitchFamily="34" charset="-122"/>
                <a:cs typeface="Malgun Gothic" pitchFamily="34" charset="-120"/>
              </a:rPr>
              <a:t>→ 그래서 에이전트를 여럿 두고 '나눠서 조사'하고 '서로 견제'하게 했다</a:t>
            </a:r>
            <a:endParaRPr lang="en-US" sz="1300" dirty="0"/>
          </a:p>
        </p:txBody>
      </p:sp>
      <p:sp>
        <p:nvSpPr>
          <p:cNvPr id="20" name="Text 18"/>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MULTI-AGENT ②</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에이전트 지시서는 어떤 파일로?</a:t>
            </a:r>
            <a:endParaRPr lang="en-US" sz="2800" dirty="0"/>
          </a:p>
        </p:txBody>
      </p:sp>
      <p:sp>
        <p:nvSpPr>
          <p:cNvPr id="4" name="Text 2"/>
          <p:cNvSpPr txBox="1"/>
          <p:nvPr/>
        </p:nvSpPr>
        <p:spPr>
          <a:xfrm>
            <a:off x="548640" y="1371600"/>
            <a:ext cx="11064240" cy="365760"/>
          </a:xfrm>
          <a:prstGeom prst="rect">
            <a:avLst/>
          </a:prstGeom>
          <a:noFill/>
          <a:ln/>
        </p:spPr>
        <p:txBody>
          <a:bodyPr wrap="square" lIns="0" tIns="0" rIns="0" bIns="0" rtlCol="0" anchor="ctr"/>
          <a:lstStyle/>
          <a:p>
            <a:pPr indent="0" marL="0">
              <a:buNone/>
            </a:pPr>
            <a:r>
              <a:rPr lang="en-US" sz="1300" dirty="0">
                <a:solidFill>
                  <a:srgbClr val="6B7280"/>
                </a:solidFill>
                <a:latin typeface="Malgun Gothic" pitchFamily="34" charset="0"/>
                <a:ea typeface="Malgun Gothic" pitchFamily="34" charset="-122"/>
                <a:cs typeface="Malgun Gothic" pitchFamily="34" charset="-120"/>
              </a:rPr>
              <a:t>먼저 형식별 개념 — 그리고 이 프로젝트가 실제로 어떻게 했는지.</a:t>
            </a:r>
            <a:endParaRPr lang="en-US" sz="1300" dirty="0"/>
          </a:p>
        </p:txBody>
      </p:sp>
      <p:sp>
        <p:nvSpPr>
          <p:cNvPr id="5" name="Shape 3"/>
          <p:cNvSpPr/>
          <p:nvPr/>
        </p:nvSpPr>
        <p:spPr>
          <a:xfrm>
            <a:off x="640080" y="1874520"/>
            <a:ext cx="3520440" cy="1463040"/>
          </a:xfrm>
          <a:prstGeom prst="roundRect">
            <a:avLst>
              <a:gd name="adj" fmla="val 5625"/>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6" name="Shape 4"/>
          <p:cNvSpPr/>
          <p:nvPr/>
        </p:nvSpPr>
        <p:spPr>
          <a:xfrm>
            <a:off x="640080" y="1874520"/>
            <a:ext cx="3520440" cy="502920"/>
          </a:xfrm>
          <a:prstGeom prst="roundRect">
            <a:avLst>
              <a:gd name="adj" fmla="val 16364"/>
            </a:avLst>
          </a:prstGeom>
          <a:solidFill>
            <a:srgbClr val="E8590C"/>
          </a:solidFill>
          <a:ln/>
        </p:spPr>
      </p:sp>
      <p:sp>
        <p:nvSpPr>
          <p:cNvPr id="7" name="Text 5"/>
          <p:cNvSpPr txBox="1"/>
          <p:nvPr/>
        </p:nvSpPr>
        <p:spPr>
          <a:xfrm>
            <a:off x="640080" y="1874520"/>
            <a:ext cx="3520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.md  (마크다운)</a:t>
            </a:r>
            <a:endParaRPr lang="en-US" sz="1400" dirty="0"/>
          </a:p>
        </p:txBody>
      </p:sp>
      <p:sp>
        <p:nvSpPr>
          <p:cNvPr id="8" name="Text 6"/>
          <p:cNvSpPr txBox="1"/>
          <p:nvPr/>
        </p:nvSpPr>
        <p:spPr>
          <a:xfrm>
            <a:off x="822960" y="2468880"/>
            <a:ext cx="3154680" cy="777240"/>
          </a:xfrm>
          <a:prstGeom prst="rect">
            <a:avLst/>
          </a:prstGeom>
          <a:noFill/>
          <a:ln/>
        </p:spPr>
        <p:txBody>
          <a:bodyPr wrap="square" lIns="0" tIns="0" rIns="0" bIns="0" rtlCol="0" anchor="ctr"/>
          <a:lstStyle/>
          <a:p>
            <a:pPr algn="ctr" indent="0" marL="0">
              <a:buNone/>
            </a:pPr>
            <a:r>
              <a:rPr lang="en-US" sz="1150" dirty="0">
                <a:solidFill>
                  <a:srgbClr val="3A3F4B"/>
                </a:solidFill>
                <a:latin typeface="Malgun Gothic" pitchFamily="34" charset="0"/>
                <a:ea typeface="Malgun Gothic" pitchFamily="34" charset="-122"/>
                <a:cs typeface="Malgun Gothic" pitchFamily="34" charset="-120"/>
              </a:rPr>
              <a:t>글·문서를 서식과 함께 쓰는 형식</a:t>
            </a:r>
            <a:endParaRPr lang="en-US" sz="1150" dirty="0"/>
          </a:p>
        </p:txBody>
      </p:sp>
      <p:sp>
        <p:nvSpPr>
          <p:cNvPr id="9" name="Shape 7"/>
          <p:cNvSpPr/>
          <p:nvPr/>
        </p:nvSpPr>
        <p:spPr>
          <a:xfrm>
            <a:off x="4407408" y="1874520"/>
            <a:ext cx="3520440" cy="1463040"/>
          </a:xfrm>
          <a:prstGeom prst="roundRect">
            <a:avLst>
              <a:gd name="adj" fmla="val 5625"/>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0" name="Shape 8"/>
          <p:cNvSpPr/>
          <p:nvPr/>
        </p:nvSpPr>
        <p:spPr>
          <a:xfrm>
            <a:off x="4407408" y="1874520"/>
            <a:ext cx="3520440" cy="502920"/>
          </a:xfrm>
          <a:prstGeom prst="roundRect">
            <a:avLst>
              <a:gd name="adj" fmla="val 16364"/>
            </a:avLst>
          </a:prstGeom>
          <a:solidFill>
            <a:srgbClr val="1C7293"/>
          </a:solidFill>
          <a:ln/>
        </p:spPr>
      </p:sp>
      <p:sp>
        <p:nvSpPr>
          <p:cNvPr id="11" name="Text 9"/>
          <p:cNvSpPr txBox="1"/>
          <p:nvPr/>
        </p:nvSpPr>
        <p:spPr>
          <a:xfrm>
            <a:off x="4407408" y="1874520"/>
            <a:ext cx="3520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.yaml  (야믈)</a:t>
            </a:r>
            <a:endParaRPr lang="en-US" sz="1400" dirty="0"/>
          </a:p>
        </p:txBody>
      </p:sp>
      <p:sp>
        <p:nvSpPr>
          <p:cNvPr id="12" name="Text 10"/>
          <p:cNvSpPr txBox="1"/>
          <p:nvPr/>
        </p:nvSpPr>
        <p:spPr>
          <a:xfrm>
            <a:off x="4590288" y="2468880"/>
            <a:ext cx="3154680" cy="777240"/>
          </a:xfrm>
          <a:prstGeom prst="rect">
            <a:avLst/>
          </a:prstGeom>
          <a:noFill/>
          <a:ln/>
        </p:spPr>
        <p:txBody>
          <a:bodyPr wrap="square" lIns="0" tIns="0" rIns="0" bIns="0" rtlCol="0" anchor="ctr"/>
          <a:lstStyle/>
          <a:p>
            <a:pPr algn="ctr" indent="0" marL="0">
              <a:buNone/>
            </a:pPr>
            <a:r>
              <a:rPr lang="en-US" sz="1150" dirty="0">
                <a:solidFill>
                  <a:srgbClr val="3A3F4B"/>
                </a:solidFill>
                <a:latin typeface="Malgun Gothic" pitchFamily="34" charset="0"/>
                <a:ea typeface="Malgun Gothic" pitchFamily="34" charset="-122"/>
                <a:cs typeface="Malgun Gothic" pitchFamily="34" charset="-120"/>
              </a:rPr>
              <a:t>설정·구조화된 데이터를 계층으로</a:t>
            </a:r>
            <a:endParaRPr lang="en-US" sz="1150" dirty="0"/>
          </a:p>
        </p:txBody>
      </p:sp>
      <p:sp>
        <p:nvSpPr>
          <p:cNvPr id="13" name="Shape 11"/>
          <p:cNvSpPr/>
          <p:nvPr/>
        </p:nvSpPr>
        <p:spPr>
          <a:xfrm>
            <a:off x="8174736" y="1874520"/>
            <a:ext cx="3520440" cy="1463040"/>
          </a:xfrm>
          <a:prstGeom prst="roundRect">
            <a:avLst>
              <a:gd name="adj" fmla="val 5625"/>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4" name="Shape 12"/>
          <p:cNvSpPr/>
          <p:nvPr/>
        </p:nvSpPr>
        <p:spPr>
          <a:xfrm>
            <a:off x="8174736" y="1874520"/>
            <a:ext cx="3520440" cy="502920"/>
          </a:xfrm>
          <a:prstGeom prst="roundRect">
            <a:avLst>
              <a:gd name="adj" fmla="val 16364"/>
            </a:avLst>
          </a:prstGeom>
          <a:solidFill>
            <a:srgbClr val="6B4FBB"/>
          </a:solidFill>
          <a:ln/>
        </p:spPr>
      </p:sp>
      <p:sp>
        <p:nvSpPr>
          <p:cNvPr id="15" name="Text 13"/>
          <p:cNvSpPr txBox="1"/>
          <p:nvPr/>
        </p:nvSpPr>
        <p:spPr>
          <a:xfrm>
            <a:off x="8174736" y="1874520"/>
            <a:ext cx="3520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.ini  (아이엔아이)</a:t>
            </a:r>
            <a:endParaRPr lang="en-US" sz="1400" dirty="0"/>
          </a:p>
        </p:txBody>
      </p:sp>
      <p:sp>
        <p:nvSpPr>
          <p:cNvPr id="16" name="Text 14"/>
          <p:cNvSpPr txBox="1"/>
          <p:nvPr/>
        </p:nvSpPr>
        <p:spPr>
          <a:xfrm>
            <a:off x="8357616" y="2468880"/>
            <a:ext cx="3154680" cy="777240"/>
          </a:xfrm>
          <a:prstGeom prst="rect">
            <a:avLst/>
          </a:prstGeom>
          <a:noFill/>
          <a:ln/>
        </p:spPr>
        <p:txBody>
          <a:bodyPr wrap="square" lIns="0" tIns="0" rIns="0" bIns="0" rtlCol="0" anchor="ctr"/>
          <a:lstStyle/>
          <a:p>
            <a:pPr algn="ctr" indent="0" marL="0">
              <a:buNone/>
            </a:pPr>
            <a:r>
              <a:rPr lang="en-US" sz="1150" dirty="0">
                <a:solidFill>
                  <a:srgbClr val="3A3F4B"/>
                </a:solidFill>
                <a:latin typeface="Malgun Gothic" pitchFamily="34" charset="0"/>
                <a:ea typeface="Malgun Gothic" pitchFamily="34" charset="-122"/>
                <a:cs typeface="Malgun Gothic" pitchFamily="34" charset="-120"/>
              </a:rPr>
              <a:t>간단한 키=값 설정</a:t>
            </a:r>
            <a:endParaRPr lang="en-US" sz="1150" dirty="0"/>
          </a:p>
        </p:txBody>
      </p:sp>
      <p:sp>
        <p:nvSpPr>
          <p:cNvPr id="17" name="Shape 15"/>
          <p:cNvSpPr/>
          <p:nvPr/>
        </p:nvSpPr>
        <p:spPr>
          <a:xfrm>
            <a:off x="640080" y="3611880"/>
            <a:ext cx="11018520" cy="2331720"/>
          </a:xfrm>
          <a:prstGeom prst="roundRect">
            <a:avLst>
              <a:gd name="adj" fmla="val 3529"/>
            </a:avLst>
          </a:prstGeom>
          <a:solidFill>
            <a:srgbClr val="EBFBEE"/>
          </a:solidFill>
          <a:ln w="12700">
            <a:solidFill>
              <a:srgbClr val="B2F2BB"/>
            </a:solidFill>
            <a:prstDash val="solid"/>
          </a:ln>
          <a:effectLst>
            <a:outerShdw sx="100000" sy="100000" kx="0" ky="0" algn="bl" rotWithShape="0" blurRad="76200" dist="25400" dir="5400000">
              <a:srgbClr val="9AA0A6">
                <a:alpha val="20000"/>
              </a:srgbClr>
            </a:outerShdw>
          </a:effectLst>
        </p:spPr>
      </p:sp>
      <p:sp>
        <p:nvSpPr>
          <p:cNvPr id="18" name="Text 16"/>
          <p:cNvSpPr txBox="1"/>
          <p:nvPr/>
        </p:nvSpPr>
        <p:spPr>
          <a:xfrm>
            <a:off x="868680" y="3749040"/>
            <a:ext cx="10515600" cy="365760"/>
          </a:xfrm>
          <a:prstGeom prst="rect">
            <a:avLst/>
          </a:prstGeom>
          <a:noFill/>
          <a:ln/>
        </p:spPr>
        <p:txBody>
          <a:bodyPr wrap="square" lIns="0" tIns="0" rIns="0" bIns="0" rtlCol="0" anchor="ctr"/>
          <a:lstStyle/>
          <a:p>
            <a:pPr indent="0" marL="0">
              <a:buNone/>
            </a:pPr>
            <a:r>
              <a:rPr lang="en-US" sz="1400" b="1" dirty="0">
                <a:solidFill>
                  <a:srgbClr val="2B8A3E"/>
                </a:solidFill>
                <a:latin typeface="Malgun Gothic" pitchFamily="34" charset="0"/>
                <a:ea typeface="Malgun Gothic" pitchFamily="34" charset="-122"/>
                <a:cs typeface="Malgun Gothic" pitchFamily="34" charset="-120"/>
              </a:rPr>
              <a:t>이 프로젝트는 실제로 — .md 하나로 통일했다</a:t>
            </a:r>
            <a:endParaRPr lang="en-US" sz="1400" dirty="0"/>
          </a:p>
        </p:txBody>
      </p:sp>
      <p:sp>
        <p:nvSpPr>
          <p:cNvPr id="19" name="Text 17"/>
          <p:cNvSpPr txBox="1"/>
          <p:nvPr/>
        </p:nvSpPr>
        <p:spPr>
          <a:xfrm>
            <a:off x="868680" y="4160520"/>
            <a:ext cx="10515600" cy="1737360"/>
          </a:xfrm>
          <a:prstGeom prst="rect">
            <a:avLst/>
          </a:prstGeom>
          <a:noFill/>
          <a:ln/>
        </p:spPr>
        <p:txBody>
          <a:bodyPr wrap="square" lIns="0" tIns="0" rIns="0" bIns="0" rtlCol="0" anchor="t"/>
          <a:lstStyle/>
          <a:p>
            <a:pPr indent="0" marL="0">
              <a:lnSpc>
                <a:spcPct val="125000"/>
              </a:lnSpc>
              <a:buNone/>
            </a:pPr>
            <a:r>
              <a:rPr lang="en-US" sz="1250" dirty="0">
                <a:solidFill>
                  <a:srgbClr val="37503F"/>
                </a:solidFill>
                <a:latin typeface="Malgun Gothic" pitchFamily="34" charset="0"/>
                <a:ea typeface="Malgun Gothic" pitchFamily="34" charset="-122"/>
                <a:cs typeface="Malgun Gothic" pitchFamily="34" charset="-120"/>
              </a:rPr>
              <a:t>· 역할도, 무슨 일을 하는지도 전부 </a:t>
            </a:r>
            <a:pPr indent="0" marL="0">
              <a:lnSpc>
                <a:spcPct val="125000"/>
              </a:lnSpc>
              <a:buNone/>
            </a:pPr>
            <a:r>
              <a:rPr lang="en-US" sz="1250" b="1" dirty="0">
                <a:solidFill>
                  <a:srgbClr val="2B8A3E"/>
                </a:solidFill>
                <a:latin typeface="Malgun Gothic" pitchFamily="34" charset="0"/>
                <a:ea typeface="Malgun Gothic" pitchFamily="34" charset="-122"/>
                <a:cs typeface="Malgun Gothic" pitchFamily="34" charset="-120"/>
              </a:rPr>
              <a:t>.md 한 파일</a:t>
            </a:r>
            <a:pPr indent="0" marL="0">
              <a:lnSpc>
                <a:spcPct val="125000"/>
              </a:lnSpc>
              <a:buNone/>
            </a:pPr>
            <a:r>
              <a:rPr lang="en-US" sz="1250" dirty="0">
                <a:solidFill>
                  <a:srgbClr val="37503F"/>
                </a:solidFill>
                <a:latin typeface="Malgun Gothic" pitchFamily="34" charset="0"/>
                <a:ea typeface="Malgun Gothic" pitchFamily="34" charset="-122"/>
                <a:cs typeface="Malgun Gothic" pitchFamily="34" charset="-120"/>
              </a:rPr>
              <a:t>에 적었다 (예: prosecutor.md = 검사).
</a:t>
            </a:r>
            <a:pPr indent="0" marL="0">
              <a:lnSpc>
                <a:spcPct val="125000"/>
              </a:lnSpc>
              <a:buNone/>
            </a:pPr>
            <a:r>
              <a:rPr lang="en-US" sz="1250" dirty="0">
                <a:solidFill>
                  <a:srgbClr val="37503F"/>
                </a:solidFill>
                <a:latin typeface="Malgun Gothic" pitchFamily="34" charset="0"/>
                <a:ea typeface="Malgun Gothic" pitchFamily="34" charset="-122"/>
                <a:cs typeface="Malgun Gothic" pitchFamily="34" charset="-120"/>
              </a:rPr>
              <a:t>· </a:t>
            </a:r>
            <a:pPr indent="0" marL="0">
              <a:lnSpc>
                <a:spcPct val="125000"/>
              </a:lnSpc>
              <a:buNone/>
            </a:pPr>
            <a:r>
              <a:rPr lang="en-US" sz="1250" b="1" dirty="0">
                <a:solidFill>
                  <a:srgbClr val="2B8A3E"/>
                </a:solidFill>
                <a:latin typeface="Malgun Gothic" pitchFamily="34" charset="0"/>
                <a:ea typeface="Malgun Gothic" pitchFamily="34" charset="-122"/>
                <a:cs typeface="Malgun Gothic" pitchFamily="34" charset="-120"/>
              </a:rPr>
              <a:t>공통 규칙</a:t>
            </a:r>
            <a:pPr indent="0" marL="0">
              <a:lnSpc>
                <a:spcPct val="125000"/>
              </a:lnSpc>
              <a:buNone/>
            </a:pPr>
            <a:r>
              <a:rPr lang="en-US" sz="1250" dirty="0">
                <a:solidFill>
                  <a:srgbClr val="37503F"/>
                </a:solidFill>
                <a:latin typeface="Malgun Gothic" pitchFamily="34" charset="0"/>
                <a:ea typeface="Malgun Gothic" pitchFamily="34" charset="-122"/>
                <a:cs typeface="Malgun Gothic" pitchFamily="34" charset="-120"/>
              </a:rPr>
              <a:t>은 shared/ 폴더의 .md(trade_rule·ring_fraud·how_to)에 두고 {중괄호}로 끼워 넣는다.
</a:t>
            </a:r>
            <a:pPr indent="0" marL="0">
              <a:lnSpc>
                <a:spcPct val="125000"/>
              </a:lnSpc>
              <a:buNone/>
            </a:pPr>
            <a:r>
              <a:rPr lang="en-US" sz="1250" dirty="0">
                <a:solidFill>
                  <a:srgbClr val="37503F"/>
                </a:solidFill>
                <a:latin typeface="Malgun Gothic" pitchFamily="34" charset="0"/>
                <a:ea typeface="Malgun Gothic" pitchFamily="34" charset="-122"/>
                <a:cs typeface="Malgun Gothic" pitchFamily="34" charset="-120"/>
              </a:rPr>
              <a:t>· 즉 '.md=역할 / .yaml=할일 / .ini=공통'이 아니라, </a:t>
            </a:r>
            <a:pPr indent="0" marL="0">
              <a:lnSpc>
                <a:spcPct val="125000"/>
              </a:lnSpc>
              <a:buNone/>
            </a:pPr>
            <a:r>
              <a:rPr lang="en-US" sz="1250" b="1" dirty="0">
                <a:solidFill>
                  <a:srgbClr val="C0392B"/>
                </a:solidFill>
                <a:latin typeface="Malgun Gothic" pitchFamily="34" charset="0"/>
                <a:ea typeface="Malgun Gothic" pitchFamily="34" charset="-122"/>
                <a:cs typeface="Malgun Gothic" pitchFamily="34" charset="-120"/>
              </a:rPr>
              <a:t>셋 다 .md로 합쳤다.</a:t>
            </a:r>
            <a:endParaRPr lang="en-US" sz="1250" dirty="0"/>
          </a:p>
        </p:txBody>
      </p:sp>
      <p:sp>
        <p:nvSpPr>
          <p:cNvPr id="20" name="Text 18"/>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MULTI-AGENT ③</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에이전트 8명 — 역할</a:t>
            </a:r>
            <a:endParaRPr lang="en-US" sz="2800" dirty="0"/>
          </a:p>
        </p:txBody>
      </p:sp>
      <p:sp>
        <p:nvSpPr>
          <p:cNvPr id="4" name="Shape 2"/>
          <p:cNvSpPr/>
          <p:nvPr/>
        </p:nvSpPr>
        <p:spPr>
          <a:xfrm>
            <a:off x="640080" y="1417320"/>
            <a:ext cx="2633472" cy="1572768"/>
          </a:xfrm>
          <a:prstGeom prst="roundRect">
            <a:avLst>
              <a:gd name="adj" fmla="val 523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5" name="Shape 3"/>
          <p:cNvSpPr/>
          <p:nvPr/>
        </p:nvSpPr>
        <p:spPr>
          <a:xfrm>
            <a:off x="841248" y="1600200"/>
            <a:ext cx="457200" cy="457200"/>
          </a:xfrm>
          <a:prstGeom prst="ellipse">
            <a:avLst/>
          </a:prstGeom>
          <a:solidFill>
            <a:srgbClr val="E8590C"/>
          </a:solidFill>
          <a:ln/>
        </p:spPr>
      </p:sp>
      <p:sp>
        <p:nvSpPr>
          <p:cNvPr id="6" name="Text 4"/>
          <p:cNvSpPr txBox="1"/>
          <p:nvPr/>
        </p:nvSpPr>
        <p:spPr>
          <a:xfrm>
            <a:off x="841248" y="1600200"/>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1</a:t>
            </a:r>
            <a:endParaRPr lang="en-US" sz="1250" dirty="0"/>
          </a:p>
        </p:txBody>
      </p:sp>
      <p:sp>
        <p:nvSpPr>
          <p:cNvPr id="7" name="Text 5"/>
          <p:cNvSpPr txBox="1"/>
          <p:nvPr/>
        </p:nvSpPr>
        <p:spPr>
          <a:xfrm>
            <a:off x="1389888" y="1600200"/>
            <a:ext cx="1828800" cy="457200"/>
          </a:xfrm>
          <a:prstGeom prst="rect">
            <a:avLst/>
          </a:prstGeom>
          <a:noFill/>
          <a:ln/>
        </p:spPr>
        <p:txBody>
          <a:bodyPr wrap="square" lIns="0" tIns="0" rIns="0" bIns="0" rtlCol="0" anchor="ctr"/>
          <a:lstStyle/>
          <a:p>
            <a:pPr indent="0" marL="0">
              <a:buNone/>
            </a:pPr>
            <a:r>
              <a:rPr lang="en-US" sz="1300" b="1" dirty="0">
                <a:solidFill>
                  <a:srgbClr val="1F2430"/>
                </a:solidFill>
                <a:latin typeface="Malgun Gothic" pitchFamily="34" charset="0"/>
                <a:ea typeface="Malgun Gothic" pitchFamily="34" charset="-122"/>
                <a:cs typeface="Malgun Gothic" pitchFamily="34" charset="-120"/>
              </a:rPr>
              <a:t>단독 조사원</a:t>
            </a:r>
            <a:endParaRPr lang="en-US" sz="1300" dirty="0"/>
          </a:p>
        </p:txBody>
      </p:sp>
      <p:sp>
        <p:nvSpPr>
          <p:cNvPr id="8" name="Text 6"/>
          <p:cNvSpPr txBox="1"/>
          <p:nvPr/>
        </p:nvSpPr>
        <p:spPr>
          <a:xfrm>
            <a:off x="859536" y="2130552"/>
            <a:ext cx="2286000" cy="731520"/>
          </a:xfrm>
          <a:prstGeom prst="rect">
            <a:avLst/>
          </a:prstGeom>
          <a:noFill/>
          <a:ln/>
        </p:spPr>
        <p:txBody>
          <a:bodyPr wrap="square" lIns="0" tIns="0" rIns="0" bIns="0" rtlCol="0" anchor="t"/>
          <a:lstStyle/>
          <a:p>
            <a:pPr indent="0" marL="0">
              <a:lnSpc>
                <a:spcPct val="105000"/>
              </a:lnSpc>
              <a:buNone/>
            </a:pPr>
            <a:r>
              <a:rPr lang="en-US" sz="1100" dirty="0">
                <a:solidFill>
                  <a:srgbClr val="3A3F4B"/>
                </a:solidFill>
                <a:latin typeface="Malgun Gothic" pitchFamily="34" charset="0"/>
                <a:ea typeface="Malgun Gothic" pitchFamily="34" charset="-122"/>
                <a:cs typeface="Malgun Gothic" pitchFamily="34" charset="-120"/>
              </a:rPr>
              <a:t>혼자 도구 7개로 전부 조사</a:t>
            </a:r>
            <a:endParaRPr lang="en-US" sz="1100" dirty="0"/>
          </a:p>
        </p:txBody>
      </p:sp>
      <p:sp>
        <p:nvSpPr>
          <p:cNvPr id="9" name="Shape 7"/>
          <p:cNvSpPr/>
          <p:nvPr/>
        </p:nvSpPr>
        <p:spPr>
          <a:xfrm>
            <a:off x="3456432" y="1417320"/>
            <a:ext cx="2633472" cy="1572768"/>
          </a:xfrm>
          <a:prstGeom prst="roundRect">
            <a:avLst>
              <a:gd name="adj" fmla="val 523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0" name="Shape 8"/>
          <p:cNvSpPr/>
          <p:nvPr/>
        </p:nvSpPr>
        <p:spPr>
          <a:xfrm>
            <a:off x="3657600" y="1600200"/>
            <a:ext cx="457200" cy="457200"/>
          </a:xfrm>
          <a:prstGeom prst="ellipse">
            <a:avLst/>
          </a:prstGeom>
          <a:solidFill>
            <a:srgbClr val="FF922B"/>
          </a:solidFill>
          <a:ln/>
        </p:spPr>
      </p:sp>
      <p:sp>
        <p:nvSpPr>
          <p:cNvPr id="11" name="Text 9"/>
          <p:cNvSpPr txBox="1"/>
          <p:nvPr/>
        </p:nvSpPr>
        <p:spPr>
          <a:xfrm>
            <a:off x="3657600" y="1600200"/>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2</a:t>
            </a:r>
            <a:endParaRPr lang="en-US" sz="1250" dirty="0"/>
          </a:p>
        </p:txBody>
      </p:sp>
      <p:sp>
        <p:nvSpPr>
          <p:cNvPr id="12" name="Text 10"/>
          <p:cNvSpPr txBox="1"/>
          <p:nvPr/>
        </p:nvSpPr>
        <p:spPr>
          <a:xfrm>
            <a:off x="4206240" y="1600200"/>
            <a:ext cx="1828800" cy="457200"/>
          </a:xfrm>
          <a:prstGeom prst="rect">
            <a:avLst/>
          </a:prstGeom>
          <a:noFill/>
          <a:ln/>
        </p:spPr>
        <p:txBody>
          <a:bodyPr wrap="square" lIns="0" tIns="0" rIns="0" bIns="0" rtlCol="0" anchor="ctr"/>
          <a:lstStyle/>
          <a:p>
            <a:pPr indent="0" marL="0">
              <a:buNone/>
            </a:pPr>
            <a:r>
              <a:rPr lang="en-US" sz="1300" b="1" dirty="0">
                <a:solidFill>
                  <a:srgbClr val="1F2430"/>
                </a:solidFill>
                <a:latin typeface="Malgun Gothic" pitchFamily="34" charset="0"/>
                <a:ea typeface="Malgun Gothic" pitchFamily="34" charset="-122"/>
                <a:cs typeface="Malgun Gothic" pitchFamily="34" charset="-120"/>
              </a:rPr>
              <a:t>매물 조사관</a:t>
            </a:r>
            <a:endParaRPr lang="en-US" sz="1300" dirty="0"/>
          </a:p>
        </p:txBody>
      </p:sp>
      <p:sp>
        <p:nvSpPr>
          <p:cNvPr id="13" name="Text 11"/>
          <p:cNvSpPr txBox="1"/>
          <p:nvPr/>
        </p:nvSpPr>
        <p:spPr>
          <a:xfrm>
            <a:off x="3675888" y="2130552"/>
            <a:ext cx="2286000" cy="731520"/>
          </a:xfrm>
          <a:prstGeom prst="rect">
            <a:avLst/>
          </a:prstGeom>
          <a:noFill/>
          <a:ln/>
        </p:spPr>
        <p:txBody>
          <a:bodyPr wrap="square" lIns="0" tIns="0" rIns="0" bIns="0" rtlCol="0" anchor="t"/>
          <a:lstStyle/>
          <a:p>
            <a:pPr indent="0" marL="0">
              <a:lnSpc>
                <a:spcPct val="105000"/>
              </a:lnSpc>
              <a:buNone/>
            </a:pPr>
            <a:r>
              <a:rPr lang="en-US" sz="1100" dirty="0">
                <a:solidFill>
                  <a:srgbClr val="3A3F4B"/>
                </a:solidFill>
                <a:latin typeface="Malgun Gothic" pitchFamily="34" charset="0"/>
                <a:ea typeface="Malgun Gothic" pitchFamily="34" charset="-122"/>
                <a:cs typeface="Malgun Gothic" pitchFamily="34" charset="-120"/>
              </a:rPr>
              <a:t>매물·시세·사진만 살핌</a:t>
            </a:r>
            <a:endParaRPr lang="en-US" sz="1100" dirty="0"/>
          </a:p>
        </p:txBody>
      </p:sp>
      <p:sp>
        <p:nvSpPr>
          <p:cNvPr id="14" name="Shape 12"/>
          <p:cNvSpPr/>
          <p:nvPr/>
        </p:nvSpPr>
        <p:spPr>
          <a:xfrm>
            <a:off x="6272784" y="1417320"/>
            <a:ext cx="2633472" cy="1572768"/>
          </a:xfrm>
          <a:prstGeom prst="roundRect">
            <a:avLst>
              <a:gd name="adj" fmla="val 523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5" name="Shape 13"/>
          <p:cNvSpPr/>
          <p:nvPr/>
        </p:nvSpPr>
        <p:spPr>
          <a:xfrm>
            <a:off x="6473952" y="1600200"/>
            <a:ext cx="457200" cy="457200"/>
          </a:xfrm>
          <a:prstGeom prst="ellipse">
            <a:avLst/>
          </a:prstGeom>
          <a:solidFill>
            <a:srgbClr val="FF922B"/>
          </a:solidFill>
          <a:ln/>
        </p:spPr>
      </p:sp>
      <p:sp>
        <p:nvSpPr>
          <p:cNvPr id="16" name="Text 14"/>
          <p:cNvSpPr txBox="1"/>
          <p:nvPr/>
        </p:nvSpPr>
        <p:spPr>
          <a:xfrm>
            <a:off x="6473952" y="1600200"/>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3</a:t>
            </a:r>
            <a:endParaRPr lang="en-US" sz="1250" dirty="0"/>
          </a:p>
        </p:txBody>
      </p:sp>
      <p:sp>
        <p:nvSpPr>
          <p:cNvPr id="17" name="Text 15"/>
          <p:cNvSpPr txBox="1"/>
          <p:nvPr/>
        </p:nvSpPr>
        <p:spPr>
          <a:xfrm>
            <a:off x="7022592" y="1600200"/>
            <a:ext cx="1828800" cy="457200"/>
          </a:xfrm>
          <a:prstGeom prst="rect">
            <a:avLst/>
          </a:prstGeom>
          <a:noFill/>
          <a:ln/>
        </p:spPr>
        <p:txBody>
          <a:bodyPr wrap="square" lIns="0" tIns="0" rIns="0" bIns="0" rtlCol="0" anchor="ctr"/>
          <a:lstStyle/>
          <a:p>
            <a:pPr indent="0" marL="0">
              <a:buNone/>
            </a:pPr>
            <a:r>
              <a:rPr lang="en-US" sz="1300" b="1" dirty="0">
                <a:solidFill>
                  <a:srgbClr val="1F2430"/>
                </a:solidFill>
                <a:latin typeface="Malgun Gothic" pitchFamily="34" charset="0"/>
                <a:ea typeface="Malgun Gothic" pitchFamily="34" charset="-122"/>
                <a:cs typeface="Malgun Gothic" pitchFamily="34" charset="-120"/>
              </a:rPr>
              <a:t>이력 조사관</a:t>
            </a:r>
            <a:endParaRPr lang="en-US" sz="1300" dirty="0"/>
          </a:p>
        </p:txBody>
      </p:sp>
      <p:sp>
        <p:nvSpPr>
          <p:cNvPr id="18" name="Text 16"/>
          <p:cNvSpPr txBox="1"/>
          <p:nvPr/>
        </p:nvSpPr>
        <p:spPr>
          <a:xfrm>
            <a:off x="6492240" y="2130552"/>
            <a:ext cx="2286000" cy="731520"/>
          </a:xfrm>
          <a:prstGeom prst="rect">
            <a:avLst/>
          </a:prstGeom>
          <a:noFill/>
          <a:ln/>
        </p:spPr>
        <p:txBody>
          <a:bodyPr wrap="square" lIns="0" tIns="0" rIns="0" bIns="0" rtlCol="0" anchor="t"/>
          <a:lstStyle/>
          <a:p>
            <a:pPr indent="0" marL="0">
              <a:lnSpc>
                <a:spcPct val="105000"/>
              </a:lnSpc>
              <a:buNone/>
            </a:pPr>
            <a:r>
              <a:rPr lang="en-US" sz="1100" dirty="0">
                <a:solidFill>
                  <a:srgbClr val="3A3F4B"/>
                </a:solidFill>
                <a:latin typeface="Malgun Gothic" pitchFamily="34" charset="0"/>
                <a:ea typeface="Malgun Gothic" pitchFamily="34" charset="-122"/>
                <a:cs typeface="Malgun Gothic" pitchFamily="34" charset="-120"/>
              </a:rPr>
              <a:t>판매자·대화·신고자를 살핌</a:t>
            </a:r>
            <a:endParaRPr lang="en-US" sz="1100" dirty="0"/>
          </a:p>
        </p:txBody>
      </p:sp>
      <p:sp>
        <p:nvSpPr>
          <p:cNvPr id="19" name="Shape 17"/>
          <p:cNvSpPr/>
          <p:nvPr/>
        </p:nvSpPr>
        <p:spPr>
          <a:xfrm>
            <a:off x="9089136" y="1417320"/>
            <a:ext cx="2633472" cy="1572768"/>
          </a:xfrm>
          <a:prstGeom prst="roundRect">
            <a:avLst>
              <a:gd name="adj" fmla="val 523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0" name="Shape 18"/>
          <p:cNvSpPr/>
          <p:nvPr/>
        </p:nvSpPr>
        <p:spPr>
          <a:xfrm>
            <a:off x="9290304" y="1600200"/>
            <a:ext cx="457200" cy="457200"/>
          </a:xfrm>
          <a:prstGeom prst="ellipse">
            <a:avLst/>
          </a:prstGeom>
          <a:solidFill>
            <a:srgbClr val="FF922B"/>
          </a:solidFill>
          <a:ln/>
        </p:spPr>
      </p:sp>
      <p:sp>
        <p:nvSpPr>
          <p:cNvPr id="21" name="Text 19"/>
          <p:cNvSpPr txBox="1"/>
          <p:nvPr/>
        </p:nvSpPr>
        <p:spPr>
          <a:xfrm>
            <a:off x="9290304" y="1600200"/>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4</a:t>
            </a:r>
            <a:endParaRPr lang="en-US" sz="1250" dirty="0"/>
          </a:p>
        </p:txBody>
      </p:sp>
      <p:sp>
        <p:nvSpPr>
          <p:cNvPr id="22" name="Text 20"/>
          <p:cNvSpPr txBox="1"/>
          <p:nvPr/>
        </p:nvSpPr>
        <p:spPr>
          <a:xfrm>
            <a:off x="9838944" y="1600200"/>
            <a:ext cx="1828800" cy="457200"/>
          </a:xfrm>
          <a:prstGeom prst="rect">
            <a:avLst/>
          </a:prstGeom>
          <a:noFill/>
          <a:ln/>
        </p:spPr>
        <p:txBody>
          <a:bodyPr wrap="square" lIns="0" tIns="0" rIns="0" bIns="0" rtlCol="0" anchor="ctr"/>
          <a:lstStyle/>
          <a:p>
            <a:pPr indent="0" marL="0">
              <a:buNone/>
            </a:pPr>
            <a:r>
              <a:rPr lang="en-US" sz="1300" b="1" dirty="0">
                <a:solidFill>
                  <a:srgbClr val="1F2430"/>
                </a:solidFill>
                <a:latin typeface="Malgun Gothic" pitchFamily="34" charset="0"/>
                <a:ea typeface="Malgun Gothic" pitchFamily="34" charset="-122"/>
                <a:cs typeface="Malgun Gothic" pitchFamily="34" charset="-120"/>
              </a:rPr>
              <a:t>관계 조사관</a:t>
            </a:r>
            <a:endParaRPr lang="en-US" sz="1300" dirty="0"/>
          </a:p>
        </p:txBody>
      </p:sp>
      <p:sp>
        <p:nvSpPr>
          <p:cNvPr id="23" name="Text 21"/>
          <p:cNvSpPr txBox="1"/>
          <p:nvPr/>
        </p:nvSpPr>
        <p:spPr>
          <a:xfrm>
            <a:off x="9308592" y="2130552"/>
            <a:ext cx="2286000" cy="731520"/>
          </a:xfrm>
          <a:prstGeom prst="rect">
            <a:avLst/>
          </a:prstGeom>
          <a:noFill/>
          <a:ln/>
        </p:spPr>
        <p:txBody>
          <a:bodyPr wrap="square" lIns="0" tIns="0" rIns="0" bIns="0" rtlCol="0" anchor="t"/>
          <a:lstStyle/>
          <a:p>
            <a:pPr indent="0" marL="0">
              <a:lnSpc>
                <a:spcPct val="105000"/>
              </a:lnSpc>
              <a:buNone/>
            </a:pPr>
            <a:r>
              <a:rPr lang="en-US" sz="1100" dirty="0">
                <a:solidFill>
                  <a:srgbClr val="3A3F4B"/>
                </a:solidFill>
                <a:latin typeface="Malgun Gothic" pitchFamily="34" charset="0"/>
                <a:ea typeface="Malgun Gothic" pitchFamily="34" charset="-122"/>
                <a:cs typeface="Malgun Gothic" pitchFamily="34" charset="-120"/>
              </a:rPr>
              <a:t>여럿이 짜고 하는지 살핌</a:t>
            </a:r>
            <a:endParaRPr lang="en-US" sz="1100" dirty="0"/>
          </a:p>
        </p:txBody>
      </p:sp>
      <p:sp>
        <p:nvSpPr>
          <p:cNvPr id="24" name="Shape 22"/>
          <p:cNvSpPr/>
          <p:nvPr/>
        </p:nvSpPr>
        <p:spPr>
          <a:xfrm>
            <a:off x="640080" y="3172968"/>
            <a:ext cx="2633472" cy="1572768"/>
          </a:xfrm>
          <a:prstGeom prst="roundRect">
            <a:avLst>
              <a:gd name="adj" fmla="val 523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5" name="Shape 23"/>
          <p:cNvSpPr/>
          <p:nvPr/>
        </p:nvSpPr>
        <p:spPr>
          <a:xfrm>
            <a:off x="841248" y="3355848"/>
            <a:ext cx="457200" cy="457200"/>
          </a:xfrm>
          <a:prstGeom prst="ellipse">
            <a:avLst/>
          </a:prstGeom>
          <a:solidFill>
            <a:srgbClr val="1C7293"/>
          </a:solidFill>
          <a:ln/>
        </p:spPr>
      </p:sp>
      <p:sp>
        <p:nvSpPr>
          <p:cNvPr id="26" name="Text 24"/>
          <p:cNvSpPr txBox="1"/>
          <p:nvPr/>
        </p:nvSpPr>
        <p:spPr>
          <a:xfrm>
            <a:off x="841248" y="3355848"/>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5</a:t>
            </a:r>
            <a:endParaRPr lang="en-US" sz="1250" dirty="0"/>
          </a:p>
        </p:txBody>
      </p:sp>
      <p:sp>
        <p:nvSpPr>
          <p:cNvPr id="27" name="Text 25"/>
          <p:cNvSpPr txBox="1"/>
          <p:nvPr/>
        </p:nvSpPr>
        <p:spPr>
          <a:xfrm>
            <a:off x="1389888" y="3355848"/>
            <a:ext cx="1828800" cy="457200"/>
          </a:xfrm>
          <a:prstGeom prst="rect">
            <a:avLst/>
          </a:prstGeom>
          <a:noFill/>
          <a:ln/>
        </p:spPr>
        <p:txBody>
          <a:bodyPr wrap="square" lIns="0" tIns="0" rIns="0" bIns="0" rtlCol="0" anchor="ctr"/>
          <a:lstStyle/>
          <a:p>
            <a:pPr indent="0" marL="0">
              <a:buNone/>
            </a:pPr>
            <a:r>
              <a:rPr lang="en-US" sz="1300" b="1" dirty="0">
                <a:solidFill>
                  <a:srgbClr val="1F2430"/>
                </a:solidFill>
                <a:latin typeface="Malgun Gothic" pitchFamily="34" charset="0"/>
                <a:ea typeface="Malgun Gothic" pitchFamily="34" charset="-122"/>
                <a:cs typeface="Malgun Gothic" pitchFamily="34" charset="-120"/>
              </a:rPr>
              <a:t>검사</a:t>
            </a:r>
            <a:endParaRPr lang="en-US" sz="1300" dirty="0"/>
          </a:p>
        </p:txBody>
      </p:sp>
      <p:sp>
        <p:nvSpPr>
          <p:cNvPr id="28" name="Text 26"/>
          <p:cNvSpPr txBox="1"/>
          <p:nvPr/>
        </p:nvSpPr>
        <p:spPr>
          <a:xfrm>
            <a:off x="859536" y="3886200"/>
            <a:ext cx="2286000" cy="731520"/>
          </a:xfrm>
          <a:prstGeom prst="rect">
            <a:avLst/>
          </a:prstGeom>
          <a:noFill/>
          <a:ln/>
        </p:spPr>
        <p:txBody>
          <a:bodyPr wrap="square" lIns="0" tIns="0" rIns="0" bIns="0" rtlCol="0" anchor="t"/>
          <a:lstStyle/>
          <a:p>
            <a:pPr indent="0" marL="0">
              <a:lnSpc>
                <a:spcPct val="105000"/>
              </a:lnSpc>
              <a:buNone/>
            </a:pPr>
            <a:r>
              <a:rPr lang="en-US" sz="1100" dirty="0">
                <a:solidFill>
                  <a:srgbClr val="3A3F4B"/>
                </a:solidFill>
                <a:latin typeface="Malgun Gothic" pitchFamily="34" charset="0"/>
                <a:ea typeface="Malgun Gothic" pitchFamily="34" charset="-122"/>
                <a:cs typeface="Malgun Gothic" pitchFamily="34" charset="-120"/>
              </a:rPr>
              <a:t>위험한 신호를 짚어 주장</a:t>
            </a:r>
            <a:endParaRPr lang="en-US" sz="1100" dirty="0"/>
          </a:p>
        </p:txBody>
      </p:sp>
      <p:sp>
        <p:nvSpPr>
          <p:cNvPr id="29" name="Shape 27"/>
          <p:cNvSpPr/>
          <p:nvPr/>
        </p:nvSpPr>
        <p:spPr>
          <a:xfrm>
            <a:off x="3456432" y="3172968"/>
            <a:ext cx="2633472" cy="1572768"/>
          </a:xfrm>
          <a:prstGeom prst="roundRect">
            <a:avLst>
              <a:gd name="adj" fmla="val 523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30" name="Shape 28"/>
          <p:cNvSpPr/>
          <p:nvPr/>
        </p:nvSpPr>
        <p:spPr>
          <a:xfrm>
            <a:off x="3657600" y="3355848"/>
            <a:ext cx="457200" cy="457200"/>
          </a:xfrm>
          <a:prstGeom prst="ellipse">
            <a:avLst/>
          </a:prstGeom>
          <a:solidFill>
            <a:srgbClr val="2F9E44"/>
          </a:solidFill>
          <a:ln/>
        </p:spPr>
      </p:sp>
      <p:sp>
        <p:nvSpPr>
          <p:cNvPr id="31" name="Text 29"/>
          <p:cNvSpPr txBox="1"/>
          <p:nvPr/>
        </p:nvSpPr>
        <p:spPr>
          <a:xfrm>
            <a:off x="3657600" y="3355848"/>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6</a:t>
            </a:r>
            <a:endParaRPr lang="en-US" sz="1250" dirty="0"/>
          </a:p>
        </p:txBody>
      </p:sp>
      <p:sp>
        <p:nvSpPr>
          <p:cNvPr id="32" name="Text 30"/>
          <p:cNvSpPr txBox="1"/>
          <p:nvPr/>
        </p:nvSpPr>
        <p:spPr>
          <a:xfrm>
            <a:off x="4206240" y="3355848"/>
            <a:ext cx="1828800" cy="457200"/>
          </a:xfrm>
          <a:prstGeom prst="rect">
            <a:avLst/>
          </a:prstGeom>
          <a:noFill/>
          <a:ln/>
        </p:spPr>
        <p:txBody>
          <a:bodyPr wrap="square" lIns="0" tIns="0" rIns="0" bIns="0" rtlCol="0" anchor="ctr"/>
          <a:lstStyle/>
          <a:p>
            <a:pPr indent="0" marL="0">
              <a:buNone/>
            </a:pPr>
            <a:r>
              <a:rPr lang="en-US" sz="1300" b="1" dirty="0">
                <a:solidFill>
                  <a:srgbClr val="1F2430"/>
                </a:solidFill>
                <a:latin typeface="Malgun Gothic" pitchFamily="34" charset="0"/>
                <a:ea typeface="Malgun Gothic" pitchFamily="34" charset="-122"/>
                <a:cs typeface="Malgun Gothic" pitchFamily="34" charset="-120"/>
              </a:rPr>
              <a:t>변호인</a:t>
            </a:r>
            <a:endParaRPr lang="en-US" sz="1300" dirty="0"/>
          </a:p>
        </p:txBody>
      </p:sp>
      <p:sp>
        <p:nvSpPr>
          <p:cNvPr id="33" name="Text 31"/>
          <p:cNvSpPr txBox="1"/>
          <p:nvPr/>
        </p:nvSpPr>
        <p:spPr>
          <a:xfrm>
            <a:off x="3675888" y="3886200"/>
            <a:ext cx="2286000" cy="731520"/>
          </a:xfrm>
          <a:prstGeom prst="rect">
            <a:avLst/>
          </a:prstGeom>
          <a:noFill/>
          <a:ln/>
        </p:spPr>
        <p:txBody>
          <a:bodyPr wrap="square" lIns="0" tIns="0" rIns="0" bIns="0" rtlCol="0" anchor="t"/>
          <a:lstStyle/>
          <a:p>
            <a:pPr indent="0" marL="0">
              <a:lnSpc>
                <a:spcPct val="105000"/>
              </a:lnSpc>
              <a:buNone/>
            </a:pPr>
            <a:r>
              <a:rPr lang="en-US" sz="1100" dirty="0">
                <a:solidFill>
                  <a:srgbClr val="3A3F4B"/>
                </a:solidFill>
                <a:latin typeface="Malgun Gothic" pitchFamily="34" charset="0"/>
                <a:ea typeface="Malgun Gothic" pitchFamily="34" charset="-122"/>
                <a:cs typeface="Malgun Gothic" pitchFamily="34" charset="-120"/>
              </a:rPr>
              <a:t>억울할 점을 반론</a:t>
            </a:r>
            <a:endParaRPr lang="en-US" sz="1100" dirty="0"/>
          </a:p>
        </p:txBody>
      </p:sp>
      <p:sp>
        <p:nvSpPr>
          <p:cNvPr id="34" name="Shape 32"/>
          <p:cNvSpPr/>
          <p:nvPr/>
        </p:nvSpPr>
        <p:spPr>
          <a:xfrm>
            <a:off x="6272784" y="3172968"/>
            <a:ext cx="2633472" cy="1572768"/>
          </a:xfrm>
          <a:prstGeom prst="roundRect">
            <a:avLst>
              <a:gd name="adj" fmla="val 523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35" name="Shape 33"/>
          <p:cNvSpPr/>
          <p:nvPr/>
        </p:nvSpPr>
        <p:spPr>
          <a:xfrm>
            <a:off x="6473952" y="3355848"/>
            <a:ext cx="457200" cy="457200"/>
          </a:xfrm>
          <a:prstGeom prst="ellipse">
            <a:avLst/>
          </a:prstGeom>
          <a:solidFill>
            <a:srgbClr val="6B4FBB"/>
          </a:solidFill>
          <a:ln/>
        </p:spPr>
      </p:sp>
      <p:sp>
        <p:nvSpPr>
          <p:cNvPr id="36" name="Text 34"/>
          <p:cNvSpPr txBox="1"/>
          <p:nvPr/>
        </p:nvSpPr>
        <p:spPr>
          <a:xfrm>
            <a:off x="6473952" y="3355848"/>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7</a:t>
            </a:r>
            <a:endParaRPr lang="en-US" sz="1250" dirty="0"/>
          </a:p>
        </p:txBody>
      </p:sp>
      <p:sp>
        <p:nvSpPr>
          <p:cNvPr id="37" name="Text 35"/>
          <p:cNvSpPr txBox="1"/>
          <p:nvPr/>
        </p:nvSpPr>
        <p:spPr>
          <a:xfrm>
            <a:off x="7022592" y="3355848"/>
            <a:ext cx="1828800" cy="457200"/>
          </a:xfrm>
          <a:prstGeom prst="rect">
            <a:avLst/>
          </a:prstGeom>
          <a:noFill/>
          <a:ln/>
        </p:spPr>
        <p:txBody>
          <a:bodyPr wrap="square" lIns="0" tIns="0" rIns="0" bIns="0" rtlCol="0" anchor="ctr"/>
          <a:lstStyle/>
          <a:p>
            <a:pPr indent="0" marL="0">
              <a:buNone/>
            </a:pPr>
            <a:r>
              <a:rPr lang="en-US" sz="1300" b="1" dirty="0">
                <a:solidFill>
                  <a:srgbClr val="1F2430"/>
                </a:solidFill>
                <a:latin typeface="Malgun Gothic" pitchFamily="34" charset="0"/>
                <a:ea typeface="Malgun Gothic" pitchFamily="34" charset="-122"/>
                <a:cs typeface="Malgun Gothic" pitchFamily="34" charset="-120"/>
              </a:rPr>
              <a:t>정리 담당</a:t>
            </a:r>
            <a:endParaRPr lang="en-US" sz="1300" dirty="0"/>
          </a:p>
        </p:txBody>
      </p:sp>
      <p:sp>
        <p:nvSpPr>
          <p:cNvPr id="38" name="Text 36"/>
          <p:cNvSpPr txBox="1"/>
          <p:nvPr/>
        </p:nvSpPr>
        <p:spPr>
          <a:xfrm>
            <a:off x="6492240" y="3886200"/>
            <a:ext cx="2286000" cy="731520"/>
          </a:xfrm>
          <a:prstGeom prst="rect">
            <a:avLst/>
          </a:prstGeom>
          <a:noFill/>
          <a:ln/>
        </p:spPr>
        <p:txBody>
          <a:bodyPr wrap="square" lIns="0" tIns="0" rIns="0" bIns="0" rtlCol="0" anchor="t"/>
          <a:lstStyle/>
          <a:p>
            <a:pPr indent="0" marL="0">
              <a:lnSpc>
                <a:spcPct val="105000"/>
              </a:lnSpc>
              <a:buNone/>
            </a:pPr>
            <a:r>
              <a:rPr lang="en-US" sz="1100" dirty="0">
                <a:solidFill>
                  <a:srgbClr val="3A3F4B"/>
                </a:solidFill>
                <a:latin typeface="Malgun Gothic" pitchFamily="34" charset="0"/>
                <a:ea typeface="Malgun Gothic" pitchFamily="34" charset="-122"/>
                <a:cs typeface="Malgun Gothic" pitchFamily="34" charset="-120"/>
              </a:rPr>
              <a:t>양쪽 말을 정리 (판결 X)</a:t>
            </a:r>
            <a:endParaRPr lang="en-US" sz="1100" dirty="0"/>
          </a:p>
        </p:txBody>
      </p:sp>
      <p:sp>
        <p:nvSpPr>
          <p:cNvPr id="39" name="Shape 37"/>
          <p:cNvSpPr/>
          <p:nvPr/>
        </p:nvSpPr>
        <p:spPr>
          <a:xfrm>
            <a:off x="9089136" y="3172968"/>
            <a:ext cx="2633472" cy="1572768"/>
          </a:xfrm>
          <a:prstGeom prst="roundRect">
            <a:avLst>
              <a:gd name="adj" fmla="val 523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40" name="Shape 38"/>
          <p:cNvSpPr/>
          <p:nvPr/>
        </p:nvSpPr>
        <p:spPr>
          <a:xfrm>
            <a:off x="9290304" y="3355848"/>
            <a:ext cx="457200" cy="457200"/>
          </a:xfrm>
          <a:prstGeom prst="ellipse">
            <a:avLst/>
          </a:prstGeom>
          <a:solidFill>
            <a:srgbClr val="6B7280"/>
          </a:solidFill>
          <a:ln/>
        </p:spPr>
      </p:sp>
      <p:sp>
        <p:nvSpPr>
          <p:cNvPr id="41" name="Text 39"/>
          <p:cNvSpPr txBox="1"/>
          <p:nvPr/>
        </p:nvSpPr>
        <p:spPr>
          <a:xfrm>
            <a:off x="9290304" y="3355848"/>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8</a:t>
            </a:r>
            <a:endParaRPr lang="en-US" sz="1250" dirty="0"/>
          </a:p>
        </p:txBody>
      </p:sp>
      <p:sp>
        <p:nvSpPr>
          <p:cNvPr id="42" name="Text 40"/>
          <p:cNvSpPr txBox="1"/>
          <p:nvPr/>
        </p:nvSpPr>
        <p:spPr>
          <a:xfrm>
            <a:off x="9838944" y="3355848"/>
            <a:ext cx="1828800" cy="457200"/>
          </a:xfrm>
          <a:prstGeom prst="rect">
            <a:avLst/>
          </a:prstGeom>
          <a:noFill/>
          <a:ln/>
        </p:spPr>
        <p:txBody>
          <a:bodyPr wrap="square" lIns="0" tIns="0" rIns="0" bIns="0" rtlCol="0" anchor="ctr"/>
          <a:lstStyle/>
          <a:p>
            <a:pPr indent="0" marL="0">
              <a:buNone/>
            </a:pPr>
            <a:r>
              <a:rPr lang="en-US" sz="1300" b="1" dirty="0">
                <a:solidFill>
                  <a:srgbClr val="1F2430"/>
                </a:solidFill>
                <a:latin typeface="Malgun Gothic" pitchFamily="34" charset="0"/>
                <a:ea typeface="Malgun Gothic" pitchFamily="34" charset="-122"/>
                <a:cs typeface="Malgun Gothic" pitchFamily="34" charset="-120"/>
              </a:rPr>
              <a:t>보충 조사</a:t>
            </a:r>
            <a:endParaRPr lang="en-US" sz="1300" dirty="0"/>
          </a:p>
        </p:txBody>
      </p:sp>
      <p:sp>
        <p:nvSpPr>
          <p:cNvPr id="43" name="Text 41"/>
          <p:cNvSpPr txBox="1"/>
          <p:nvPr/>
        </p:nvSpPr>
        <p:spPr>
          <a:xfrm>
            <a:off x="9308592" y="3886200"/>
            <a:ext cx="2286000" cy="731520"/>
          </a:xfrm>
          <a:prstGeom prst="rect">
            <a:avLst/>
          </a:prstGeom>
          <a:noFill/>
          <a:ln/>
        </p:spPr>
        <p:txBody>
          <a:bodyPr wrap="square" lIns="0" tIns="0" rIns="0" bIns="0" rtlCol="0" anchor="t"/>
          <a:lstStyle/>
          <a:p>
            <a:pPr indent="0" marL="0">
              <a:lnSpc>
                <a:spcPct val="105000"/>
              </a:lnSpc>
              <a:buNone/>
            </a:pPr>
            <a:r>
              <a:rPr lang="en-US" sz="1100" dirty="0">
                <a:solidFill>
                  <a:srgbClr val="3A3F4B"/>
                </a:solidFill>
                <a:latin typeface="Malgun Gothic" pitchFamily="34" charset="0"/>
                <a:ea typeface="Malgun Gothic" pitchFamily="34" charset="-122"/>
                <a:cs typeface="Malgun Gothic" pitchFamily="34" charset="-120"/>
              </a:rPr>
              <a:t>관리자 지시로 더 조사</a:t>
            </a:r>
            <a:endParaRPr lang="en-US" sz="1100" dirty="0"/>
          </a:p>
        </p:txBody>
      </p:sp>
      <p:sp>
        <p:nvSpPr>
          <p:cNvPr id="44" name="Shape 42"/>
          <p:cNvSpPr/>
          <p:nvPr/>
        </p:nvSpPr>
        <p:spPr>
          <a:xfrm>
            <a:off x="640080" y="5029200"/>
            <a:ext cx="11018520" cy="1051560"/>
          </a:xfrm>
          <a:prstGeom prst="roundRect">
            <a:avLst>
              <a:gd name="adj" fmla="val 7826"/>
            </a:avLst>
          </a:prstGeom>
          <a:solidFill>
            <a:srgbClr val="1F2430"/>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45" name="Text 43"/>
          <p:cNvSpPr txBox="1"/>
          <p:nvPr/>
        </p:nvSpPr>
        <p:spPr>
          <a:xfrm>
            <a:off x="868680" y="5138928"/>
            <a:ext cx="2377440" cy="822960"/>
          </a:xfrm>
          <a:prstGeom prst="rect">
            <a:avLst/>
          </a:prstGeom>
          <a:noFill/>
          <a:ln/>
        </p:spPr>
        <p:txBody>
          <a:bodyPr wrap="square" lIns="0" tIns="0" rIns="0" bIns="0" rtlCol="0" anchor="ctr"/>
          <a:lstStyle/>
          <a:p>
            <a:pPr indent="0" marL="0">
              <a:buNone/>
            </a:pPr>
            <a:r>
              <a:rPr lang="en-US" sz="1500" b="1" dirty="0">
                <a:solidFill>
                  <a:srgbClr val="FF922B"/>
                </a:solidFill>
                <a:latin typeface="Malgun Gothic" pitchFamily="34" charset="0"/>
                <a:ea typeface="Malgun Gothic" pitchFamily="34" charset="-122"/>
                <a:cs typeface="Malgun Gothic" pitchFamily="34" charset="-120"/>
              </a:rPr>
              <a:t>왜 이렇게 많이?</a:t>
            </a:r>
            <a:endParaRPr lang="en-US" sz="1500" dirty="0"/>
          </a:p>
        </p:txBody>
      </p:sp>
      <p:sp>
        <p:nvSpPr>
          <p:cNvPr id="46" name="Text 44"/>
          <p:cNvSpPr txBox="1"/>
          <p:nvPr/>
        </p:nvSpPr>
        <p:spPr>
          <a:xfrm>
            <a:off x="3200400" y="5138928"/>
            <a:ext cx="2697480" cy="868680"/>
          </a:xfrm>
          <a:prstGeom prst="rect">
            <a:avLst/>
          </a:prstGeom>
          <a:noFill/>
          <a:ln/>
        </p:spPr>
        <p:txBody>
          <a:bodyPr wrap="square" lIns="0" tIns="0" rIns="0" bIns="0" rtlCol="0" anchor="ctr"/>
          <a:lstStyle/>
          <a:p>
            <a:pPr indent="0" marL="0">
              <a:lnSpc>
                <a:spcPct val="105000"/>
              </a:lnSpc>
              <a:buNone/>
            </a:pPr>
            <a:r>
              <a:rPr lang="en-US" sz="1300" b="1" dirty="0">
                <a:solidFill>
                  <a:srgbClr val="FFFFFF"/>
                </a:solidFill>
                <a:latin typeface="Malgun Gothic" pitchFamily="34" charset="0"/>
                <a:ea typeface="Malgun Gothic" pitchFamily="34" charset="-122"/>
                <a:cs typeface="Malgun Gothic" pitchFamily="34" charset="-120"/>
              </a:rPr>
              <a:t>분업
</a:t>
            </a:r>
            <a:pPr indent="0" marL="0">
              <a:lnSpc>
                <a:spcPct val="105000"/>
              </a:lnSpc>
              <a:buNone/>
            </a:pPr>
            <a:r>
              <a:rPr lang="en-US" sz="1050" dirty="0">
                <a:solidFill>
                  <a:srgbClr val="C9CDD6"/>
                </a:solidFill>
                <a:latin typeface="Malgun Gothic" pitchFamily="34" charset="0"/>
                <a:ea typeface="Malgun Gothic" pitchFamily="34" charset="-122"/>
                <a:cs typeface="Malgun Gothic" pitchFamily="34" charset="-120"/>
              </a:rPr>
              <a:t>좁게 나누면 빠르고, 12B 모델이 덜 헤맴</a:t>
            </a:r>
            <a:endParaRPr lang="en-US" sz="1300" dirty="0"/>
          </a:p>
        </p:txBody>
      </p:sp>
      <p:sp>
        <p:nvSpPr>
          <p:cNvPr id="47" name="Text 45"/>
          <p:cNvSpPr txBox="1"/>
          <p:nvPr/>
        </p:nvSpPr>
        <p:spPr>
          <a:xfrm>
            <a:off x="5989320" y="5138928"/>
            <a:ext cx="2697480" cy="868680"/>
          </a:xfrm>
          <a:prstGeom prst="rect">
            <a:avLst/>
          </a:prstGeom>
          <a:noFill/>
          <a:ln/>
        </p:spPr>
        <p:txBody>
          <a:bodyPr wrap="square" lIns="0" tIns="0" rIns="0" bIns="0" rtlCol="0" anchor="ctr"/>
          <a:lstStyle/>
          <a:p>
            <a:pPr indent="0" marL="0">
              <a:lnSpc>
                <a:spcPct val="105000"/>
              </a:lnSpc>
              <a:buNone/>
            </a:pPr>
            <a:r>
              <a:rPr lang="en-US" sz="1300" b="1" dirty="0">
                <a:solidFill>
                  <a:srgbClr val="FFFFFF"/>
                </a:solidFill>
                <a:latin typeface="Malgun Gothic" pitchFamily="34" charset="0"/>
                <a:ea typeface="Malgun Gothic" pitchFamily="34" charset="-122"/>
                <a:cs typeface="Malgun Gothic" pitchFamily="34" charset="-120"/>
              </a:rPr>
              <a:t>견제
</a:t>
            </a:r>
            <a:pPr indent="0" marL="0">
              <a:lnSpc>
                <a:spcPct val="105000"/>
              </a:lnSpc>
              <a:buNone/>
            </a:pPr>
            <a:r>
              <a:rPr lang="en-US" sz="1050" dirty="0">
                <a:solidFill>
                  <a:srgbClr val="C9CDD6"/>
                </a:solidFill>
                <a:latin typeface="Malgun Gothic" pitchFamily="34" charset="0"/>
                <a:ea typeface="Malgun Gothic" pitchFamily="34" charset="-122"/>
                <a:cs typeface="Malgun Gothic" pitchFamily="34" charset="-120"/>
              </a:rPr>
              <a:t>검사·변호인이 맞서 편향·무고 방지</a:t>
            </a:r>
            <a:endParaRPr lang="en-US" sz="1300" dirty="0"/>
          </a:p>
        </p:txBody>
      </p:sp>
      <p:sp>
        <p:nvSpPr>
          <p:cNvPr id="48" name="Text 46"/>
          <p:cNvSpPr txBox="1"/>
          <p:nvPr/>
        </p:nvSpPr>
        <p:spPr>
          <a:xfrm>
            <a:off x="8778240" y="5138928"/>
            <a:ext cx="2697480" cy="868680"/>
          </a:xfrm>
          <a:prstGeom prst="rect">
            <a:avLst/>
          </a:prstGeom>
          <a:noFill/>
          <a:ln/>
        </p:spPr>
        <p:txBody>
          <a:bodyPr wrap="square" lIns="0" tIns="0" rIns="0" bIns="0" rtlCol="0" anchor="ctr"/>
          <a:lstStyle/>
          <a:p>
            <a:pPr indent="0" marL="0">
              <a:lnSpc>
                <a:spcPct val="105000"/>
              </a:lnSpc>
              <a:buNone/>
            </a:pPr>
            <a:r>
              <a:rPr lang="en-US" sz="1300" b="1" dirty="0">
                <a:solidFill>
                  <a:srgbClr val="FFFFFF"/>
                </a:solidFill>
                <a:latin typeface="Malgun Gothic" pitchFamily="34" charset="0"/>
                <a:ea typeface="Malgun Gothic" pitchFamily="34" charset="-122"/>
                <a:cs typeface="Malgun Gothic" pitchFamily="34" charset="-120"/>
              </a:rPr>
              <a:t>재사용
</a:t>
            </a:r>
            <a:pPr indent="0" marL="0">
              <a:lnSpc>
                <a:spcPct val="105000"/>
              </a:lnSpc>
              <a:buNone/>
            </a:pPr>
            <a:r>
              <a:rPr lang="en-US" sz="1050" dirty="0">
                <a:solidFill>
                  <a:srgbClr val="C9CDD6"/>
                </a:solidFill>
                <a:latin typeface="Malgun Gothic" pitchFamily="34" charset="0"/>
                <a:ea typeface="Malgun Gothic" pitchFamily="34" charset="-122"/>
                <a:cs typeface="Malgun Gothic" pitchFamily="34" charset="-120"/>
              </a:rPr>
              <a:t>같은 도구를 역할만 바꿔 조합</a:t>
            </a:r>
            <a:endParaRPr lang="en-US" sz="1300" dirty="0"/>
          </a:p>
        </p:txBody>
      </p:sp>
      <p:sp>
        <p:nvSpPr>
          <p:cNvPr id="49" name="Text 47"/>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MULTI-AGENT ④</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에이전트에게 준 '페르소나 프롬프트'</a:t>
            </a:r>
            <a:endParaRPr lang="en-US" sz="2800" dirty="0"/>
          </a:p>
        </p:txBody>
      </p:sp>
      <p:sp>
        <p:nvSpPr>
          <p:cNvPr id="4" name="Text 2"/>
          <p:cNvSpPr txBox="1"/>
          <p:nvPr/>
        </p:nvSpPr>
        <p:spPr>
          <a:xfrm>
            <a:off x="548640" y="1371600"/>
            <a:ext cx="10972800" cy="365760"/>
          </a:xfrm>
          <a:prstGeom prst="rect">
            <a:avLst/>
          </a:prstGeom>
          <a:noFill/>
          <a:ln/>
        </p:spPr>
        <p:txBody>
          <a:bodyPr wrap="square" lIns="0" tIns="0" rIns="0" bIns="0" rtlCol="0" anchor="ctr"/>
          <a:lstStyle/>
          <a:p>
            <a:pPr indent="0" marL="0">
              <a:buNone/>
            </a:pPr>
            <a:r>
              <a:rPr lang="en-US" sz="1300" dirty="0">
                <a:solidFill>
                  <a:srgbClr val="6B7280"/>
                </a:solidFill>
                <a:latin typeface="Malgun Gothic" pitchFamily="34" charset="0"/>
                <a:ea typeface="Malgun Gothic" pitchFamily="34" charset="-122"/>
                <a:cs typeface="Malgun Gothic" pitchFamily="34" charset="-120"/>
              </a:rPr>
              <a:t>각 에이전트의 실제 지시서 파일(agents/*.md). 역할(페르소나)을 이렇게 부여했다.</a:t>
            </a:r>
            <a:endParaRPr lang="en-US" sz="1300" dirty="0"/>
          </a:p>
        </p:txBody>
      </p:sp>
      <p:sp>
        <p:nvSpPr>
          <p:cNvPr id="5" name="Shape 3"/>
          <p:cNvSpPr/>
          <p:nvPr/>
        </p:nvSpPr>
        <p:spPr>
          <a:xfrm>
            <a:off x="640080" y="1874520"/>
            <a:ext cx="5349240" cy="1874520"/>
          </a:xfrm>
          <a:prstGeom prst="roundRect">
            <a:avLst>
              <a:gd name="adj" fmla="val 2927"/>
            </a:avLst>
          </a:prstGeom>
          <a:solidFill>
            <a:srgbClr val="1E2430"/>
          </a:solidFill>
          <a:ln w="12700">
            <a:solidFill>
              <a:srgbClr val="2A2F3D"/>
            </a:solidFill>
            <a:prstDash val="solid"/>
          </a:ln>
        </p:spPr>
      </p:sp>
      <p:sp>
        <p:nvSpPr>
          <p:cNvPr id="6" name="Shape 4"/>
          <p:cNvSpPr/>
          <p:nvPr/>
        </p:nvSpPr>
        <p:spPr>
          <a:xfrm>
            <a:off x="640080" y="1874520"/>
            <a:ext cx="5349240" cy="365760"/>
          </a:xfrm>
          <a:prstGeom prst="roundRect">
            <a:avLst>
              <a:gd name="adj" fmla="val 15000"/>
            </a:avLst>
          </a:prstGeom>
          <a:solidFill>
            <a:srgbClr val="2A2F3D"/>
          </a:solidFill>
          <a:ln/>
        </p:spPr>
      </p:sp>
      <p:sp>
        <p:nvSpPr>
          <p:cNvPr id="7" name="Shape 5"/>
          <p:cNvSpPr/>
          <p:nvPr/>
        </p:nvSpPr>
        <p:spPr>
          <a:xfrm>
            <a:off x="786384" y="2002536"/>
            <a:ext cx="100584" cy="100584"/>
          </a:xfrm>
          <a:prstGeom prst="ellipse">
            <a:avLst/>
          </a:prstGeom>
          <a:solidFill>
            <a:srgbClr val="FF6B6B"/>
          </a:solidFill>
          <a:ln/>
        </p:spPr>
      </p:sp>
      <p:sp>
        <p:nvSpPr>
          <p:cNvPr id="8" name="Shape 6"/>
          <p:cNvSpPr/>
          <p:nvPr/>
        </p:nvSpPr>
        <p:spPr>
          <a:xfrm>
            <a:off x="969264" y="2002536"/>
            <a:ext cx="100584" cy="100584"/>
          </a:xfrm>
          <a:prstGeom prst="ellipse">
            <a:avLst/>
          </a:prstGeom>
          <a:solidFill>
            <a:srgbClr val="FFD43B"/>
          </a:solidFill>
          <a:ln/>
        </p:spPr>
      </p:sp>
      <p:sp>
        <p:nvSpPr>
          <p:cNvPr id="9" name="Shape 7"/>
          <p:cNvSpPr/>
          <p:nvPr/>
        </p:nvSpPr>
        <p:spPr>
          <a:xfrm>
            <a:off x="1152144" y="2002536"/>
            <a:ext cx="100584" cy="100584"/>
          </a:xfrm>
          <a:prstGeom prst="ellipse">
            <a:avLst/>
          </a:prstGeom>
          <a:solidFill>
            <a:srgbClr val="51CF66"/>
          </a:solidFill>
          <a:ln/>
        </p:spPr>
      </p:sp>
      <p:sp>
        <p:nvSpPr>
          <p:cNvPr id="10" name="Text 8"/>
          <p:cNvSpPr txBox="1"/>
          <p:nvPr/>
        </p:nvSpPr>
        <p:spPr>
          <a:xfrm>
            <a:off x="1417320" y="1874520"/>
            <a:ext cx="4434840" cy="365760"/>
          </a:xfrm>
          <a:prstGeom prst="rect">
            <a:avLst/>
          </a:prstGeom>
          <a:noFill/>
          <a:ln/>
        </p:spPr>
        <p:txBody>
          <a:bodyPr wrap="square" lIns="0" tIns="0" rIns="0" bIns="0" rtlCol="0" anchor="ctr"/>
          <a:lstStyle/>
          <a:p>
            <a:pPr indent="0" marL="0">
              <a:buNone/>
            </a:pPr>
            <a:r>
              <a:rPr lang="en-US" sz="1050" b="1" dirty="0">
                <a:solidFill>
                  <a:srgbClr val="FF8787"/>
                </a:solidFill>
                <a:latin typeface="Consolas" pitchFamily="34" charset="0"/>
                <a:ea typeface="Consolas" pitchFamily="34" charset="-122"/>
                <a:cs typeface="Consolas" pitchFamily="34" charset="-120"/>
              </a:rPr>
              <a:t>prosecutor.md</a:t>
            </a:r>
            <a:endParaRPr lang="en-US" sz="1050" dirty="0"/>
          </a:p>
        </p:txBody>
      </p:sp>
      <p:sp>
        <p:nvSpPr>
          <p:cNvPr id="11" name="Text 9"/>
          <p:cNvSpPr txBox="1"/>
          <p:nvPr/>
        </p:nvSpPr>
        <p:spPr>
          <a:xfrm>
            <a:off x="914400" y="2350008"/>
            <a:ext cx="4846320" cy="1280160"/>
          </a:xfrm>
          <a:prstGeom prst="rect">
            <a:avLst/>
          </a:prstGeom>
          <a:noFill/>
          <a:ln/>
        </p:spPr>
        <p:txBody>
          <a:bodyPr wrap="square" lIns="0" tIns="0" rIns="0" bIns="0" rtlCol="0" anchor="t"/>
          <a:lstStyle/>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당신은 '검사' 입니다.</a:t>
            </a:r>
            <a:endParaRPr lang="en-US" sz="1050" dirty="0"/>
          </a:p>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신고된 건에서 위험한 신호를</a:t>
            </a:r>
            <a:endParaRPr lang="en-US" sz="1050" dirty="0"/>
          </a:p>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찾아내는 것이 맡은 몫입니다.</a:t>
            </a:r>
            <a:endParaRPr lang="en-US" sz="1050" dirty="0"/>
          </a:p>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…다만 지어내지는 마십시오.</a:t>
            </a:r>
            <a:endParaRPr lang="en-US" sz="1050" dirty="0"/>
          </a:p>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도구로 실제로 본 것만 근거로 씁니다.</a:t>
            </a:r>
            <a:endParaRPr lang="en-US" sz="1050" dirty="0"/>
          </a:p>
        </p:txBody>
      </p:sp>
      <p:sp>
        <p:nvSpPr>
          <p:cNvPr id="12" name="Shape 10"/>
          <p:cNvSpPr/>
          <p:nvPr/>
        </p:nvSpPr>
        <p:spPr>
          <a:xfrm>
            <a:off x="6263640" y="1874520"/>
            <a:ext cx="5349240" cy="1874520"/>
          </a:xfrm>
          <a:prstGeom prst="roundRect">
            <a:avLst>
              <a:gd name="adj" fmla="val 2927"/>
            </a:avLst>
          </a:prstGeom>
          <a:solidFill>
            <a:srgbClr val="1E2430"/>
          </a:solidFill>
          <a:ln w="12700">
            <a:solidFill>
              <a:srgbClr val="2A2F3D"/>
            </a:solidFill>
            <a:prstDash val="solid"/>
          </a:ln>
        </p:spPr>
      </p:sp>
      <p:sp>
        <p:nvSpPr>
          <p:cNvPr id="13" name="Shape 11"/>
          <p:cNvSpPr/>
          <p:nvPr/>
        </p:nvSpPr>
        <p:spPr>
          <a:xfrm>
            <a:off x="6263640" y="1874520"/>
            <a:ext cx="5349240" cy="365760"/>
          </a:xfrm>
          <a:prstGeom prst="roundRect">
            <a:avLst>
              <a:gd name="adj" fmla="val 15000"/>
            </a:avLst>
          </a:prstGeom>
          <a:solidFill>
            <a:srgbClr val="2A2F3D"/>
          </a:solidFill>
          <a:ln/>
        </p:spPr>
      </p:sp>
      <p:sp>
        <p:nvSpPr>
          <p:cNvPr id="14" name="Shape 12"/>
          <p:cNvSpPr/>
          <p:nvPr/>
        </p:nvSpPr>
        <p:spPr>
          <a:xfrm>
            <a:off x="6409944" y="2002536"/>
            <a:ext cx="100584" cy="100584"/>
          </a:xfrm>
          <a:prstGeom prst="ellipse">
            <a:avLst/>
          </a:prstGeom>
          <a:solidFill>
            <a:srgbClr val="FF6B6B"/>
          </a:solidFill>
          <a:ln/>
        </p:spPr>
      </p:sp>
      <p:sp>
        <p:nvSpPr>
          <p:cNvPr id="15" name="Shape 13"/>
          <p:cNvSpPr/>
          <p:nvPr/>
        </p:nvSpPr>
        <p:spPr>
          <a:xfrm>
            <a:off x="6592824" y="2002536"/>
            <a:ext cx="100584" cy="100584"/>
          </a:xfrm>
          <a:prstGeom prst="ellipse">
            <a:avLst/>
          </a:prstGeom>
          <a:solidFill>
            <a:srgbClr val="FFD43B"/>
          </a:solidFill>
          <a:ln/>
        </p:spPr>
      </p:sp>
      <p:sp>
        <p:nvSpPr>
          <p:cNvPr id="16" name="Shape 14"/>
          <p:cNvSpPr/>
          <p:nvPr/>
        </p:nvSpPr>
        <p:spPr>
          <a:xfrm>
            <a:off x="6775704" y="2002536"/>
            <a:ext cx="100584" cy="100584"/>
          </a:xfrm>
          <a:prstGeom prst="ellipse">
            <a:avLst/>
          </a:prstGeom>
          <a:solidFill>
            <a:srgbClr val="51CF66"/>
          </a:solidFill>
          <a:ln/>
        </p:spPr>
      </p:sp>
      <p:sp>
        <p:nvSpPr>
          <p:cNvPr id="17" name="Text 15"/>
          <p:cNvSpPr txBox="1"/>
          <p:nvPr/>
        </p:nvSpPr>
        <p:spPr>
          <a:xfrm>
            <a:off x="7040880" y="1874520"/>
            <a:ext cx="4434840" cy="365760"/>
          </a:xfrm>
          <a:prstGeom prst="rect">
            <a:avLst/>
          </a:prstGeom>
          <a:noFill/>
          <a:ln/>
        </p:spPr>
        <p:txBody>
          <a:bodyPr wrap="square" lIns="0" tIns="0" rIns="0" bIns="0" rtlCol="0" anchor="ctr"/>
          <a:lstStyle/>
          <a:p>
            <a:pPr indent="0" marL="0">
              <a:buNone/>
            </a:pPr>
            <a:r>
              <a:rPr lang="en-US" sz="1050" b="1" dirty="0">
                <a:solidFill>
                  <a:srgbClr val="74C0FC"/>
                </a:solidFill>
                <a:latin typeface="Consolas" pitchFamily="34" charset="0"/>
                <a:ea typeface="Consolas" pitchFamily="34" charset="-122"/>
                <a:cs typeface="Consolas" pitchFamily="34" charset="-120"/>
              </a:rPr>
              <a:t>defender.md</a:t>
            </a:r>
            <a:endParaRPr lang="en-US" sz="1050" dirty="0"/>
          </a:p>
        </p:txBody>
      </p:sp>
      <p:sp>
        <p:nvSpPr>
          <p:cNvPr id="18" name="Text 16"/>
          <p:cNvSpPr txBox="1"/>
          <p:nvPr/>
        </p:nvSpPr>
        <p:spPr>
          <a:xfrm>
            <a:off x="6537960" y="2350008"/>
            <a:ext cx="4846320" cy="1280160"/>
          </a:xfrm>
          <a:prstGeom prst="rect">
            <a:avLst/>
          </a:prstGeom>
          <a:noFill/>
          <a:ln/>
        </p:spPr>
        <p:txBody>
          <a:bodyPr wrap="square" lIns="0" tIns="0" rIns="0" bIns="0" rtlCol="0" anchor="t"/>
          <a:lstStyle/>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당신은 '변호인' 입니다.</a:t>
            </a:r>
            <a:endParaRPr lang="en-US" sz="1050" dirty="0"/>
          </a:p>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같은 자료를 보고 억울할 만한 점,</a:t>
            </a:r>
            <a:endParaRPr lang="en-US" sz="1050" dirty="0"/>
          </a:p>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다르게 볼 수 있는 점을 짚는 것이</a:t>
            </a:r>
            <a:endParaRPr lang="en-US" sz="1050" dirty="0"/>
          </a:p>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맡은 몫입니다.</a:t>
            </a:r>
            <a:endParaRPr lang="en-US" sz="1050" dirty="0"/>
          </a:p>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무작정 감싸지는 마십시오.</a:t>
            </a:r>
            <a:endParaRPr lang="en-US" sz="1050" dirty="0"/>
          </a:p>
        </p:txBody>
      </p:sp>
      <p:sp>
        <p:nvSpPr>
          <p:cNvPr id="19" name="Shape 17"/>
          <p:cNvSpPr/>
          <p:nvPr/>
        </p:nvSpPr>
        <p:spPr>
          <a:xfrm>
            <a:off x="640080" y="3959352"/>
            <a:ext cx="5349240" cy="1874520"/>
          </a:xfrm>
          <a:prstGeom prst="roundRect">
            <a:avLst>
              <a:gd name="adj" fmla="val 2927"/>
            </a:avLst>
          </a:prstGeom>
          <a:solidFill>
            <a:srgbClr val="1E2430"/>
          </a:solidFill>
          <a:ln w="12700">
            <a:solidFill>
              <a:srgbClr val="2A2F3D"/>
            </a:solidFill>
            <a:prstDash val="solid"/>
          </a:ln>
        </p:spPr>
      </p:sp>
      <p:sp>
        <p:nvSpPr>
          <p:cNvPr id="20" name="Shape 18"/>
          <p:cNvSpPr/>
          <p:nvPr/>
        </p:nvSpPr>
        <p:spPr>
          <a:xfrm>
            <a:off x="640080" y="3959352"/>
            <a:ext cx="5349240" cy="365760"/>
          </a:xfrm>
          <a:prstGeom prst="roundRect">
            <a:avLst>
              <a:gd name="adj" fmla="val 15000"/>
            </a:avLst>
          </a:prstGeom>
          <a:solidFill>
            <a:srgbClr val="2A2F3D"/>
          </a:solidFill>
          <a:ln/>
        </p:spPr>
      </p:sp>
      <p:sp>
        <p:nvSpPr>
          <p:cNvPr id="21" name="Shape 19"/>
          <p:cNvSpPr/>
          <p:nvPr/>
        </p:nvSpPr>
        <p:spPr>
          <a:xfrm>
            <a:off x="786384" y="4087368"/>
            <a:ext cx="100584" cy="100584"/>
          </a:xfrm>
          <a:prstGeom prst="ellipse">
            <a:avLst/>
          </a:prstGeom>
          <a:solidFill>
            <a:srgbClr val="FF6B6B"/>
          </a:solidFill>
          <a:ln/>
        </p:spPr>
      </p:sp>
      <p:sp>
        <p:nvSpPr>
          <p:cNvPr id="22" name="Shape 20"/>
          <p:cNvSpPr/>
          <p:nvPr/>
        </p:nvSpPr>
        <p:spPr>
          <a:xfrm>
            <a:off x="969264" y="4087368"/>
            <a:ext cx="100584" cy="100584"/>
          </a:xfrm>
          <a:prstGeom prst="ellipse">
            <a:avLst/>
          </a:prstGeom>
          <a:solidFill>
            <a:srgbClr val="FFD43B"/>
          </a:solidFill>
          <a:ln/>
        </p:spPr>
      </p:sp>
      <p:sp>
        <p:nvSpPr>
          <p:cNvPr id="23" name="Shape 21"/>
          <p:cNvSpPr/>
          <p:nvPr/>
        </p:nvSpPr>
        <p:spPr>
          <a:xfrm>
            <a:off x="1152144" y="4087368"/>
            <a:ext cx="100584" cy="100584"/>
          </a:xfrm>
          <a:prstGeom prst="ellipse">
            <a:avLst/>
          </a:prstGeom>
          <a:solidFill>
            <a:srgbClr val="51CF66"/>
          </a:solidFill>
          <a:ln/>
        </p:spPr>
      </p:sp>
      <p:sp>
        <p:nvSpPr>
          <p:cNvPr id="24" name="Text 22"/>
          <p:cNvSpPr txBox="1"/>
          <p:nvPr/>
        </p:nvSpPr>
        <p:spPr>
          <a:xfrm>
            <a:off x="1417320" y="3959352"/>
            <a:ext cx="4434840" cy="365760"/>
          </a:xfrm>
          <a:prstGeom prst="rect">
            <a:avLst/>
          </a:prstGeom>
          <a:noFill/>
          <a:ln/>
        </p:spPr>
        <p:txBody>
          <a:bodyPr wrap="square" lIns="0" tIns="0" rIns="0" bIns="0" rtlCol="0" anchor="ctr"/>
          <a:lstStyle/>
          <a:p>
            <a:pPr indent="0" marL="0">
              <a:buNone/>
            </a:pPr>
            <a:r>
              <a:rPr lang="en-US" sz="1050" b="1" dirty="0">
                <a:solidFill>
                  <a:srgbClr val="B197FC"/>
                </a:solidFill>
                <a:latin typeface="Consolas" pitchFamily="34" charset="0"/>
                <a:ea typeface="Consolas" pitchFamily="34" charset="-122"/>
                <a:cs typeface="Consolas" pitchFamily="34" charset="-120"/>
              </a:rPr>
              <a:t>summarizer.md</a:t>
            </a:r>
            <a:endParaRPr lang="en-US" sz="1050" dirty="0"/>
          </a:p>
        </p:txBody>
      </p:sp>
      <p:sp>
        <p:nvSpPr>
          <p:cNvPr id="25" name="Text 23"/>
          <p:cNvSpPr txBox="1"/>
          <p:nvPr/>
        </p:nvSpPr>
        <p:spPr>
          <a:xfrm>
            <a:off x="914400" y="4434840"/>
            <a:ext cx="4846320" cy="1280160"/>
          </a:xfrm>
          <a:prstGeom prst="rect">
            <a:avLst/>
          </a:prstGeom>
          <a:noFill/>
          <a:ln/>
        </p:spPr>
        <p:txBody>
          <a:bodyPr wrap="square" lIns="0" tIns="0" rIns="0" bIns="0" rtlCol="0" anchor="t"/>
          <a:lstStyle/>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당신은 '정리 담당' 입니다.</a:t>
            </a:r>
            <a:endParaRPr lang="en-US" sz="1050" dirty="0"/>
          </a:p>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당신은 판결하지 않습니다.</a:t>
            </a:r>
            <a:endParaRPr lang="en-US" sz="1050" dirty="0"/>
          </a:p>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위험도와 권고는 이미 서버가</a:t>
            </a:r>
            <a:endParaRPr lang="en-US" sz="1050" dirty="0"/>
          </a:p>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규칙으로 계산했습니다.</a:t>
            </a:r>
            <a:endParaRPr lang="en-US" sz="1050" dirty="0"/>
          </a:p>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양쪽 말을 정리할 뿐입니다.</a:t>
            </a:r>
            <a:endParaRPr lang="en-US" sz="1050" dirty="0"/>
          </a:p>
        </p:txBody>
      </p:sp>
      <p:sp>
        <p:nvSpPr>
          <p:cNvPr id="26" name="Shape 24"/>
          <p:cNvSpPr/>
          <p:nvPr/>
        </p:nvSpPr>
        <p:spPr>
          <a:xfrm>
            <a:off x="6263640" y="3959352"/>
            <a:ext cx="5349240" cy="1874520"/>
          </a:xfrm>
          <a:prstGeom prst="roundRect">
            <a:avLst>
              <a:gd name="adj" fmla="val 2927"/>
            </a:avLst>
          </a:prstGeom>
          <a:solidFill>
            <a:srgbClr val="1E2430"/>
          </a:solidFill>
          <a:ln w="12700">
            <a:solidFill>
              <a:srgbClr val="2A2F3D"/>
            </a:solidFill>
            <a:prstDash val="solid"/>
          </a:ln>
        </p:spPr>
      </p:sp>
      <p:sp>
        <p:nvSpPr>
          <p:cNvPr id="27" name="Shape 25"/>
          <p:cNvSpPr/>
          <p:nvPr/>
        </p:nvSpPr>
        <p:spPr>
          <a:xfrm>
            <a:off x="6263640" y="3959352"/>
            <a:ext cx="5349240" cy="365760"/>
          </a:xfrm>
          <a:prstGeom prst="roundRect">
            <a:avLst>
              <a:gd name="adj" fmla="val 15000"/>
            </a:avLst>
          </a:prstGeom>
          <a:solidFill>
            <a:srgbClr val="2A2F3D"/>
          </a:solidFill>
          <a:ln/>
        </p:spPr>
      </p:sp>
      <p:sp>
        <p:nvSpPr>
          <p:cNvPr id="28" name="Shape 26"/>
          <p:cNvSpPr/>
          <p:nvPr/>
        </p:nvSpPr>
        <p:spPr>
          <a:xfrm>
            <a:off x="6409944" y="4087368"/>
            <a:ext cx="100584" cy="100584"/>
          </a:xfrm>
          <a:prstGeom prst="ellipse">
            <a:avLst/>
          </a:prstGeom>
          <a:solidFill>
            <a:srgbClr val="FF6B6B"/>
          </a:solidFill>
          <a:ln/>
        </p:spPr>
      </p:sp>
      <p:sp>
        <p:nvSpPr>
          <p:cNvPr id="29" name="Shape 27"/>
          <p:cNvSpPr/>
          <p:nvPr/>
        </p:nvSpPr>
        <p:spPr>
          <a:xfrm>
            <a:off x="6592824" y="4087368"/>
            <a:ext cx="100584" cy="100584"/>
          </a:xfrm>
          <a:prstGeom prst="ellipse">
            <a:avLst/>
          </a:prstGeom>
          <a:solidFill>
            <a:srgbClr val="FFD43B"/>
          </a:solidFill>
          <a:ln/>
        </p:spPr>
      </p:sp>
      <p:sp>
        <p:nvSpPr>
          <p:cNvPr id="30" name="Shape 28"/>
          <p:cNvSpPr/>
          <p:nvPr/>
        </p:nvSpPr>
        <p:spPr>
          <a:xfrm>
            <a:off x="6775704" y="4087368"/>
            <a:ext cx="100584" cy="100584"/>
          </a:xfrm>
          <a:prstGeom prst="ellipse">
            <a:avLst/>
          </a:prstGeom>
          <a:solidFill>
            <a:srgbClr val="51CF66"/>
          </a:solidFill>
          <a:ln/>
        </p:spPr>
      </p:sp>
      <p:sp>
        <p:nvSpPr>
          <p:cNvPr id="31" name="Text 29"/>
          <p:cNvSpPr txBox="1"/>
          <p:nvPr/>
        </p:nvSpPr>
        <p:spPr>
          <a:xfrm>
            <a:off x="7040880" y="3959352"/>
            <a:ext cx="4434840" cy="365760"/>
          </a:xfrm>
          <a:prstGeom prst="rect">
            <a:avLst/>
          </a:prstGeom>
          <a:noFill/>
          <a:ln/>
        </p:spPr>
        <p:txBody>
          <a:bodyPr wrap="square" lIns="0" tIns="0" rIns="0" bIns="0" rtlCol="0" anchor="ctr"/>
          <a:lstStyle/>
          <a:p>
            <a:pPr indent="0" marL="0">
              <a:buNone/>
            </a:pPr>
            <a:r>
              <a:rPr lang="en-US" sz="1050" b="1" dirty="0">
                <a:solidFill>
                  <a:srgbClr val="FFB066"/>
                </a:solidFill>
                <a:latin typeface="Consolas" pitchFamily="34" charset="0"/>
                <a:ea typeface="Consolas" pitchFamily="34" charset="-122"/>
                <a:cs typeface="Consolas" pitchFamily="34" charset="-120"/>
              </a:rPr>
              <a:t>post_inspector.md</a:t>
            </a:r>
            <a:endParaRPr lang="en-US" sz="1050" dirty="0"/>
          </a:p>
        </p:txBody>
      </p:sp>
      <p:sp>
        <p:nvSpPr>
          <p:cNvPr id="32" name="Text 30"/>
          <p:cNvSpPr txBox="1"/>
          <p:nvPr/>
        </p:nvSpPr>
        <p:spPr>
          <a:xfrm>
            <a:off x="6537960" y="4434840"/>
            <a:ext cx="4846320" cy="1280160"/>
          </a:xfrm>
          <a:prstGeom prst="rect">
            <a:avLst/>
          </a:prstGeom>
          <a:noFill/>
          <a:ln/>
        </p:spPr>
        <p:txBody>
          <a:bodyPr wrap="square" lIns="0" tIns="0" rIns="0" bIns="0" rtlCol="0" anchor="t"/>
          <a:lstStyle/>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당신은 '매물 조사관' 입니다.</a:t>
            </a:r>
            <a:endParaRPr lang="en-US" sz="1050" dirty="0"/>
          </a:p>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신고된 매물 자체만 살펴봅니다.</a:t>
            </a:r>
            <a:endParaRPr lang="en-US" sz="1050" dirty="0"/>
          </a:p>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판매자 이력이나 관계는</a:t>
            </a:r>
            <a:endParaRPr lang="en-US" sz="1050" dirty="0"/>
          </a:p>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다른 조사관이 맡으니</a:t>
            </a:r>
            <a:endParaRPr lang="en-US" sz="1050" dirty="0"/>
          </a:p>
          <a:p>
            <a:pPr indent="0" marL="0">
              <a:lnSpc>
                <a:spcPct val="118000"/>
              </a:lnSpc>
              <a:buNone/>
            </a:pPr>
            <a:r>
              <a:rPr lang="en-US" sz="1050" dirty="0">
                <a:solidFill>
                  <a:srgbClr val="D7DBE3"/>
                </a:solidFill>
                <a:latin typeface="Consolas" pitchFamily="34" charset="0"/>
                <a:ea typeface="Consolas" pitchFamily="34" charset="-122"/>
                <a:cs typeface="Consolas" pitchFamily="34" charset="-120"/>
              </a:rPr>
              <a:t>신경 쓰지 마십시오.</a:t>
            </a:r>
            <a:endParaRPr lang="en-US" sz="1050" dirty="0"/>
          </a:p>
        </p:txBody>
      </p:sp>
      <p:sp>
        <p:nvSpPr>
          <p:cNvPr id="33" name="Text 31"/>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MULTI-AGENT ⑤</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검사 · 변호인 · 판사를 왜 두었나</a:t>
            </a:r>
            <a:endParaRPr lang="en-US" sz="2800" dirty="0"/>
          </a:p>
        </p:txBody>
      </p:sp>
      <p:sp>
        <p:nvSpPr>
          <p:cNvPr id="4" name="Text 2"/>
          <p:cNvSpPr txBox="1"/>
          <p:nvPr/>
        </p:nvSpPr>
        <p:spPr>
          <a:xfrm>
            <a:off x="548640" y="1371600"/>
            <a:ext cx="11155680" cy="365760"/>
          </a:xfrm>
          <a:prstGeom prst="rect">
            <a:avLst/>
          </a:prstGeom>
          <a:noFill/>
          <a:ln/>
        </p:spPr>
        <p:txBody>
          <a:bodyPr wrap="square" lIns="0" tIns="0" rIns="0" bIns="0" rtlCol="0" anchor="ctr"/>
          <a:lstStyle/>
          <a:p>
            <a:pPr indent="0" marL="0">
              <a:buNone/>
            </a:pPr>
            <a:r>
              <a:rPr lang="en-US" sz="1300" dirty="0">
                <a:solidFill>
                  <a:srgbClr val="6B7280"/>
                </a:solidFill>
                <a:latin typeface="Malgun Gothic" pitchFamily="34" charset="0"/>
                <a:ea typeface="Malgun Gothic" pitchFamily="34" charset="-122"/>
                <a:cs typeface="Malgun Gothic" pitchFamily="34" charset="-120"/>
              </a:rPr>
              <a:t>한 명이 조사하면 편향된다('선입금' 발견 → 이후 전부 사기로 읽음). 그래서 재판처럼 역할을 나눠 서로 견제한다.</a:t>
            </a:r>
            <a:endParaRPr lang="en-US" sz="1300" dirty="0"/>
          </a:p>
        </p:txBody>
      </p:sp>
      <p:sp>
        <p:nvSpPr>
          <p:cNvPr id="5" name="Shape 3"/>
          <p:cNvSpPr/>
          <p:nvPr/>
        </p:nvSpPr>
        <p:spPr>
          <a:xfrm>
            <a:off x="640080" y="1874520"/>
            <a:ext cx="5349240" cy="1234440"/>
          </a:xfrm>
          <a:prstGeom prst="roundRect">
            <a:avLst>
              <a:gd name="adj" fmla="val 6667"/>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6" name="Shape 4"/>
          <p:cNvSpPr/>
          <p:nvPr/>
        </p:nvSpPr>
        <p:spPr>
          <a:xfrm>
            <a:off x="640080" y="1874520"/>
            <a:ext cx="1554480" cy="1234440"/>
          </a:xfrm>
          <a:prstGeom prst="roundRect">
            <a:avLst>
              <a:gd name="adj" fmla="val 6667"/>
            </a:avLst>
          </a:prstGeom>
          <a:solidFill>
            <a:srgbClr val="FF6B6B"/>
          </a:solidFill>
          <a:ln/>
        </p:spPr>
      </p:sp>
      <p:sp>
        <p:nvSpPr>
          <p:cNvPr id="7" name="Text 5"/>
          <p:cNvSpPr txBox="1"/>
          <p:nvPr/>
        </p:nvSpPr>
        <p:spPr>
          <a:xfrm>
            <a:off x="640080" y="1874520"/>
            <a:ext cx="1554480" cy="123444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검사</a:t>
            </a:r>
            <a:endParaRPr lang="en-US" sz="1600" dirty="0"/>
          </a:p>
        </p:txBody>
      </p:sp>
      <p:sp>
        <p:nvSpPr>
          <p:cNvPr id="8" name="Text 6"/>
          <p:cNvSpPr txBox="1"/>
          <p:nvPr/>
        </p:nvSpPr>
        <p:spPr>
          <a:xfrm>
            <a:off x="2377440" y="2075688"/>
            <a:ext cx="3474720" cy="320040"/>
          </a:xfrm>
          <a:prstGeom prst="rect">
            <a:avLst/>
          </a:prstGeom>
          <a:noFill/>
          <a:ln/>
        </p:spPr>
        <p:txBody>
          <a:bodyPr wrap="square" lIns="0" tIns="0" rIns="0" bIns="0" rtlCol="0" anchor="ctr"/>
          <a:lstStyle/>
          <a:p>
            <a:pPr indent="0" marL="0">
              <a:buNone/>
            </a:pPr>
            <a:r>
              <a:rPr lang="en-US" sz="1150" b="1" dirty="0">
                <a:solidFill>
                  <a:srgbClr val="6B7280"/>
                </a:solidFill>
                <a:latin typeface="Consolas" pitchFamily="34" charset="0"/>
                <a:ea typeface="Consolas" pitchFamily="34" charset="-122"/>
                <a:cs typeface="Consolas" pitchFamily="34" charset="-120"/>
              </a:rPr>
              <a:t>prosecutor</a:t>
            </a:r>
            <a:endParaRPr lang="en-US" sz="1150" dirty="0"/>
          </a:p>
        </p:txBody>
      </p:sp>
      <p:sp>
        <p:nvSpPr>
          <p:cNvPr id="9" name="Text 7"/>
          <p:cNvSpPr txBox="1"/>
          <p:nvPr/>
        </p:nvSpPr>
        <p:spPr>
          <a:xfrm>
            <a:off x="2377440" y="2423160"/>
            <a:ext cx="3520440" cy="594360"/>
          </a:xfrm>
          <a:prstGeom prst="rect">
            <a:avLst/>
          </a:prstGeom>
          <a:noFill/>
          <a:ln/>
        </p:spPr>
        <p:txBody>
          <a:bodyPr wrap="square" lIns="0" tIns="0" rIns="0" bIns="0" rtlCol="0" anchor="t"/>
          <a:lstStyle/>
          <a:p>
            <a:pPr indent="0" marL="0">
              <a:lnSpc>
                <a:spcPct val="105000"/>
              </a:lnSpc>
              <a:buNone/>
            </a:pPr>
            <a:r>
              <a:rPr lang="en-US" sz="1200" dirty="0">
                <a:solidFill>
                  <a:srgbClr val="1F2430"/>
                </a:solidFill>
                <a:latin typeface="Malgun Gothic" pitchFamily="34" charset="0"/>
                <a:ea typeface="Malgun Gothic" pitchFamily="34" charset="-122"/>
                <a:cs typeface="Malgun Gothic" pitchFamily="34" charset="-120"/>
              </a:rPr>
              <a:t>위험한 쪽을 짚어 주장</a:t>
            </a:r>
            <a:endParaRPr lang="en-US" sz="1200" dirty="0"/>
          </a:p>
        </p:txBody>
      </p:sp>
      <p:sp>
        <p:nvSpPr>
          <p:cNvPr id="10" name="Shape 8"/>
          <p:cNvSpPr/>
          <p:nvPr/>
        </p:nvSpPr>
        <p:spPr>
          <a:xfrm>
            <a:off x="6263640" y="1874520"/>
            <a:ext cx="5349240" cy="1234440"/>
          </a:xfrm>
          <a:prstGeom prst="roundRect">
            <a:avLst>
              <a:gd name="adj" fmla="val 6667"/>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1" name="Shape 9"/>
          <p:cNvSpPr/>
          <p:nvPr/>
        </p:nvSpPr>
        <p:spPr>
          <a:xfrm>
            <a:off x="6263640" y="1874520"/>
            <a:ext cx="1554480" cy="1234440"/>
          </a:xfrm>
          <a:prstGeom prst="roundRect">
            <a:avLst>
              <a:gd name="adj" fmla="val 6667"/>
            </a:avLst>
          </a:prstGeom>
          <a:solidFill>
            <a:srgbClr val="4DABF7"/>
          </a:solidFill>
          <a:ln/>
        </p:spPr>
      </p:sp>
      <p:sp>
        <p:nvSpPr>
          <p:cNvPr id="12" name="Text 10"/>
          <p:cNvSpPr txBox="1"/>
          <p:nvPr/>
        </p:nvSpPr>
        <p:spPr>
          <a:xfrm>
            <a:off x="6263640" y="1874520"/>
            <a:ext cx="1554480" cy="123444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변호인</a:t>
            </a:r>
            <a:endParaRPr lang="en-US" sz="1600" dirty="0"/>
          </a:p>
        </p:txBody>
      </p:sp>
      <p:sp>
        <p:nvSpPr>
          <p:cNvPr id="13" name="Text 11"/>
          <p:cNvSpPr txBox="1"/>
          <p:nvPr/>
        </p:nvSpPr>
        <p:spPr>
          <a:xfrm>
            <a:off x="8001000" y="2075688"/>
            <a:ext cx="3474720" cy="320040"/>
          </a:xfrm>
          <a:prstGeom prst="rect">
            <a:avLst/>
          </a:prstGeom>
          <a:noFill/>
          <a:ln/>
        </p:spPr>
        <p:txBody>
          <a:bodyPr wrap="square" lIns="0" tIns="0" rIns="0" bIns="0" rtlCol="0" anchor="ctr"/>
          <a:lstStyle/>
          <a:p>
            <a:pPr indent="0" marL="0">
              <a:buNone/>
            </a:pPr>
            <a:r>
              <a:rPr lang="en-US" sz="1150" b="1" dirty="0">
                <a:solidFill>
                  <a:srgbClr val="6B7280"/>
                </a:solidFill>
                <a:latin typeface="Consolas" pitchFamily="34" charset="0"/>
                <a:ea typeface="Consolas" pitchFamily="34" charset="-122"/>
                <a:cs typeface="Consolas" pitchFamily="34" charset="-120"/>
              </a:rPr>
              <a:t>defender</a:t>
            </a:r>
            <a:endParaRPr lang="en-US" sz="1150" dirty="0"/>
          </a:p>
        </p:txBody>
      </p:sp>
      <p:sp>
        <p:nvSpPr>
          <p:cNvPr id="14" name="Text 12"/>
          <p:cNvSpPr txBox="1"/>
          <p:nvPr/>
        </p:nvSpPr>
        <p:spPr>
          <a:xfrm>
            <a:off x="8001000" y="2423160"/>
            <a:ext cx="3520440" cy="594360"/>
          </a:xfrm>
          <a:prstGeom prst="rect">
            <a:avLst/>
          </a:prstGeom>
          <a:noFill/>
          <a:ln/>
        </p:spPr>
        <p:txBody>
          <a:bodyPr wrap="square" lIns="0" tIns="0" rIns="0" bIns="0" rtlCol="0" anchor="t"/>
          <a:lstStyle/>
          <a:p>
            <a:pPr indent="0" marL="0">
              <a:lnSpc>
                <a:spcPct val="105000"/>
              </a:lnSpc>
              <a:buNone/>
            </a:pPr>
            <a:r>
              <a:rPr lang="en-US" sz="1200" dirty="0">
                <a:solidFill>
                  <a:srgbClr val="1F2430"/>
                </a:solidFill>
                <a:latin typeface="Malgun Gothic" pitchFamily="34" charset="0"/>
                <a:ea typeface="Malgun Gothic" pitchFamily="34" charset="-122"/>
                <a:cs typeface="Malgun Gothic" pitchFamily="34" charset="-120"/>
              </a:rPr>
              <a:t>억울할 쪽을 반론 → 무고 방지</a:t>
            </a:r>
            <a:endParaRPr lang="en-US" sz="1200" dirty="0"/>
          </a:p>
        </p:txBody>
      </p:sp>
      <p:sp>
        <p:nvSpPr>
          <p:cNvPr id="15" name="Shape 13"/>
          <p:cNvSpPr/>
          <p:nvPr/>
        </p:nvSpPr>
        <p:spPr>
          <a:xfrm>
            <a:off x="640080" y="3291840"/>
            <a:ext cx="5349240" cy="1234440"/>
          </a:xfrm>
          <a:prstGeom prst="roundRect">
            <a:avLst>
              <a:gd name="adj" fmla="val 6667"/>
            </a:avLst>
          </a:prstGeom>
          <a:solidFill>
            <a:srgbClr val="EBFBEE"/>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6" name="Shape 14"/>
          <p:cNvSpPr/>
          <p:nvPr/>
        </p:nvSpPr>
        <p:spPr>
          <a:xfrm>
            <a:off x="640080" y="3291840"/>
            <a:ext cx="1554480" cy="1234440"/>
          </a:xfrm>
          <a:prstGeom prst="roundRect">
            <a:avLst>
              <a:gd name="adj" fmla="val 6667"/>
            </a:avLst>
          </a:prstGeom>
          <a:solidFill>
            <a:srgbClr val="2F9E44"/>
          </a:solidFill>
          <a:ln/>
        </p:spPr>
      </p:sp>
      <p:sp>
        <p:nvSpPr>
          <p:cNvPr id="17" name="Text 15"/>
          <p:cNvSpPr txBox="1"/>
          <p:nvPr/>
        </p:nvSpPr>
        <p:spPr>
          <a:xfrm>
            <a:off x="640080" y="3291840"/>
            <a:ext cx="1554480" cy="123444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판사</a:t>
            </a:r>
            <a:endParaRPr lang="en-US" sz="1600" dirty="0"/>
          </a:p>
        </p:txBody>
      </p:sp>
      <p:sp>
        <p:nvSpPr>
          <p:cNvPr id="18" name="Text 16"/>
          <p:cNvSpPr txBox="1"/>
          <p:nvPr/>
        </p:nvSpPr>
        <p:spPr>
          <a:xfrm>
            <a:off x="2377440" y="3493008"/>
            <a:ext cx="3474720" cy="320040"/>
          </a:xfrm>
          <a:prstGeom prst="rect">
            <a:avLst/>
          </a:prstGeom>
          <a:noFill/>
          <a:ln/>
        </p:spPr>
        <p:txBody>
          <a:bodyPr wrap="square" lIns="0" tIns="0" rIns="0" bIns="0" rtlCol="0" anchor="ctr"/>
          <a:lstStyle/>
          <a:p>
            <a:pPr indent="0" marL="0">
              <a:buNone/>
            </a:pPr>
            <a:r>
              <a:rPr lang="en-US" sz="1150" b="1" dirty="0">
                <a:solidFill>
                  <a:srgbClr val="6B7280"/>
                </a:solidFill>
                <a:latin typeface="Consolas" pitchFamily="34" charset="0"/>
                <a:ea typeface="Consolas" pitchFamily="34" charset="-122"/>
                <a:cs typeface="Consolas" pitchFamily="34" charset="-120"/>
              </a:rPr>
              <a:t>risk_score (규칙)</a:t>
            </a:r>
            <a:endParaRPr lang="en-US" sz="1150" dirty="0"/>
          </a:p>
        </p:txBody>
      </p:sp>
      <p:sp>
        <p:nvSpPr>
          <p:cNvPr id="19" name="Text 17"/>
          <p:cNvSpPr txBox="1"/>
          <p:nvPr/>
        </p:nvSpPr>
        <p:spPr>
          <a:xfrm>
            <a:off x="2377440" y="3840480"/>
            <a:ext cx="3520440" cy="594360"/>
          </a:xfrm>
          <a:prstGeom prst="rect">
            <a:avLst/>
          </a:prstGeom>
          <a:noFill/>
          <a:ln/>
        </p:spPr>
        <p:txBody>
          <a:bodyPr wrap="square" lIns="0" tIns="0" rIns="0" bIns="0" rtlCol="0" anchor="t"/>
          <a:lstStyle/>
          <a:p>
            <a:pPr indent="0" marL="0">
              <a:lnSpc>
                <a:spcPct val="105000"/>
              </a:lnSpc>
              <a:buNone/>
            </a:pPr>
            <a:r>
              <a:rPr lang="en-US" sz="1200" dirty="0">
                <a:solidFill>
                  <a:srgbClr val="1F2430"/>
                </a:solidFill>
                <a:latin typeface="Malgun Gothic" pitchFamily="34" charset="0"/>
                <a:ea typeface="Malgun Gothic" pitchFamily="34" charset="-122"/>
                <a:cs typeface="Malgun Gothic" pitchFamily="34" charset="-120"/>
              </a:rPr>
              <a:t>점수로 위험도 판결 ★AI 아님</a:t>
            </a:r>
            <a:endParaRPr lang="en-US" sz="1200" dirty="0"/>
          </a:p>
        </p:txBody>
      </p:sp>
      <p:sp>
        <p:nvSpPr>
          <p:cNvPr id="20" name="Shape 18"/>
          <p:cNvSpPr/>
          <p:nvPr/>
        </p:nvSpPr>
        <p:spPr>
          <a:xfrm>
            <a:off x="6263640" y="3291840"/>
            <a:ext cx="5349240" cy="1234440"/>
          </a:xfrm>
          <a:prstGeom prst="roundRect">
            <a:avLst>
              <a:gd name="adj" fmla="val 6667"/>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1" name="Shape 19"/>
          <p:cNvSpPr/>
          <p:nvPr/>
        </p:nvSpPr>
        <p:spPr>
          <a:xfrm>
            <a:off x="6263640" y="3291840"/>
            <a:ext cx="1554480" cy="1234440"/>
          </a:xfrm>
          <a:prstGeom prst="roundRect">
            <a:avLst>
              <a:gd name="adj" fmla="val 6667"/>
            </a:avLst>
          </a:prstGeom>
          <a:solidFill>
            <a:srgbClr val="6B4FBB"/>
          </a:solidFill>
          <a:ln/>
        </p:spPr>
      </p:sp>
      <p:sp>
        <p:nvSpPr>
          <p:cNvPr id="22" name="Text 20"/>
          <p:cNvSpPr txBox="1"/>
          <p:nvPr/>
        </p:nvSpPr>
        <p:spPr>
          <a:xfrm>
            <a:off x="6263640" y="3291840"/>
            <a:ext cx="1554480" cy="123444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서기</a:t>
            </a:r>
            <a:endParaRPr lang="en-US" sz="1600" dirty="0"/>
          </a:p>
        </p:txBody>
      </p:sp>
      <p:sp>
        <p:nvSpPr>
          <p:cNvPr id="23" name="Text 21"/>
          <p:cNvSpPr txBox="1"/>
          <p:nvPr/>
        </p:nvSpPr>
        <p:spPr>
          <a:xfrm>
            <a:off x="8001000" y="3493008"/>
            <a:ext cx="3474720" cy="320040"/>
          </a:xfrm>
          <a:prstGeom prst="rect">
            <a:avLst/>
          </a:prstGeom>
          <a:noFill/>
          <a:ln/>
        </p:spPr>
        <p:txBody>
          <a:bodyPr wrap="square" lIns="0" tIns="0" rIns="0" bIns="0" rtlCol="0" anchor="ctr"/>
          <a:lstStyle/>
          <a:p>
            <a:pPr indent="0" marL="0">
              <a:buNone/>
            </a:pPr>
            <a:r>
              <a:rPr lang="en-US" sz="1150" b="1" dirty="0">
                <a:solidFill>
                  <a:srgbClr val="6B7280"/>
                </a:solidFill>
                <a:latin typeface="Consolas" pitchFamily="34" charset="0"/>
                <a:ea typeface="Consolas" pitchFamily="34" charset="-122"/>
                <a:cs typeface="Consolas" pitchFamily="34" charset="-120"/>
              </a:rPr>
              <a:t>summarizer</a:t>
            </a:r>
            <a:endParaRPr lang="en-US" sz="1150" dirty="0"/>
          </a:p>
        </p:txBody>
      </p:sp>
      <p:sp>
        <p:nvSpPr>
          <p:cNvPr id="24" name="Text 22"/>
          <p:cNvSpPr txBox="1"/>
          <p:nvPr/>
        </p:nvSpPr>
        <p:spPr>
          <a:xfrm>
            <a:off x="8001000" y="3840480"/>
            <a:ext cx="3520440" cy="594360"/>
          </a:xfrm>
          <a:prstGeom prst="rect">
            <a:avLst/>
          </a:prstGeom>
          <a:noFill/>
          <a:ln/>
        </p:spPr>
        <p:txBody>
          <a:bodyPr wrap="square" lIns="0" tIns="0" rIns="0" bIns="0" rtlCol="0" anchor="t"/>
          <a:lstStyle/>
          <a:p>
            <a:pPr indent="0" marL="0">
              <a:lnSpc>
                <a:spcPct val="105000"/>
              </a:lnSpc>
              <a:buNone/>
            </a:pPr>
            <a:r>
              <a:rPr lang="en-US" sz="1200" dirty="0">
                <a:solidFill>
                  <a:srgbClr val="1F2430"/>
                </a:solidFill>
                <a:latin typeface="Malgun Gothic" pitchFamily="34" charset="0"/>
                <a:ea typeface="Malgun Gothic" pitchFamily="34" charset="-122"/>
                <a:cs typeface="Malgun Gothic" pitchFamily="34" charset="-120"/>
              </a:rPr>
              <a:t>양쪽 말 정리 (판결 X)</a:t>
            </a:r>
            <a:endParaRPr lang="en-US" sz="1200" dirty="0"/>
          </a:p>
        </p:txBody>
      </p:sp>
      <p:sp>
        <p:nvSpPr>
          <p:cNvPr id="25" name="Shape 23"/>
          <p:cNvSpPr/>
          <p:nvPr/>
        </p:nvSpPr>
        <p:spPr>
          <a:xfrm>
            <a:off x="640080" y="4754880"/>
            <a:ext cx="11018520" cy="1280160"/>
          </a:xfrm>
          <a:prstGeom prst="roundRect">
            <a:avLst>
              <a:gd name="adj" fmla="val 6429"/>
            </a:avLst>
          </a:prstGeom>
          <a:solidFill>
            <a:srgbClr val="1F2430"/>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6" name="Text 24"/>
          <p:cNvSpPr txBox="1"/>
          <p:nvPr/>
        </p:nvSpPr>
        <p:spPr>
          <a:xfrm>
            <a:off x="868680" y="4864608"/>
            <a:ext cx="10515600" cy="320040"/>
          </a:xfrm>
          <a:prstGeom prst="rect">
            <a:avLst/>
          </a:prstGeom>
          <a:noFill/>
          <a:ln/>
        </p:spPr>
        <p:txBody>
          <a:bodyPr wrap="square" lIns="0" tIns="0" rIns="0" bIns="0" rtlCol="0" anchor="ctr"/>
          <a:lstStyle/>
          <a:p>
            <a:pPr indent="0" marL="0">
              <a:buNone/>
            </a:pPr>
            <a:r>
              <a:rPr lang="en-US" sz="1400" b="1" dirty="0">
                <a:solidFill>
                  <a:srgbClr val="FF922B"/>
                </a:solidFill>
                <a:latin typeface="Malgun Gothic" pitchFamily="34" charset="0"/>
                <a:ea typeface="Malgun Gothic" pitchFamily="34" charset="-122"/>
                <a:cs typeface="Malgun Gothic" pitchFamily="34" charset="-120"/>
              </a:rPr>
              <a:t>★ 핵심 — '판사'는 AI가 아니다</a:t>
            </a:r>
            <a:endParaRPr lang="en-US" sz="1400" dirty="0"/>
          </a:p>
        </p:txBody>
      </p:sp>
      <p:sp>
        <p:nvSpPr>
          <p:cNvPr id="27" name="Text 25"/>
          <p:cNvSpPr txBox="1"/>
          <p:nvPr/>
        </p:nvSpPr>
        <p:spPr>
          <a:xfrm>
            <a:off x="868680" y="5230368"/>
            <a:ext cx="10515600" cy="731520"/>
          </a:xfrm>
          <a:prstGeom prst="rect">
            <a:avLst/>
          </a:prstGeom>
          <a:noFill/>
          <a:ln/>
        </p:spPr>
        <p:txBody>
          <a:bodyPr wrap="square" lIns="0" tIns="0" rIns="0" bIns="0" rtlCol="0" anchor="t"/>
          <a:lstStyle/>
          <a:p>
            <a:pPr indent="0" marL="0">
              <a:lnSpc>
                <a:spcPct val="110000"/>
              </a:lnSpc>
              <a:buNone/>
            </a:pPr>
            <a:r>
              <a:rPr lang="en-US" sz="1250" dirty="0">
                <a:solidFill>
                  <a:srgbClr val="D7DBE3"/>
                </a:solidFill>
                <a:latin typeface="Malgun Gothic" pitchFamily="34" charset="0"/>
                <a:ea typeface="Malgun Gothic" pitchFamily="34" charset="-122"/>
                <a:cs typeface="Malgun Gothic" pitchFamily="34" charset="-120"/>
              </a:rPr>
              <a:t>검사·변호인은 AI(gemma3)지만, 최종 위험도는 AI가 아니라 규칙 엔진(risk_score)이 점수로 계산한다. 그래서 같은 자료면 항상 같은 판결이 나온다.</a:t>
            </a:r>
            <a:endParaRPr lang="en-US" sz="1250" dirty="0"/>
          </a:p>
        </p:txBody>
      </p:sp>
      <p:sp>
        <p:nvSpPr>
          <p:cNvPr id="28" name="Text 26"/>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2430"/>
        </a:solidFill>
      </p:bgPr>
    </p:bg>
    <p:spTree>
      <p:nvGrpSpPr>
        <p:cNvPr id="1" name=""/>
        <p:cNvGrpSpPr/>
        <p:nvPr/>
      </p:nvGrpSpPr>
      <p:grpSpPr>
        <a:xfrm>
          <a:off x="0" y="0"/>
          <a:ext cx="0" cy="0"/>
          <a:chOff x="0" y="0"/>
          <a:chExt cx="0" cy="0"/>
        </a:xfrm>
      </p:grpSpPr>
      <p:sp>
        <p:nvSpPr>
          <p:cNvPr id="2" name="Shape 0"/>
          <p:cNvSpPr/>
          <p:nvPr/>
        </p:nvSpPr>
        <p:spPr>
          <a:xfrm>
            <a:off x="9692640" y="-1188720"/>
            <a:ext cx="3840480" cy="3840480"/>
          </a:xfrm>
          <a:prstGeom prst="ellipse">
            <a:avLst/>
          </a:prstGeom>
          <a:solidFill>
            <a:srgbClr val="E8590C"/>
          </a:solidFill>
          <a:ln/>
        </p:spPr>
      </p:sp>
      <p:sp>
        <p:nvSpPr>
          <p:cNvPr id="3" name="Shape 1"/>
          <p:cNvSpPr/>
          <p:nvPr/>
        </p:nvSpPr>
        <p:spPr>
          <a:xfrm>
            <a:off x="10972800" y="4572000"/>
            <a:ext cx="2560320" cy="2560320"/>
          </a:xfrm>
          <a:prstGeom prst="ellipse">
            <a:avLst/>
          </a:prstGeom>
          <a:solidFill>
            <a:srgbClr val="2F9E44"/>
          </a:solidFill>
          <a:ln/>
        </p:spPr>
      </p:sp>
      <p:sp>
        <p:nvSpPr>
          <p:cNvPr id="4" name="Text 2"/>
          <p:cNvSpPr txBox="1"/>
          <p:nvPr/>
        </p:nvSpPr>
        <p:spPr>
          <a:xfrm>
            <a:off x="731520" y="2468880"/>
            <a:ext cx="8229600" cy="365760"/>
          </a:xfrm>
          <a:prstGeom prst="rect">
            <a:avLst/>
          </a:prstGeom>
          <a:noFill/>
          <a:ln/>
        </p:spPr>
        <p:txBody>
          <a:bodyPr wrap="square" lIns="0" tIns="0" rIns="0" bIns="0" rtlCol="0" anchor="ctr"/>
          <a:lstStyle/>
          <a:p>
            <a:pPr indent="0" marL="0">
              <a:buNone/>
            </a:pPr>
            <a:r>
              <a:rPr lang="en-US" sz="1500" b="1" spc="200" kern="0" dirty="0">
                <a:solidFill>
                  <a:srgbClr val="FF922B"/>
                </a:solidFill>
                <a:latin typeface="Malgun Gothic" pitchFamily="34" charset="0"/>
                <a:ea typeface="Malgun Gothic" pitchFamily="34" charset="-122"/>
                <a:cs typeface="Malgun Gothic" pitchFamily="34" charset="-120"/>
              </a:rPr>
              <a:t>PART 4 · CORE</a:t>
            </a:r>
            <a:endParaRPr lang="en-US" sz="1500" dirty="0"/>
          </a:p>
        </p:txBody>
      </p:sp>
      <p:sp>
        <p:nvSpPr>
          <p:cNvPr id="5" name="Text 3"/>
          <p:cNvSpPr txBox="1"/>
          <p:nvPr/>
        </p:nvSpPr>
        <p:spPr>
          <a:xfrm>
            <a:off x="694944" y="2880360"/>
            <a:ext cx="9144000" cy="914400"/>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사기 방지</a:t>
            </a:r>
            <a:endParaRPr lang="en-US" sz="4400" dirty="0"/>
          </a:p>
        </p:txBody>
      </p:sp>
      <p:sp>
        <p:nvSpPr>
          <p:cNvPr id="6" name="Shape 4"/>
          <p:cNvSpPr/>
          <p:nvPr/>
        </p:nvSpPr>
        <p:spPr>
          <a:xfrm>
            <a:off x="777240" y="3977640"/>
            <a:ext cx="2011680" cy="0"/>
          </a:xfrm>
          <a:prstGeom prst="line">
            <a:avLst/>
          </a:prstGeom>
          <a:noFill/>
          <a:ln w="31750">
            <a:solidFill>
              <a:srgbClr val="FF922B"/>
            </a:solidFill>
            <a:prstDash val="solid"/>
          </a:ln>
        </p:spPr>
      </p:sp>
      <p:sp>
        <p:nvSpPr>
          <p:cNvPr id="7" name="Text 5"/>
          <p:cNvSpPr txBox="1"/>
          <p:nvPr/>
        </p:nvSpPr>
        <p:spPr>
          <a:xfrm>
            <a:off x="731520" y="4160520"/>
            <a:ext cx="8686800" cy="457200"/>
          </a:xfrm>
          <a:prstGeom prst="rect">
            <a:avLst/>
          </a:prstGeom>
          <a:noFill/>
          <a:ln/>
        </p:spPr>
        <p:txBody>
          <a:bodyPr wrap="square" lIns="0" tIns="0" rIns="0" bIns="0" rtlCol="0" anchor="ctr"/>
          <a:lstStyle/>
          <a:p>
            <a:pPr indent="0" marL="0">
              <a:buNone/>
            </a:pPr>
            <a:r>
              <a:rPr lang="en-US" sz="1500" dirty="0">
                <a:solidFill>
                  <a:srgbClr val="C9CDD6"/>
                </a:solidFill>
                <a:latin typeface="Malgun Gothic" pitchFamily="34" charset="0"/>
                <a:ea typeface="Malgun Gothic" pitchFamily="34" charset="-122"/>
                <a:cs typeface="Malgun Gothic" pitchFamily="34" charset="-120"/>
              </a:rPr>
              <a:t>신고 뒤 조사(사후 탐지) + 대화 시점 차단(사전 예방)</a:t>
            </a:r>
            <a:endParaRPr lang="en-US" sz="1500" dirty="0"/>
          </a:p>
        </p:txBody>
      </p:sp>
      <p:sp>
        <p:nvSpPr>
          <p:cNvPr id="8" name="Text 6"/>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MULTI-AGENT ⑥</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사기 방지를 '어떻게' 하나</a:t>
            </a:r>
            <a:endParaRPr lang="en-US" sz="2800" dirty="0"/>
          </a:p>
        </p:txBody>
      </p:sp>
      <p:sp>
        <p:nvSpPr>
          <p:cNvPr id="4" name="Text 2"/>
          <p:cNvSpPr txBox="1"/>
          <p:nvPr/>
        </p:nvSpPr>
        <p:spPr>
          <a:xfrm>
            <a:off x="548640" y="1371600"/>
            <a:ext cx="10972800" cy="320040"/>
          </a:xfrm>
          <a:prstGeom prst="rect">
            <a:avLst/>
          </a:prstGeom>
          <a:noFill/>
          <a:ln/>
        </p:spPr>
        <p:txBody>
          <a:bodyPr wrap="square" lIns="0" tIns="0" rIns="0" bIns="0" rtlCol="0" anchor="ctr"/>
          <a:lstStyle/>
          <a:p>
            <a:pPr indent="0" marL="0">
              <a:buNone/>
            </a:pPr>
            <a:r>
              <a:rPr lang="en-US" sz="1300" dirty="0">
                <a:solidFill>
                  <a:srgbClr val="6B7280"/>
                </a:solidFill>
                <a:latin typeface="Malgun Gothic" pitchFamily="34" charset="0"/>
                <a:ea typeface="Malgun Gothic" pitchFamily="34" charset="-122"/>
                <a:cs typeface="Malgun Gothic" pitchFamily="34" charset="-120"/>
              </a:rPr>
              <a:t>신고가 들어오면 이 흐름으로 조사가 돌아간다.</a:t>
            </a:r>
            <a:endParaRPr lang="en-US" sz="1300" dirty="0"/>
          </a:p>
        </p:txBody>
      </p:sp>
      <p:sp>
        <p:nvSpPr>
          <p:cNvPr id="5" name="Shape 3"/>
          <p:cNvSpPr/>
          <p:nvPr/>
        </p:nvSpPr>
        <p:spPr>
          <a:xfrm>
            <a:off x="640080" y="1874520"/>
            <a:ext cx="2057400" cy="1371600"/>
          </a:xfrm>
          <a:prstGeom prst="roundRect">
            <a:avLst>
              <a:gd name="adj" fmla="val 6000"/>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6" name="Shape 4"/>
          <p:cNvSpPr/>
          <p:nvPr/>
        </p:nvSpPr>
        <p:spPr>
          <a:xfrm>
            <a:off x="1389888" y="2011680"/>
            <a:ext cx="548640" cy="548640"/>
          </a:xfrm>
          <a:prstGeom prst="ellipse">
            <a:avLst/>
          </a:prstGeom>
          <a:solidFill>
            <a:srgbClr val="E8590C"/>
          </a:solidFill>
          <a:ln/>
        </p:spPr>
      </p:sp>
      <p:sp>
        <p:nvSpPr>
          <p:cNvPr id="7" name="Text 5"/>
          <p:cNvSpPr txBox="1"/>
          <p:nvPr/>
        </p:nvSpPr>
        <p:spPr>
          <a:xfrm>
            <a:off x="1389888" y="2011680"/>
            <a:ext cx="54864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1</a:t>
            </a:r>
            <a:endParaRPr lang="en-US" sz="1250" dirty="0"/>
          </a:p>
        </p:txBody>
      </p:sp>
      <p:sp>
        <p:nvSpPr>
          <p:cNvPr id="8" name="Text 6"/>
          <p:cNvSpPr txBox="1"/>
          <p:nvPr/>
        </p:nvSpPr>
        <p:spPr>
          <a:xfrm>
            <a:off x="640080" y="2606040"/>
            <a:ext cx="2057400" cy="320040"/>
          </a:xfrm>
          <a:prstGeom prst="rect">
            <a:avLst/>
          </a:prstGeom>
          <a:noFill/>
          <a:ln/>
        </p:spPr>
        <p:txBody>
          <a:bodyPr wrap="square" lIns="0" tIns="0" rIns="0" bIns="0" rtlCol="0" anchor="ctr"/>
          <a:lstStyle/>
          <a:p>
            <a:pPr algn="ctr" indent="0" marL="0">
              <a:buNone/>
            </a:pPr>
            <a:r>
              <a:rPr lang="en-US" sz="1250" b="1" dirty="0">
                <a:solidFill>
                  <a:srgbClr val="1F2430"/>
                </a:solidFill>
                <a:latin typeface="Malgun Gothic" pitchFamily="34" charset="0"/>
                <a:ea typeface="Malgun Gothic" pitchFamily="34" charset="-122"/>
                <a:cs typeface="Malgun Gothic" pitchFamily="34" charset="-120"/>
              </a:rPr>
              <a:t>신고 접수</a:t>
            </a:r>
            <a:endParaRPr lang="en-US" sz="1250" dirty="0"/>
          </a:p>
        </p:txBody>
      </p:sp>
      <p:sp>
        <p:nvSpPr>
          <p:cNvPr id="9" name="Text 7"/>
          <p:cNvSpPr txBox="1"/>
          <p:nvPr/>
        </p:nvSpPr>
        <p:spPr>
          <a:xfrm>
            <a:off x="731520" y="2907792"/>
            <a:ext cx="1874520" cy="320040"/>
          </a:xfrm>
          <a:prstGeom prst="rect">
            <a:avLst/>
          </a:prstGeom>
          <a:noFill/>
          <a:ln/>
        </p:spPr>
        <p:txBody>
          <a:bodyPr wrap="square" lIns="0" tIns="0" rIns="0" bIns="0" rtlCol="0" anchor="t"/>
          <a:lstStyle/>
          <a:p>
            <a:pPr algn="ctr" indent="0" marL="0">
              <a:buNone/>
            </a:pPr>
            <a:r>
              <a:rPr lang="en-US" sz="950" dirty="0">
                <a:solidFill>
                  <a:srgbClr val="6B7280"/>
                </a:solidFill>
                <a:latin typeface="Malgun Gothic" pitchFamily="34" charset="0"/>
                <a:ea typeface="Malgun Gothic" pitchFamily="34" charset="-122"/>
                <a:cs typeface="Malgun Gothic" pitchFamily="34" charset="-120"/>
              </a:rPr>
              <a:t>사용자가 매물·회원 신고</a:t>
            </a:r>
            <a:endParaRPr lang="en-US" sz="950" dirty="0"/>
          </a:p>
        </p:txBody>
      </p:sp>
      <p:sp>
        <p:nvSpPr>
          <p:cNvPr id="10" name="Shape 8"/>
          <p:cNvSpPr/>
          <p:nvPr/>
        </p:nvSpPr>
        <p:spPr>
          <a:xfrm>
            <a:off x="2724912" y="2587752"/>
            <a:ext cx="182880" cy="219456"/>
          </a:xfrm>
          <a:prstGeom prst="rightArrow">
            <a:avLst/>
          </a:prstGeom>
          <a:solidFill>
            <a:srgbClr val="FF922B"/>
          </a:solidFill>
          <a:ln/>
        </p:spPr>
      </p:sp>
      <p:sp>
        <p:nvSpPr>
          <p:cNvPr id="11" name="Shape 9"/>
          <p:cNvSpPr/>
          <p:nvPr/>
        </p:nvSpPr>
        <p:spPr>
          <a:xfrm>
            <a:off x="2926080" y="1874520"/>
            <a:ext cx="2057400" cy="1371600"/>
          </a:xfrm>
          <a:prstGeom prst="roundRect">
            <a:avLst>
              <a:gd name="adj" fmla="val 6000"/>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2" name="Shape 10"/>
          <p:cNvSpPr/>
          <p:nvPr/>
        </p:nvSpPr>
        <p:spPr>
          <a:xfrm>
            <a:off x="3675888" y="2011680"/>
            <a:ext cx="548640" cy="548640"/>
          </a:xfrm>
          <a:prstGeom prst="ellipse">
            <a:avLst/>
          </a:prstGeom>
          <a:solidFill>
            <a:srgbClr val="FF922B"/>
          </a:solidFill>
          <a:ln/>
        </p:spPr>
      </p:sp>
      <p:sp>
        <p:nvSpPr>
          <p:cNvPr id="13" name="Text 11"/>
          <p:cNvSpPr txBox="1"/>
          <p:nvPr/>
        </p:nvSpPr>
        <p:spPr>
          <a:xfrm>
            <a:off x="3675888" y="2011680"/>
            <a:ext cx="54864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2</a:t>
            </a:r>
            <a:endParaRPr lang="en-US" sz="1250" dirty="0"/>
          </a:p>
        </p:txBody>
      </p:sp>
      <p:sp>
        <p:nvSpPr>
          <p:cNvPr id="14" name="Text 12"/>
          <p:cNvSpPr txBox="1"/>
          <p:nvPr/>
        </p:nvSpPr>
        <p:spPr>
          <a:xfrm>
            <a:off x="2926080" y="2606040"/>
            <a:ext cx="2057400" cy="320040"/>
          </a:xfrm>
          <a:prstGeom prst="rect">
            <a:avLst/>
          </a:prstGeom>
          <a:noFill/>
          <a:ln/>
        </p:spPr>
        <p:txBody>
          <a:bodyPr wrap="square" lIns="0" tIns="0" rIns="0" bIns="0" rtlCol="0" anchor="ctr"/>
          <a:lstStyle/>
          <a:p>
            <a:pPr algn="ctr" indent="0" marL="0">
              <a:buNone/>
            </a:pPr>
            <a:r>
              <a:rPr lang="en-US" sz="1250" b="1" dirty="0">
                <a:solidFill>
                  <a:srgbClr val="1F2430"/>
                </a:solidFill>
                <a:latin typeface="Malgun Gothic" pitchFamily="34" charset="0"/>
                <a:ea typeface="Malgun Gothic" pitchFamily="34" charset="-122"/>
                <a:cs typeface="Malgun Gothic" pitchFamily="34" charset="-120"/>
              </a:rPr>
              <a:t>AI 조사</a:t>
            </a:r>
            <a:endParaRPr lang="en-US" sz="1250" dirty="0"/>
          </a:p>
        </p:txBody>
      </p:sp>
      <p:sp>
        <p:nvSpPr>
          <p:cNvPr id="15" name="Text 13"/>
          <p:cNvSpPr txBox="1"/>
          <p:nvPr/>
        </p:nvSpPr>
        <p:spPr>
          <a:xfrm>
            <a:off x="3017520" y="2907792"/>
            <a:ext cx="1874520" cy="320040"/>
          </a:xfrm>
          <a:prstGeom prst="rect">
            <a:avLst/>
          </a:prstGeom>
          <a:noFill/>
          <a:ln/>
        </p:spPr>
        <p:txBody>
          <a:bodyPr wrap="square" lIns="0" tIns="0" rIns="0" bIns="0" rtlCol="0" anchor="t"/>
          <a:lstStyle/>
          <a:p>
            <a:pPr algn="ctr" indent="0" marL="0">
              <a:buNone/>
            </a:pPr>
            <a:r>
              <a:rPr lang="en-US" sz="950" dirty="0">
                <a:solidFill>
                  <a:srgbClr val="6B7280"/>
                </a:solidFill>
                <a:latin typeface="Malgun Gothic" pitchFamily="34" charset="0"/>
                <a:ea typeface="Malgun Gothic" pitchFamily="34" charset="-122"/>
                <a:cs typeface="Malgun Gothic" pitchFamily="34" charset="-120"/>
              </a:rPr>
              <a:t>도구 7개로 자료 수집</a:t>
            </a:r>
            <a:endParaRPr lang="en-US" sz="950" dirty="0"/>
          </a:p>
        </p:txBody>
      </p:sp>
      <p:sp>
        <p:nvSpPr>
          <p:cNvPr id="16" name="Shape 14"/>
          <p:cNvSpPr/>
          <p:nvPr/>
        </p:nvSpPr>
        <p:spPr>
          <a:xfrm>
            <a:off x="5010912" y="2587752"/>
            <a:ext cx="182880" cy="219456"/>
          </a:xfrm>
          <a:prstGeom prst="rightArrow">
            <a:avLst/>
          </a:prstGeom>
          <a:solidFill>
            <a:srgbClr val="FF922B"/>
          </a:solidFill>
          <a:ln/>
        </p:spPr>
      </p:sp>
      <p:sp>
        <p:nvSpPr>
          <p:cNvPr id="17" name="Shape 15"/>
          <p:cNvSpPr/>
          <p:nvPr/>
        </p:nvSpPr>
        <p:spPr>
          <a:xfrm>
            <a:off x="5212080" y="1874520"/>
            <a:ext cx="2057400" cy="1371600"/>
          </a:xfrm>
          <a:prstGeom prst="roundRect">
            <a:avLst>
              <a:gd name="adj" fmla="val 6000"/>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8" name="Shape 16"/>
          <p:cNvSpPr/>
          <p:nvPr/>
        </p:nvSpPr>
        <p:spPr>
          <a:xfrm>
            <a:off x="5961888" y="2011680"/>
            <a:ext cx="548640" cy="548640"/>
          </a:xfrm>
          <a:prstGeom prst="ellipse">
            <a:avLst/>
          </a:prstGeom>
          <a:solidFill>
            <a:srgbClr val="2F9E44"/>
          </a:solidFill>
          <a:ln/>
        </p:spPr>
      </p:sp>
      <p:sp>
        <p:nvSpPr>
          <p:cNvPr id="19" name="Text 17"/>
          <p:cNvSpPr txBox="1"/>
          <p:nvPr/>
        </p:nvSpPr>
        <p:spPr>
          <a:xfrm>
            <a:off x="5961888" y="2011680"/>
            <a:ext cx="54864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3</a:t>
            </a:r>
            <a:endParaRPr lang="en-US" sz="1250" dirty="0"/>
          </a:p>
        </p:txBody>
      </p:sp>
      <p:sp>
        <p:nvSpPr>
          <p:cNvPr id="20" name="Text 18"/>
          <p:cNvSpPr txBox="1"/>
          <p:nvPr/>
        </p:nvSpPr>
        <p:spPr>
          <a:xfrm>
            <a:off x="5212080" y="2606040"/>
            <a:ext cx="2057400" cy="320040"/>
          </a:xfrm>
          <a:prstGeom prst="rect">
            <a:avLst/>
          </a:prstGeom>
          <a:noFill/>
          <a:ln/>
        </p:spPr>
        <p:txBody>
          <a:bodyPr wrap="square" lIns="0" tIns="0" rIns="0" bIns="0" rtlCol="0" anchor="ctr"/>
          <a:lstStyle/>
          <a:p>
            <a:pPr algn="ctr" indent="0" marL="0">
              <a:buNone/>
            </a:pPr>
            <a:r>
              <a:rPr lang="en-US" sz="1250" b="1" dirty="0">
                <a:solidFill>
                  <a:srgbClr val="1F2430"/>
                </a:solidFill>
                <a:latin typeface="Malgun Gothic" pitchFamily="34" charset="0"/>
                <a:ea typeface="Malgun Gothic" pitchFamily="34" charset="-122"/>
                <a:cs typeface="Malgun Gothic" pitchFamily="34" charset="-120"/>
              </a:rPr>
              <a:t>규칙 채점</a:t>
            </a:r>
            <a:endParaRPr lang="en-US" sz="1250" dirty="0"/>
          </a:p>
        </p:txBody>
      </p:sp>
      <p:sp>
        <p:nvSpPr>
          <p:cNvPr id="21" name="Text 19"/>
          <p:cNvSpPr txBox="1"/>
          <p:nvPr/>
        </p:nvSpPr>
        <p:spPr>
          <a:xfrm>
            <a:off x="5303520" y="2907792"/>
            <a:ext cx="1874520" cy="320040"/>
          </a:xfrm>
          <a:prstGeom prst="rect">
            <a:avLst/>
          </a:prstGeom>
          <a:noFill/>
          <a:ln/>
        </p:spPr>
        <p:txBody>
          <a:bodyPr wrap="square" lIns="0" tIns="0" rIns="0" bIns="0" rtlCol="0" anchor="t"/>
          <a:lstStyle/>
          <a:p>
            <a:pPr algn="ctr" indent="0" marL="0">
              <a:buNone/>
            </a:pPr>
            <a:r>
              <a:rPr lang="en-US" sz="950" dirty="0">
                <a:solidFill>
                  <a:srgbClr val="6B7280"/>
                </a:solidFill>
                <a:latin typeface="Malgun Gothic" pitchFamily="34" charset="0"/>
                <a:ea typeface="Malgun Gothic" pitchFamily="34" charset="-122"/>
                <a:cs typeface="Malgun Gothic" pitchFamily="34" charset="-120"/>
              </a:rPr>
              <a:t>신호별 점수 합산</a:t>
            </a:r>
            <a:endParaRPr lang="en-US" sz="950" dirty="0"/>
          </a:p>
        </p:txBody>
      </p:sp>
      <p:sp>
        <p:nvSpPr>
          <p:cNvPr id="22" name="Shape 20"/>
          <p:cNvSpPr/>
          <p:nvPr/>
        </p:nvSpPr>
        <p:spPr>
          <a:xfrm>
            <a:off x="7296912" y="2587752"/>
            <a:ext cx="182880" cy="219456"/>
          </a:xfrm>
          <a:prstGeom prst="rightArrow">
            <a:avLst/>
          </a:prstGeom>
          <a:solidFill>
            <a:srgbClr val="FF922B"/>
          </a:solidFill>
          <a:ln/>
        </p:spPr>
      </p:sp>
      <p:sp>
        <p:nvSpPr>
          <p:cNvPr id="23" name="Shape 21"/>
          <p:cNvSpPr/>
          <p:nvPr/>
        </p:nvSpPr>
        <p:spPr>
          <a:xfrm>
            <a:off x="7498080" y="1874520"/>
            <a:ext cx="2057400" cy="1371600"/>
          </a:xfrm>
          <a:prstGeom prst="roundRect">
            <a:avLst>
              <a:gd name="adj" fmla="val 6000"/>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4" name="Shape 22"/>
          <p:cNvSpPr/>
          <p:nvPr/>
        </p:nvSpPr>
        <p:spPr>
          <a:xfrm>
            <a:off x="8247888" y="2011680"/>
            <a:ext cx="548640" cy="548640"/>
          </a:xfrm>
          <a:prstGeom prst="ellipse">
            <a:avLst/>
          </a:prstGeom>
          <a:solidFill>
            <a:srgbClr val="1C7293"/>
          </a:solidFill>
          <a:ln/>
        </p:spPr>
      </p:sp>
      <p:sp>
        <p:nvSpPr>
          <p:cNvPr id="25" name="Text 23"/>
          <p:cNvSpPr txBox="1"/>
          <p:nvPr/>
        </p:nvSpPr>
        <p:spPr>
          <a:xfrm>
            <a:off x="8247888" y="2011680"/>
            <a:ext cx="54864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4</a:t>
            </a:r>
            <a:endParaRPr lang="en-US" sz="1250" dirty="0"/>
          </a:p>
        </p:txBody>
      </p:sp>
      <p:sp>
        <p:nvSpPr>
          <p:cNvPr id="26" name="Text 24"/>
          <p:cNvSpPr txBox="1"/>
          <p:nvPr/>
        </p:nvSpPr>
        <p:spPr>
          <a:xfrm>
            <a:off x="7498080" y="2606040"/>
            <a:ext cx="2057400" cy="320040"/>
          </a:xfrm>
          <a:prstGeom prst="rect">
            <a:avLst/>
          </a:prstGeom>
          <a:noFill/>
          <a:ln/>
        </p:spPr>
        <p:txBody>
          <a:bodyPr wrap="square" lIns="0" tIns="0" rIns="0" bIns="0" rtlCol="0" anchor="ctr"/>
          <a:lstStyle/>
          <a:p>
            <a:pPr algn="ctr" indent="0" marL="0">
              <a:buNone/>
            </a:pPr>
            <a:r>
              <a:rPr lang="en-US" sz="1250" b="1" dirty="0">
                <a:solidFill>
                  <a:srgbClr val="1F2430"/>
                </a:solidFill>
                <a:latin typeface="Malgun Gothic" pitchFamily="34" charset="0"/>
                <a:ea typeface="Malgun Gothic" pitchFamily="34" charset="-122"/>
                <a:cs typeface="Malgun Gothic" pitchFamily="34" charset="-120"/>
              </a:rPr>
              <a:t>위험도 판정</a:t>
            </a:r>
            <a:endParaRPr lang="en-US" sz="1250" dirty="0"/>
          </a:p>
        </p:txBody>
      </p:sp>
      <p:sp>
        <p:nvSpPr>
          <p:cNvPr id="27" name="Text 25"/>
          <p:cNvSpPr txBox="1"/>
          <p:nvPr/>
        </p:nvSpPr>
        <p:spPr>
          <a:xfrm>
            <a:off x="7589520" y="2907792"/>
            <a:ext cx="1874520" cy="320040"/>
          </a:xfrm>
          <a:prstGeom prst="rect">
            <a:avLst/>
          </a:prstGeom>
          <a:noFill/>
          <a:ln/>
        </p:spPr>
        <p:txBody>
          <a:bodyPr wrap="square" lIns="0" tIns="0" rIns="0" bIns="0" rtlCol="0" anchor="t"/>
          <a:lstStyle/>
          <a:p>
            <a:pPr algn="ctr" indent="0" marL="0">
              <a:buNone/>
            </a:pPr>
            <a:r>
              <a:rPr lang="en-US" sz="950" dirty="0">
                <a:solidFill>
                  <a:srgbClr val="6B7280"/>
                </a:solidFill>
                <a:latin typeface="Malgun Gothic" pitchFamily="34" charset="0"/>
                <a:ea typeface="Malgun Gothic" pitchFamily="34" charset="-122"/>
                <a:cs typeface="Malgun Gothic" pitchFamily="34" charset="-120"/>
              </a:rPr>
              <a:t>높음6+/보통3+/낮음</a:t>
            </a:r>
            <a:endParaRPr lang="en-US" sz="950" dirty="0"/>
          </a:p>
        </p:txBody>
      </p:sp>
      <p:sp>
        <p:nvSpPr>
          <p:cNvPr id="28" name="Shape 26"/>
          <p:cNvSpPr/>
          <p:nvPr/>
        </p:nvSpPr>
        <p:spPr>
          <a:xfrm>
            <a:off x="9582912" y="2587752"/>
            <a:ext cx="182880" cy="219456"/>
          </a:xfrm>
          <a:prstGeom prst="rightArrow">
            <a:avLst/>
          </a:prstGeom>
          <a:solidFill>
            <a:srgbClr val="FF922B"/>
          </a:solidFill>
          <a:ln/>
        </p:spPr>
      </p:sp>
      <p:sp>
        <p:nvSpPr>
          <p:cNvPr id="29" name="Shape 27"/>
          <p:cNvSpPr/>
          <p:nvPr/>
        </p:nvSpPr>
        <p:spPr>
          <a:xfrm>
            <a:off x="9784080" y="1874520"/>
            <a:ext cx="2057400" cy="1371600"/>
          </a:xfrm>
          <a:prstGeom prst="roundRect">
            <a:avLst>
              <a:gd name="adj" fmla="val 6000"/>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30" name="Shape 28"/>
          <p:cNvSpPr/>
          <p:nvPr/>
        </p:nvSpPr>
        <p:spPr>
          <a:xfrm>
            <a:off x="10533888" y="2011680"/>
            <a:ext cx="548640" cy="548640"/>
          </a:xfrm>
          <a:prstGeom prst="ellipse">
            <a:avLst/>
          </a:prstGeom>
          <a:solidFill>
            <a:srgbClr val="6B4FBB"/>
          </a:solidFill>
          <a:ln/>
        </p:spPr>
      </p:sp>
      <p:sp>
        <p:nvSpPr>
          <p:cNvPr id="31" name="Text 29"/>
          <p:cNvSpPr txBox="1"/>
          <p:nvPr/>
        </p:nvSpPr>
        <p:spPr>
          <a:xfrm>
            <a:off x="10533888" y="2011680"/>
            <a:ext cx="54864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5</a:t>
            </a:r>
            <a:endParaRPr lang="en-US" sz="1250" dirty="0"/>
          </a:p>
        </p:txBody>
      </p:sp>
      <p:sp>
        <p:nvSpPr>
          <p:cNvPr id="32" name="Text 30"/>
          <p:cNvSpPr txBox="1"/>
          <p:nvPr/>
        </p:nvSpPr>
        <p:spPr>
          <a:xfrm>
            <a:off x="9784080" y="2606040"/>
            <a:ext cx="2057400" cy="320040"/>
          </a:xfrm>
          <a:prstGeom prst="rect">
            <a:avLst/>
          </a:prstGeom>
          <a:noFill/>
          <a:ln/>
        </p:spPr>
        <p:txBody>
          <a:bodyPr wrap="square" lIns="0" tIns="0" rIns="0" bIns="0" rtlCol="0" anchor="ctr"/>
          <a:lstStyle/>
          <a:p>
            <a:pPr algn="ctr" indent="0" marL="0">
              <a:buNone/>
            </a:pPr>
            <a:r>
              <a:rPr lang="en-US" sz="1250" b="1" dirty="0">
                <a:solidFill>
                  <a:srgbClr val="1F2430"/>
                </a:solidFill>
                <a:latin typeface="Malgun Gothic" pitchFamily="34" charset="0"/>
                <a:ea typeface="Malgun Gothic" pitchFamily="34" charset="-122"/>
                <a:cs typeface="Malgun Gothic" pitchFamily="34" charset="-120"/>
              </a:rPr>
              <a:t>관리자 결정</a:t>
            </a:r>
            <a:endParaRPr lang="en-US" sz="1250" dirty="0"/>
          </a:p>
        </p:txBody>
      </p:sp>
      <p:sp>
        <p:nvSpPr>
          <p:cNvPr id="33" name="Text 31"/>
          <p:cNvSpPr txBox="1"/>
          <p:nvPr/>
        </p:nvSpPr>
        <p:spPr>
          <a:xfrm>
            <a:off x="9875520" y="2907792"/>
            <a:ext cx="1874520" cy="320040"/>
          </a:xfrm>
          <a:prstGeom prst="rect">
            <a:avLst/>
          </a:prstGeom>
          <a:noFill/>
          <a:ln/>
        </p:spPr>
        <p:txBody>
          <a:bodyPr wrap="square" lIns="0" tIns="0" rIns="0" bIns="0" rtlCol="0" anchor="t"/>
          <a:lstStyle/>
          <a:p>
            <a:pPr algn="ctr" indent="0" marL="0">
              <a:buNone/>
            </a:pPr>
            <a:r>
              <a:rPr lang="en-US" sz="950" dirty="0">
                <a:solidFill>
                  <a:srgbClr val="6B7280"/>
                </a:solidFill>
                <a:latin typeface="Malgun Gothic" pitchFamily="34" charset="0"/>
                <a:ea typeface="Malgun Gothic" pitchFamily="34" charset="-122"/>
                <a:cs typeface="Malgun Gothic" pitchFamily="34" charset="-120"/>
              </a:rPr>
              <a:t>보고 읽고 정지·숨김</a:t>
            </a:r>
            <a:endParaRPr lang="en-US" sz="950" dirty="0"/>
          </a:p>
        </p:txBody>
      </p:sp>
      <p:sp>
        <p:nvSpPr>
          <p:cNvPr id="34" name="Shape 32"/>
          <p:cNvSpPr/>
          <p:nvPr/>
        </p:nvSpPr>
        <p:spPr>
          <a:xfrm>
            <a:off x="640080" y="3566160"/>
            <a:ext cx="5486400" cy="2468880"/>
          </a:xfrm>
          <a:prstGeom prst="roundRect">
            <a:avLst>
              <a:gd name="adj" fmla="val 333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35" name="Text 33"/>
          <p:cNvSpPr txBox="1"/>
          <p:nvPr/>
        </p:nvSpPr>
        <p:spPr>
          <a:xfrm>
            <a:off x="868680" y="3703320"/>
            <a:ext cx="4572000" cy="320040"/>
          </a:xfrm>
          <a:prstGeom prst="rect">
            <a:avLst/>
          </a:prstGeom>
          <a:noFill/>
          <a:ln/>
        </p:spPr>
        <p:txBody>
          <a:bodyPr wrap="square" lIns="0" tIns="0" rIns="0" bIns="0" rtlCol="0" anchor="ctr"/>
          <a:lstStyle/>
          <a:p>
            <a:pPr indent="0" marL="0">
              <a:buNone/>
            </a:pPr>
            <a:r>
              <a:rPr lang="en-US" sz="1300" b="1" dirty="0">
                <a:solidFill>
                  <a:srgbClr val="E8590C"/>
                </a:solidFill>
                <a:latin typeface="Malgun Gothic" pitchFamily="34" charset="0"/>
                <a:ea typeface="Malgun Gothic" pitchFamily="34" charset="-122"/>
                <a:cs typeface="Malgun Gothic" pitchFamily="34" charset="-120"/>
              </a:rPr>
              <a:t>규칙 채점 (재현성 있음)</a:t>
            </a:r>
            <a:endParaRPr lang="en-US" sz="1300" dirty="0"/>
          </a:p>
        </p:txBody>
      </p:sp>
      <p:sp>
        <p:nvSpPr>
          <p:cNvPr id="36" name="Text 34"/>
          <p:cNvSpPr txBox="1"/>
          <p:nvPr/>
        </p:nvSpPr>
        <p:spPr>
          <a:xfrm>
            <a:off x="868680" y="4114800"/>
            <a:ext cx="4206240" cy="320040"/>
          </a:xfrm>
          <a:prstGeom prst="rect">
            <a:avLst/>
          </a:prstGeom>
          <a:noFill/>
          <a:ln/>
        </p:spPr>
        <p:txBody>
          <a:bodyPr wrap="square" lIns="0" tIns="0" rIns="0" bIns="0" rtlCol="0" anchor="ctr"/>
          <a:lstStyle/>
          <a:p>
            <a:pPr indent="0" marL="0">
              <a:buNone/>
            </a:pPr>
            <a:r>
              <a:rPr lang="en-US" sz="1150" dirty="0">
                <a:solidFill>
                  <a:srgbClr val="3A3F4B"/>
                </a:solidFill>
                <a:latin typeface="Malgun Gothic" pitchFamily="34" charset="0"/>
                <a:ea typeface="Malgun Gothic" pitchFamily="34" charset="-122"/>
                <a:cs typeface="Malgun Gothic" pitchFamily="34" charset="-120"/>
              </a:rPr>
              <a:t>택배·선입금·비대면 유도</a:t>
            </a:r>
            <a:endParaRPr lang="en-US" sz="1150" dirty="0"/>
          </a:p>
        </p:txBody>
      </p:sp>
      <p:sp>
        <p:nvSpPr>
          <p:cNvPr id="37" name="Shape 35"/>
          <p:cNvSpPr/>
          <p:nvPr/>
        </p:nvSpPr>
        <p:spPr>
          <a:xfrm>
            <a:off x="5623560" y="4133088"/>
            <a:ext cx="274320" cy="274320"/>
          </a:xfrm>
          <a:prstGeom prst="ellipse">
            <a:avLst/>
          </a:prstGeom>
          <a:solidFill>
            <a:srgbClr val="FF6B6B"/>
          </a:solidFill>
          <a:ln/>
        </p:spPr>
      </p:sp>
      <p:sp>
        <p:nvSpPr>
          <p:cNvPr id="38" name="Text 36"/>
          <p:cNvSpPr txBox="1"/>
          <p:nvPr/>
        </p:nvSpPr>
        <p:spPr>
          <a:xfrm>
            <a:off x="5623560" y="41330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3</a:t>
            </a:r>
            <a:endParaRPr lang="en-US" sz="1100" dirty="0"/>
          </a:p>
        </p:txBody>
      </p:sp>
      <p:sp>
        <p:nvSpPr>
          <p:cNvPr id="39" name="Text 37"/>
          <p:cNvSpPr txBox="1"/>
          <p:nvPr/>
        </p:nvSpPr>
        <p:spPr>
          <a:xfrm>
            <a:off x="868680" y="4480560"/>
            <a:ext cx="4206240" cy="320040"/>
          </a:xfrm>
          <a:prstGeom prst="rect">
            <a:avLst/>
          </a:prstGeom>
          <a:noFill/>
          <a:ln/>
        </p:spPr>
        <p:txBody>
          <a:bodyPr wrap="square" lIns="0" tIns="0" rIns="0" bIns="0" rtlCol="0" anchor="ctr"/>
          <a:lstStyle/>
          <a:p>
            <a:pPr indent="0" marL="0">
              <a:buNone/>
            </a:pPr>
            <a:r>
              <a:rPr lang="en-US" sz="1150" dirty="0">
                <a:solidFill>
                  <a:srgbClr val="3A3F4B"/>
                </a:solidFill>
                <a:latin typeface="Malgun Gothic" pitchFamily="34" charset="0"/>
                <a:ea typeface="Malgun Gothic" pitchFamily="34" charset="-122"/>
                <a:cs typeface="Malgun Gothic" pitchFamily="34" charset="-120"/>
              </a:rPr>
              <a:t>남의 사진 도용</a:t>
            </a:r>
            <a:endParaRPr lang="en-US" sz="1150" dirty="0"/>
          </a:p>
        </p:txBody>
      </p:sp>
      <p:sp>
        <p:nvSpPr>
          <p:cNvPr id="40" name="Shape 38"/>
          <p:cNvSpPr/>
          <p:nvPr/>
        </p:nvSpPr>
        <p:spPr>
          <a:xfrm>
            <a:off x="5623560" y="4498848"/>
            <a:ext cx="274320" cy="274320"/>
          </a:xfrm>
          <a:prstGeom prst="ellipse">
            <a:avLst/>
          </a:prstGeom>
          <a:solidFill>
            <a:srgbClr val="FF6B6B"/>
          </a:solidFill>
          <a:ln/>
        </p:spPr>
      </p:sp>
      <p:sp>
        <p:nvSpPr>
          <p:cNvPr id="41" name="Text 39"/>
          <p:cNvSpPr txBox="1"/>
          <p:nvPr/>
        </p:nvSpPr>
        <p:spPr>
          <a:xfrm>
            <a:off x="5623560" y="44988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3</a:t>
            </a:r>
            <a:endParaRPr lang="en-US" sz="1100" dirty="0"/>
          </a:p>
        </p:txBody>
      </p:sp>
      <p:sp>
        <p:nvSpPr>
          <p:cNvPr id="42" name="Text 40"/>
          <p:cNvSpPr txBox="1"/>
          <p:nvPr/>
        </p:nvSpPr>
        <p:spPr>
          <a:xfrm>
            <a:off x="868680" y="4846320"/>
            <a:ext cx="4206240" cy="320040"/>
          </a:xfrm>
          <a:prstGeom prst="rect">
            <a:avLst/>
          </a:prstGeom>
          <a:noFill/>
          <a:ln/>
        </p:spPr>
        <p:txBody>
          <a:bodyPr wrap="square" lIns="0" tIns="0" rIns="0" bIns="0" rtlCol="0" anchor="ctr"/>
          <a:lstStyle/>
          <a:p>
            <a:pPr indent="0" marL="0">
              <a:buNone/>
            </a:pPr>
            <a:r>
              <a:rPr lang="en-US" sz="1150" dirty="0">
                <a:solidFill>
                  <a:srgbClr val="3A3F4B"/>
                </a:solidFill>
                <a:latin typeface="Malgun Gothic" pitchFamily="34" charset="0"/>
                <a:ea typeface="Malgun Gothic" pitchFamily="34" charset="-122"/>
                <a:cs typeface="Malgun Gothic" pitchFamily="34" charset="-120"/>
              </a:rPr>
              <a:t>시세 대비 지나치게 쌈</a:t>
            </a:r>
            <a:endParaRPr lang="en-US" sz="1150" dirty="0"/>
          </a:p>
        </p:txBody>
      </p:sp>
      <p:sp>
        <p:nvSpPr>
          <p:cNvPr id="43" name="Shape 41"/>
          <p:cNvSpPr/>
          <p:nvPr/>
        </p:nvSpPr>
        <p:spPr>
          <a:xfrm>
            <a:off x="5623560" y="4864608"/>
            <a:ext cx="274320" cy="274320"/>
          </a:xfrm>
          <a:prstGeom prst="ellipse">
            <a:avLst/>
          </a:prstGeom>
          <a:solidFill>
            <a:srgbClr val="FF922B"/>
          </a:solidFill>
          <a:ln/>
        </p:spPr>
      </p:sp>
      <p:sp>
        <p:nvSpPr>
          <p:cNvPr id="44" name="Text 42"/>
          <p:cNvSpPr txBox="1"/>
          <p:nvPr/>
        </p:nvSpPr>
        <p:spPr>
          <a:xfrm>
            <a:off x="5623560" y="48646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2</a:t>
            </a:r>
            <a:endParaRPr lang="en-US" sz="1100" dirty="0"/>
          </a:p>
        </p:txBody>
      </p:sp>
      <p:sp>
        <p:nvSpPr>
          <p:cNvPr id="45" name="Text 43"/>
          <p:cNvSpPr txBox="1"/>
          <p:nvPr/>
        </p:nvSpPr>
        <p:spPr>
          <a:xfrm>
            <a:off x="868680" y="5212080"/>
            <a:ext cx="4206240" cy="320040"/>
          </a:xfrm>
          <a:prstGeom prst="rect">
            <a:avLst/>
          </a:prstGeom>
          <a:noFill/>
          <a:ln/>
        </p:spPr>
        <p:txBody>
          <a:bodyPr wrap="square" lIns="0" tIns="0" rIns="0" bIns="0" rtlCol="0" anchor="ctr"/>
          <a:lstStyle/>
          <a:p>
            <a:pPr indent="0" marL="0">
              <a:buNone/>
            </a:pPr>
            <a:r>
              <a:rPr lang="en-US" sz="1150" dirty="0">
                <a:solidFill>
                  <a:srgbClr val="3A3F4B"/>
                </a:solidFill>
                <a:latin typeface="Malgun Gothic" pitchFamily="34" charset="0"/>
                <a:ea typeface="Malgun Gothic" pitchFamily="34" charset="-122"/>
                <a:cs typeface="Malgun Gothic" pitchFamily="34" charset="-120"/>
              </a:rPr>
              <a:t>거래 취소 3회↑</a:t>
            </a:r>
            <a:endParaRPr lang="en-US" sz="1150" dirty="0"/>
          </a:p>
        </p:txBody>
      </p:sp>
      <p:sp>
        <p:nvSpPr>
          <p:cNvPr id="46" name="Shape 44"/>
          <p:cNvSpPr/>
          <p:nvPr/>
        </p:nvSpPr>
        <p:spPr>
          <a:xfrm>
            <a:off x="5623560" y="5230368"/>
            <a:ext cx="274320" cy="274320"/>
          </a:xfrm>
          <a:prstGeom prst="ellipse">
            <a:avLst/>
          </a:prstGeom>
          <a:solidFill>
            <a:srgbClr val="FF922B"/>
          </a:solidFill>
          <a:ln/>
        </p:spPr>
      </p:sp>
      <p:sp>
        <p:nvSpPr>
          <p:cNvPr id="47" name="Text 45"/>
          <p:cNvSpPr txBox="1"/>
          <p:nvPr/>
        </p:nvSpPr>
        <p:spPr>
          <a:xfrm>
            <a:off x="5623560" y="52303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2</a:t>
            </a:r>
            <a:endParaRPr lang="en-US" sz="1100" dirty="0"/>
          </a:p>
        </p:txBody>
      </p:sp>
      <p:sp>
        <p:nvSpPr>
          <p:cNvPr id="48" name="Text 46"/>
          <p:cNvSpPr txBox="1"/>
          <p:nvPr/>
        </p:nvSpPr>
        <p:spPr>
          <a:xfrm>
            <a:off x="868680" y="5577840"/>
            <a:ext cx="4206240" cy="320040"/>
          </a:xfrm>
          <a:prstGeom prst="rect">
            <a:avLst/>
          </a:prstGeom>
          <a:noFill/>
          <a:ln/>
        </p:spPr>
        <p:txBody>
          <a:bodyPr wrap="square" lIns="0" tIns="0" rIns="0" bIns="0" rtlCol="0" anchor="ctr"/>
          <a:lstStyle/>
          <a:p>
            <a:pPr indent="0" marL="0">
              <a:buNone/>
            </a:pPr>
            <a:r>
              <a:rPr lang="en-US" sz="1150" dirty="0">
                <a:solidFill>
                  <a:srgbClr val="3A3F4B"/>
                </a:solidFill>
                <a:latin typeface="Malgun Gothic" pitchFamily="34" charset="0"/>
                <a:ea typeface="Malgun Gothic" pitchFamily="34" charset="-122"/>
                <a:cs typeface="Malgun Gothic" pitchFamily="34" charset="-120"/>
              </a:rPr>
              <a:t>가입 7일 이내</a:t>
            </a:r>
            <a:endParaRPr lang="en-US" sz="1150" dirty="0"/>
          </a:p>
        </p:txBody>
      </p:sp>
      <p:sp>
        <p:nvSpPr>
          <p:cNvPr id="49" name="Shape 47"/>
          <p:cNvSpPr/>
          <p:nvPr/>
        </p:nvSpPr>
        <p:spPr>
          <a:xfrm>
            <a:off x="5623560" y="5596128"/>
            <a:ext cx="274320" cy="274320"/>
          </a:xfrm>
          <a:prstGeom prst="ellipse">
            <a:avLst/>
          </a:prstGeom>
          <a:solidFill>
            <a:srgbClr val="ADB5BD"/>
          </a:solidFill>
          <a:ln/>
        </p:spPr>
      </p:sp>
      <p:sp>
        <p:nvSpPr>
          <p:cNvPr id="50" name="Text 48"/>
          <p:cNvSpPr txBox="1"/>
          <p:nvPr/>
        </p:nvSpPr>
        <p:spPr>
          <a:xfrm>
            <a:off x="5623560" y="55961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1</a:t>
            </a:r>
            <a:endParaRPr lang="en-US" sz="1100" dirty="0"/>
          </a:p>
        </p:txBody>
      </p:sp>
      <p:sp>
        <p:nvSpPr>
          <p:cNvPr id="51" name="Shape 49"/>
          <p:cNvSpPr/>
          <p:nvPr/>
        </p:nvSpPr>
        <p:spPr>
          <a:xfrm>
            <a:off x="6355080" y="3566160"/>
            <a:ext cx="5257800" cy="2468880"/>
          </a:xfrm>
          <a:prstGeom prst="roundRect">
            <a:avLst>
              <a:gd name="adj" fmla="val 3333"/>
            </a:avLst>
          </a:prstGeom>
          <a:solidFill>
            <a:srgbClr val="FFF4E6"/>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52" name="Text 50"/>
          <p:cNvSpPr txBox="1"/>
          <p:nvPr/>
        </p:nvSpPr>
        <p:spPr>
          <a:xfrm>
            <a:off x="6583680" y="3703320"/>
            <a:ext cx="4572000" cy="320040"/>
          </a:xfrm>
          <a:prstGeom prst="rect">
            <a:avLst/>
          </a:prstGeom>
          <a:noFill/>
          <a:ln/>
        </p:spPr>
        <p:txBody>
          <a:bodyPr wrap="square" lIns="0" tIns="0" rIns="0" bIns="0" rtlCol="0" anchor="ctr"/>
          <a:lstStyle/>
          <a:p>
            <a:pPr indent="0" marL="0">
              <a:buNone/>
            </a:pPr>
            <a:r>
              <a:rPr lang="en-US" sz="1300" b="1" dirty="0">
                <a:solidFill>
                  <a:srgbClr val="B5651D"/>
                </a:solidFill>
                <a:latin typeface="Malgun Gothic" pitchFamily="34" charset="0"/>
                <a:ea typeface="Malgun Gothic" pitchFamily="34" charset="-122"/>
                <a:cs typeface="Malgun Gothic" pitchFamily="34" charset="-120"/>
              </a:rPr>
              <a:t>두 가지 안전 원칙</a:t>
            </a:r>
            <a:endParaRPr lang="en-US" sz="1300" dirty="0"/>
          </a:p>
        </p:txBody>
      </p:sp>
      <p:sp>
        <p:nvSpPr>
          <p:cNvPr id="53" name="Text 51"/>
          <p:cNvSpPr txBox="1"/>
          <p:nvPr/>
        </p:nvSpPr>
        <p:spPr>
          <a:xfrm>
            <a:off x="6583680" y="4114800"/>
            <a:ext cx="4892040" cy="566928"/>
          </a:xfrm>
          <a:prstGeom prst="rect">
            <a:avLst/>
          </a:prstGeom>
          <a:noFill/>
          <a:ln/>
        </p:spPr>
        <p:txBody>
          <a:bodyPr wrap="square" lIns="0" tIns="0" rIns="0" bIns="0" rtlCol="0" anchor="ctr"/>
          <a:lstStyle/>
          <a:p>
            <a:pPr indent="0" marL="0">
              <a:lnSpc>
                <a:spcPct val="102000"/>
              </a:lnSpc>
              <a:buNone/>
            </a:pPr>
            <a:r>
              <a:rPr lang="en-US" sz="1100" b="1" dirty="0">
                <a:solidFill>
                  <a:srgbClr val="1F2430"/>
                </a:solidFill>
                <a:latin typeface="Malgun Gothic" pitchFamily="34" charset="0"/>
                <a:ea typeface="Malgun Gothic" pitchFamily="34" charset="-122"/>
                <a:cs typeface="Malgun Gothic" pitchFamily="34" charset="-120"/>
              </a:rPr>
              <a:t>도구는 전부 읽기 전용 — </a:t>
            </a:r>
            <a:pPr indent="0" marL="0">
              <a:lnSpc>
                <a:spcPct val="102000"/>
              </a:lnSpc>
              <a:buNone/>
            </a:pPr>
            <a:r>
              <a:rPr lang="en-US" sz="1100" dirty="0">
                <a:solidFill>
                  <a:srgbClr val="37503F"/>
                </a:solidFill>
                <a:latin typeface="Malgun Gothic" pitchFamily="34" charset="0"/>
                <a:ea typeface="Malgun Gothic" pitchFamily="34" charset="-122"/>
                <a:cs typeface="Malgun Gothic" pitchFamily="34" charset="-120"/>
              </a:rPr>
              <a:t>AI는 자료를 보기만, 정지·삭제 불가</a:t>
            </a:r>
            <a:endParaRPr lang="en-US" sz="1100" dirty="0"/>
          </a:p>
        </p:txBody>
      </p:sp>
      <p:sp>
        <p:nvSpPr>
          <p:cNvPr id="54" name="Text 52"/>
          <p:cNvSpPr txBox="1"/>
          <p:nvPr/>
        </p:nvSpPr>
        <p:spPr>
          <a:xfrm>
            <a:off x="6583680" y="4736592"/>
            <a:ext cx="4892040" cy="566928"/>
          </a:xfrm>
          <a:prstGeom prst="rect">
            <a:avLst/>
          </a:prstGeom>
          <a:noFill/>
          <a:ln/>
        </p:spPr>
        <p:txBody>
          <a:bodyPr wrap="square" lIns="0" tIns="0" rIns="0" bIns="0" rtlCol="0" anchor="ctr"/>
          <a:lstStyle/>
          <a:p>
            <a:pPr indent="0" marL="0">
              <a:lnSpc>
                <a:spcPct val="102000"/>
              </a:lnSpc>
              <a:buNone/>
            </a:pPr>
            <a:r>
              <a:rPr lang="en-US" sz="1100" b="1" dirty="0">
                <a:solidFill>
                  <a:srgbClr val="1F2430"/>
                </a:solidFill>
                <a:latin typeface="Malgun Gothic" pitchFamily="34" charset="0"/>
                <a:ea typeface="Malgun Gothic" pitchFamily="34" charset="-122"/>
                <a:cs typeface="Malgun Gothic" pitchFamily="34" charset="-120"/>
              </a:rPr>
              <a:t>직거래 원칙 주입 — </a:t>
            </a:r>
            <a:pPr indent="0" marL="0">
              <a:lnSpc>
                <a:spcPct val="102000"/>
              </a:lnSpc>
              <a:buNone/>
            </a:pPr>
            <a:r>
              <a:rPr lang="en-US" sz="1100" dirty="0">
                <a:solidFill>
                  <a:srgbClr val="37503F"/>
                </a:solidFill>
                <a:latin typeface="Malgun Gothic" pitchFamily="34" charset="0"/>
                <a:ea typeface="Malgun Gothic" pitchFamily="34" charset="-122"/>
                <a:cs typeface="Malgun Gothic" pitchFamily="34" charset="-120"/>
              </a:rPr>
              <a:t>택배·선입금·앱 밖 연락 = 위험 신호</a:t>
            </a:r>
            <a:endParaRPr lang="en-US" sz="1100" dirty="0"/>
          </a:p>
        </p:txBody>
      </p:sp>
      <p:sp>
        <p:nvSpPr>
          <p:cNvPr id="55" name="Text 53"/>
          <p:cNvSpPr txBox="1"/>
          <p:nvPr/>
        </p:nvSpPr>
        <p:spPr>
          <a:xfrm>
            <a:off x="6583680" y="5358384"/>
            <a:ext cx="4892040" cy="566928"/>
          </a:xfrm>
          <a:prstGeom prst="rect">
            <a:avLst/>
          </a:prstGeom>
          <a:noFill/>
          <a:ln/>
        </p:spPr>
        <p:txBody>
          <a:bodyPr wrap="square" lIns="0" tIns="0" rIns="0" bIns="0" rtlCol="0" anchor="ctr"/>
          <a:lstStyle/>
          <a:p>
            <a:pPr indent="0" marL="0">
              <a:lnSpc>
                <a:spcPct val="102000"/>
              </a:lnSpc>
              <a:buNone/>
            </a:pPr>
            <a:r>
              <a:rPr lang="en-US" sz="1100" b="1" dirty="0">
                <a:solidFill>
                  <a:srgbClr val="1F2430"/>
                </a:solidFill>
                <a:latin typeface="Malgun Gothic" pitchFamily="34" charset="0"/>
                <a:ea typeface="Malgun Gothic" pitchFamily="34" charset="-122"/>
                <a:cs typeface="Malgun Gothic" pitchFamily="34" charset="-120"/>
              </a:rPr>
              <a:t>판정은 규칙이 — </a:t>
            </a:r>
            <a:pPr indent="0" marL="0">
              <a:lnSpc>
                <a:spcPct val="102000"/>
              </a:lnSpc>
              <a:buNone/>
            </a:pPr>
            <a:r>
              <a:rPr lang="en-US" sz="1100" dirty="0">
                <a:solidFill>
                  <a:srgbClr val="37503F"/>
                </a:solidFill>
                <a:latin typeface="Malgun Gothic" pitchFamily="34" charset="0"/>
                <a:ea typeface="Malgun Gothic" pitchFamily="34" charset="-122"/>
                <a:cs typeface="Malgun Gothic" pitchFamily="34" charset="-120"/>
              </a:rPr>
              <a:t>AI 변덕과 무관, 같은 자료=같은 점수</a:t>
            </a:r>
            <a:endParaRPr lang="en-US" sz="1100" dirty="0"/>
          </a:p>
        </p:txBody>
      </p:sp>
      <p:sp>
        <p:nvSpPr>
          <p:cNvPr id="56" name="Text 54"/>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ADMIN</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관리자 대시보드</a:t>
            </a:r>
            <a:endParaRPr lang="en-US" sz="2800" dirty="0"/>
          </a:p>
        </p:txBody>
      </p:sp>
      <p:sp>
        <p:nvSpPr>
          <p:cNvPr id="4" name="Shape 2"/>
          <p:cNvSpPr/>
          <p:nvPr/>
        </p:nvSpPr>
        <p:spPr>
          <a:xfrm>
            <a:off x="640080" y="1554480"/>
            <a:ext cx="5577840" cy="4297680"/>
          </a:xfrm>
          <a:prstGeom prst="roundRect">
            <a:avLst>
              <a:gd name="adj" fmla="val 1915"/>
            </a:avLst>
          </a:prstGeom>
          <a:solidFill>
            <a:srgbClr val="F4F5F7"/>
          </a:solidFill>
          <a:ln w="12700">
            <a:solidFill>
              <a:srgbClr val="D8DBE0"/>
            </a:solidFill>
            <a:prstDash val="solid"/>
          </a:ln>
          <a:effectLst>
            <a:outerShdw sx="100000" sy="100000" kx="0" ky="0" algn="bl" rotWithShape="0" blurRad="76200" dist="25400" dir="5400000">
              <a:srgbClr val="9AA0A6">
                <a:alpha val="20000"/>
              </a:srgbClr>
            </a:outerShdw>
          </a:effectLst>
        </p:spPr>
      </p:sp>
      <p:pic>
        <p:nvPicPr>
          <p:cNvPr id="5" name="Image 0" descr="/tmp/edit/shots/s7_admin.png">    </p:cNvPr>
          <p:cNvPicPr>
            <a:picLocks noChangeAspect="1"/>
          </p:cNvPicPr>
          <p:nvPr/>
        </p:nvPicPr>
        <p:blipFill>
          <a:blip r:embed="rId1"/>
          <a:stretch>
            <a:fillRect/>
          </a:stretch>
        </p:blipFill>
        <p:spPr>
          <a:xfrm>
            <a:off x="1038173" y="1700784"/>
            <a:ext cx="4781654" cy="3712464"/>
          </a:xfrm>
          <a:prstGeom prst="rect">
            <a:avLst/>
          </a:prstGeom>
        </p:spPr>
      </p:pic>
      <p:sp>
        <p:nvSpPr>
          <p:cNvPr id="6" name="Text 3"/>
          <p:cNvSpPr txBox="1"/>
          <p:nvPr/>
        </p:nvSpPr>
        <p:spPr>
          <a:xfrm>
            <a:off x="640080" y="5559552"/>
            <a:ext cx="5577840" cy="274320"/>
          </a:xfrm>
          <a:prstGeom prst="rect">
            <a:avLst/>
          </a:prstGeom>
          <a:noFill/>
          <a:ln/>
        </p:spPr>
        <p:txBody>
          <a:bodyPr wrap="square" lIns="0" tIns="0" rIns="0" bIns="0" rtlCol="0" anchor="ctr"/>
          <a:lstStyle/>
          <a:p>
            <a:pPr algn="ctr" indent="0" marL="0">
              <a:buNone/>
            </a:pPr>
            <a:r>
              <a:rPr lang="en-US" sz="1000" b="1" dirty="0">
                <a:solidFill>
                  <a:srgbClr val="6B7280"/>
                </a:solidFill>
                <a:latin typeface="Malgun Gothic" pitchFamily="34" charset="0"/>
                <a:ea typeface="Malgun Gothic" pitchFamily="34" charset="-122"/>
                <a:cs typeface="Malgun Gothic" pitchFamily="34" charset="-120"/>
              </a:rPr>
              <a:t>관리자 대시보드 — 현황·신고·통계</a:t>
            </a:r>
            <a:endParaRPr lang="en-US" sz="1000" dirty="0"/>
          </a:p>
        </p:txBody>
      </p:sp>
      <p:sp>
        <p:nvSpPr>
          <p:cNvPr id="7" name="Shape 4"/>
          <p:cNvSpPr/>
          <p:nvPr/>
        </p:nvSpPr>
        <p:spPr>
          <a:xfrm>
            <a:off x="6446520" y="1554480"/>
            <a:ext cx="5166360" cy="4297680"/>
          </a:xfrm>
          <a:prstGeom prst="roundRect">
            <a:avLst>
              <a:gd name="adj" fmla="val 1915"/>
            </a:avLst>
          </a:prstGeom>
          <a:solidFill>
            <a:srgbClr val="FFF4E6"/>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8" name="Text 5"/>
          <p:cNvSpPr txBox="1"/>
          <p:nvPr/>
        </p:nvSpPr>
        <p:spPr>
          <a:xfrm>
            <a:off x="6675120" y="1691640"/>
            <a:ext cx="4572000" cy="320040"/>
          </a:xfrm>
          <a:prstGeom prst="rect">
            <a:avLst/>
          </a:prstGeom>
          <a:noFill/>
          <a:ln/>
        </p:spPr>
        <p:txBody>
          <a:bodyPr wrap="square" lIns="0" tIns="0" rIns="0" bIns="0" rtlCol="0" anchor="ctr"/>
          <a:lstStyle/>
          <a:p>
            <a:pPr indent="0" marL="0">
              <a:buNone/>
            </a:pPr>
            <a:r>
              <a:rPr lang="en-US" sz="1400" b="1" dirty="0">
                <a:solidFill>
                  <a:srgbClr val="B5651D"/>
                </a:solidFill>
                <a:latin typeface="Malgun Gothic" pitchFamily="34" charset="0"/>
                <a:ea typeface="Malgun Gothic" pitchFamily="34" charset="-122"/>
                <a:cs typeface="Malgun Gothic" pitchFamily="34" charset="-120"/>
              </a:rPr>
              <a:t>왜 필요한가</a:t>
            </a:r>
            <a:endParaRPr lang="en-US" sz="1400" dirty="0"/>
          </a:p>
        </p:txBody>
      </p:sp>
      <p:sp>
        <p:nvSpPr>
          <p:cNvPr id="9" name="Text 6"/>
          <p:cNvSpPr txBox="1"/>
          <p:nvPr/>
        </p:nvSpPr>
        <p:spPr>
          <a:xfrm>
            <a:off x="6675120" y="2084832"/>
            <a:ext cx="4709160" cy="685800"/>
          </a:xfrm>
          <a:prstGeom prst="rect">
            <a:avLst/>
          </a:prstGeom>
          <a:noFill/>
          <a:ln/>
        </p:spPr>
        <p:txBody>
          <a:bodyPr wrap="square" lIns="0" tIns="0" rIns="0" bIns="0" rtlCol="0" anchor="t"/>
          <a:lstStyle/>
          <a:p>
            <a:pPr indent="0" marL="0">
              <a:lnSpc>
                <a:spcPct val="110000"/>
              </a:lnSpc>
              <a:buNone/>
            </a:pPr>
            <a:r>
              <a:rPr lang="en-US" sz="1200" dirty="0">
                <a:solidFill>
                  <a:srgbClr val="37503F"/>
                </a:solidFill>
                <a:latin typeface="Malgun Gothic" pitchFamily="34" charset="0"/>
                <a:ea typeface="Malgun Gothic" pitchFamily="34" charset="-122"/>
                <a:cs typeface="Malgun Gothic" pitchFamily="34" charset="-120"/>
              </a:rPr>
              <a:t>흩어진 신고·회원·매물을 한곳에 모아 '지금 처리할 것'부터 보여준다.</a:t>
            </a:r>
            <a:endParaRPr lang="en-US" sz="1200" dirty="0"/>
          </a:p>
        </p:txBody>
      </p:sp>
      <p:sp>
        <p:nvSpPr>
          <p:cNvPr id="10" name="Text 7"/>
          <p:cNvSpPr txBox="1"/>
          <p:nvPr/>
        </p:nvSpPr>
        <p:spPr>
          <a:xfrm>
            <a:off x="6675120" y="2834640"/>
            <a:ext cx="4572000" cy="320040"/>
          </a:xfrm>
          <a:prstGeom prst="rect">
            <a:avLst/>
          </a:prstGeom>
          <a:noFill/>
          <a:ln/>
        </p:spPr>
        <p:txBody>
          <a:bodyPr wrap="square" lIns="0" tIns="0" rIns="0" bIns="0" rtlCol="0" anchor="ctr"/>
          <a:lstStyle/>
          <a:p>
            <a:pPr indent="0" marL="0">
              <a:buNone/>
            </a:pPr>
            <a:r>
              <a:rPr lang="en-US" sz="1300" b="1" dirty="0">
                <a:solidFill>
                  <a:srgbClr val="1F2430"/>
                </a:solidFill>
                <a:latin typeface="Malgun Gothic" pitchFamily="34" charset="0"/>
                <a:ea typeface="Malgun Gothic" pitchFamily="34" charset="-122"/>
                <a:cs typeface="Malgun Gothic" pitchFamily="34" charset="-120"/>
              </a:rPr>
              <a:t>관리자가 하는 일</a:t>
            </a:r>
            <a:endParaRPr lang="en-US" sz="1300" dirty="0"/>
          </a:p>
        </p:txBody>
      </p:sp>
      <p:sp>
        <p:nvSpPr>
          <p:cNvPr id="11" name="Text 8"/>
          <p:cNvSpPr txBox="1"/>
          <p:nvPr/>
        </p:nvSpPr>
        <p:spPr>
          <a:xfrm>
            <a:off x="6720840" y="3200400"/>
            <a:ext cx="4572000" cy="347472"/>
          </a:xfrm>
          <a:prstGeom prst="rect">
            <a:avLst/>
          </a:prstGeom>
          <a:noFill/>
          <a:ln/>
        </p:spPr>
        <p:txBody>
          <a:bodyPr wrap="square" lIns="0" tIns="0" rIns="0" bIns="0" rtlCol="0" anchor="ctr"/>
          <a:lstStyle/>
          <a:p>
            <a:pPr indent="0" marL="0">
              <a:buNone/>
            </a:pPr>
            <a:r>
              <a:rPr lang="en-US" sz="1150" dirty="0">
                <a:solidFill>
                  <a:srgbClr val="3A3F4B"/>
                </a:solidFill>
                <a:latin typeface="Malgun Gothic" pitchFamily="34" charset="0"/>
                <a:ea typeface="Malgun Gothic" pitchFamily="34" charset="-122"/>
                <a:cs typeface="Malgun Gothic" pitchFamily="34" charset="-120"/>
              </a:rPr>
              <a:t>· 신고 확인 · AI 조사 요청</a:t>
            </a:r>
            <a:endParaRPr lang="en-US" sz="1150" dirty="0"/>
          </a:p>
        </p:txBody>
      </p:sp>
      <p:sp>
        <p:nvSpPr>
          <p:cNvPr id="12" name="Text 9"/>
          <p:cNvSpPr txBox="1"/>
          <p:nvPr/>
        </p:nvSpPr>
        <p:spPr>
          <a:xfrm>
            <a:off x="6720840" y="3584448"/>
            <a:ext cx="4572000" cy="347472"/>
          </a:xfrm>
          <a:prstGeom prst="rect">
            <a:avLst/>
          </a:prstGeom>
          <a:noFill/>
          <a:ln/>
        </p:spPr>
        <p:txBody>
          <a:bodyPr wrap="square" lIns="0" tIns="0" rIns="0" bIns="0" rtlCol="0" anchor="ctr"/>
          <a:lstStyle/>
          <a:p>
            <a:pPr indent="0" marL="0">
              <a:buNone/>
            </a:pPr>
            <a:r>
              <a:rPr lang="en-US" sz="1150" dirty="0">
                <a:solidFill>
                  <a:srgbClr val="3A3F4B"/>
                </a:solidFill>
                <a:latin typeface="Malgun Gothic" pitchFamily="34" charset="0"/>
                <a:ea typeface="Malgun Gothic" pitchFamily="34" charset="-122"/>
                <a:cs typeface="Malgun Gothic" pitchFamily="34" charset="-120"/>
              </a:rPr>
              <a:t>· 회원 정지 / 해제</a:t>
            </a:r>
            <a:endParaRPr lang="en-US" sz="1150" dirty="0"/>
          </a:p>
        </p:txBody>
      </p:sp>
      <p:sp>
        <p:nvSpPr>
          <p:cNvPr id="13" name="Text 10"/>
          <p:cNvSpPr txBox="1"/>
          <p:nvPr/>
        </p:nvSpPr>
        <p:spPr>
          <a:xfrm>
            <a:off x="6720840" y="3968496"/>
            <a:ext cx="4572000" cy="347472"/>
          </a:xfrm>
          <a:prstGeom prst="rect">
            <a:avLst/>
          </a:prstGeom>
          <a:noFill/>
          <a:ln/>
        </p:spPr>
        <p:txBody>
          <a:bodyPr wrap="square" lIns="0" tIns="0" rIns="0" bIns="0" rtlCol="0" anchor="ctr"/>
          <a:lstStyle/>
          <a:p>
            <a:pPr indent="0" marL="0">
              <a:buNone/>
            </a:pPr>
            <a:r>
              <a:rPr lang="en-US" sz="1150" dirty="0">
                <a:solidFill>
                  <a:srgbClr val="3A3F4B"/>
                </a:solidFill>
                <a:latin typeface="Malgun Gothic" pitchFamily="34" charset="0"/>
                <a:ea typeface="Malgun Gothic" pitchFamily="34" charset="-122"/>
                <a:cs typeface="Malgun Gothic" pitchFamily="34" charset="-120"/>
              </a:rPr>
              <a:t>· 매물 숨김 / 공개</a:t>
            </a:r>
            <a:endParaRPr lang="en-US" sz="1150" dirty="0"/>
          </a:p>
        </p:txBody>
      </p:sp>
      <p:sp>
        <p:nvSpPr>
          <p:cNvPr id="14" name="Text 11"/>
          <p:cNvSpPr txBox="1"/>
          <p:nvPr/>
        </p:nvSpPr>
        <p:spPr>
          <a:xfrm>
            <a:off x="6720840" y="4352544"/>
            <a:ext cx="4572000" cy="347472"/>
          </a:xfrm>
          <a:prstGeom prst="rect">
            <a:avLst/>
          </a:prstGeom>
          <a:noFill/>
          <a:ln/>
        </p:spPr>
        <p:txBody>
          <a:bodyPr wrap="square" lIns="0" tIns="0" rIns="0" bIns="0" rtlCol="0" anchor="ctr"/>
          <a:lstStyle/>
          <a:p>
            <a:pPr indent="0" marL="0">
              <a:buNone/>
            </a:pPr>
            <a:r>
              <a:rPr lang="en-US" sz="1150" dirty="0">
                <a:solidFill>
                  <a:srgbClr val="3A3F4B"/>
                </a:solidFill>
                <a:latin typeface="Malgun Gothic" pitchFamily="34" charset="0"/>
                <a:ea typeface="Malgun Gothic" pitchFamily="34" charset="-122"/>
                <a:cs typeface="Malgun Gothic" pitchFamily="34" charset="-120"/>
              </a:rPr>
              <a:t>· 경고 발송</a:t>
            </a:r>
            <a:endParaRPr lang="en-US" sz="1150" dirty="0"/>
          </a:p>
        </p:txBody>
      </p:sp>
      <p:sp>
        <p:nvSpPr>
          <p:cNvPr id="15" name="Text 12"/>
          <p:cNvSpPr txBox="1"/>
          <p:nvPr/>
        </p:nvSpPr>
        <p:spPr>
          <a:xfrm>
            <a:off x="6675120" y="4892040"/>
            <a:ext cx="4572000" cy="320040"/>
          </a:xfrm>
          <a:prstGeom prst="rect">
            <a:avLst/>
          </a:prstGeom>
          <a:noFill/>
          <a:ln/>
        </p:spPr>
        <p:txBody>
          <a:bodyPr wrap="square" lIns="0" tIns="0" rIns="0" bIns="0" rtlCol="0" anchor="ctr"/>
          <a:lstStyle/>
          <a:p>
            <a:pPr indent="0" marL="0">
              <a:buNone/>
            </a:pPr>
            <a:r>
              <a:rPr lang="en-US" sz="1300" b="1" dirty="0">
                <a:solidFill>
                  <a:srgbClr val="2F9E44"/>
                </a:solidFill>
                <a:latin typeface="Malgun Gothic" pitchFamily="34" charset="0"/>
                <a:ea typeface="Malgun Gothic" pitchFamily="34" charset="-122"/>
                <a:cs typeface="Malgun Gothic" pitchFamily="34" charset="-120"/>
              </a:rPr>
              <a:t>어떤 정보가 모이나</a:t>
            </a:r>
            <a:endParaRPr lang="en-US" sz="1300" dirty="0"/>
          </a:p>
        </p:txBody>
      </p:sp>
      <p:sp>
        <p:nvSpPr>
          <p:cNvPr id="16" name="Text 13"/>
          <p:cNvSpPr txBox="1"/>
          <p:nvPr/>
        </p:nvSpPr>
        <p:spPr>
          <a:xfrm>
            <a:off x="6675120" y="5230368"/>
            <a:ext cx="4709160" cy="548640"/>
          </a:xfrm>
          <a:prstGeom prst="rect">
            <a:avLst/>
          </a:prstGeom>
          <a:noFill/>
          <a:ln/>
        </p:spPr>
        <p:txBody>
          <a:bodyPr wrap="square" lIns="0" tIns="0" rIns="0" bIns="0" rtlCol="0" anchor="t"/>
          <a:lstStyle/>
          <a:p>
            <a:pPr indent="0" marL="0">
              <a:lnSpc>
                <a:spcPct val="105000"/>
              </a:lnSpc>
              <a:buNone/>
            </a:pPr>
            <a:r>
              <a:rPr lang="en-US" sz="1100" dirty="0">
                <a:solidFill>
                  <a:srgbClr val="3A3F4B"/>
                </a:solidFill>
                <a:latin typeface="Malgun Gothic" pitchFamily="34" charset="0"/>
                <a:ea typeface="Malgun Gothic" pitchFamily="34" charset="-122"/>
                <a:cs typeface="Malgun Gothic" pitchFamily="34" charset="-120"/>
              </a:rPr>
              <a:t>오늘·이번주·전체 집계 · 미처리 신고 · 정지 회원 · 매물/회원 추이 그래프</a:t>
            </a:r>
            <a:endParaRPr lang="en-US" sz="1100" dirty="0"/>
          </a:p>
        </p:txBody>
      </p:sp>
      <p:sp>
        <p:nvSpPr>
          <p:cNvPr id="17" name="Text 14"/>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PREVENTION ★ 구현 완료</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사전 예방 — 사기를 '벌어지기 전'에 막는다</a:t>
            </a:r>
            <a:endParaRPr lang="en-US" sz="2800" dirty="0"/>
          </a:p>
        </p:txBody>
      </p:sp>
      <p:sp>
        <p:nvSpPr>
          <p:cNvPr id="4" name="Text 2"/>
          <p:cNvSpPr txBox="1"/>
          <p:nvPr/>
        </p:nvSpPr>
        <p:spPr>
          <a:xfrm>
            <a:off x="548640" y="1371600"/>
            <a:ext cx="11155680" cy="365760"/>
          </a:xfrm>
          <a:prstGeom prst="rect">
            <a:avLst/>
          </a:prstGeom>
          <a:noFill/>
          <a:ln/>
        </p:spPr>
        <p:txBody>
          <a:bodyPr wrap="square" lIns="0" tIns="0" rIns="0" bIns="0" rtlCol="0" anchor="ctr"/>
          <a:lstStyle/>
          <a:p>
            <a:pPr indent="0" marL="0">
              <a:buNone/>
            </a:pPr>
            <a:r>
              <a:rPr lang="en-US" sz="1350" dirty="0">
                <a:solidFill>
                  <a:srgbClr val="6B7280"/>
                </a:solidFill>
                <a:latin typeface="Malgun Gothic" pitchFamily="34" charset="0"/>
                <a:ea typeface="Malgun Gothic" pitchFamily="34" charset="-122"/>
                <a:cs typeface="Malgun Gothic" pitchFamily="34" charset="-120"/>
              </a:rPr>
              <a:t>신고를 기다리지 않는다. 채팅 한 줄에서 위험 표현을 실시간으로 잡아 단계적으로 조치한다.</a:t>
            </a:r>
            <a:endParaRPr lang="en-US" sz="1350" dirty="0"/>
          </a:p>
        </p:txBody>
      </p:sp>
      <p:sp>
        <p:nvSpPr>
          <p:cNvPr id="5" name="Shape 3"/>
          <p:cNvSpPr/>
          <p:nvPr/>
        </p:nvSpPr>
        <p:spPr>
          <a:xfrm>
            <a:off x="640080" y="2011680"/>
            <a:ext cx="1673352" cy="1600200"/>
          </a:xfrm>
          <a:prstGeom prst="roundRect">
            <a:avLst>
              <a:gd name="adj" fmla="val 514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6" name="Shape 4"/>
          <p:cNvSpPr/>
          <p:nvPr/>
        </p:nvSpPr>
        <p:spPr>
          <a:xfrm>
            <a:off x="640080" y="2011680"/>
            <a:ext cx="1673352" cy="457200"/>
          </a:xfrm>
          <a:prstGeom prst="roundRect">
            <a:avLst>
              <a:gd name="adj" fmla="val 16000"/>
            </a:avLst>
          </a:prstGeom>
          <a:solidFill>
            <a:srgbClr val="E8590C"/>
          </a:solidFill>
          <a:ln/>
        </p:spPr>
      </p:sp>
      <p:sp>
        <p:nvSpPr>
          <p:cNvPr id="7" name="Text 5"/>
          <p:cNvSpPr txBox="1"/>
          <p:nvPr/>
        </p:nvSpPr>
        <p:spPr>
          <a:xfrm>
            <a:off x="640080" y="2011680"/>
            <a:ext cx="167335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① 탐지</a:t>
            </a:r>
            <a:endParaRPr lang="en-US" sz="1300" dirty="0"/>
          </a:p>
        </p:txBody>
      </p:sp>
      <p:sp>
        <p:nvSpPr>
          <p:cNvPr id="8" name="Text 6"/>
          <p:cNvSpPr txBox="1"/>
          <p:nvPr/>
        </p:nvSpPr>
        <p:spPr>
          <a:xfrm>
            <a:off x="713232" y="2578608"/>
            <a:ext cx="1527048" cy="914400"/>
          </a:xfrm>
          <a:prstGeom prst="rect">
            <a:avLst/>
          </a:prstGeom>
          <a:noFill/>
          <a:ln/>
        </p:spPr>
        <p:txBody>
          <a:bodyPr wrap="square" lIns="0" tIns="0" rIns="0" bIns="0" rtlCol="0" anchor="t"/>
          <a:lstStyle/>
          <a:p>
            <a:pPr algn="ctr" indent="0" marL="0">
              <a:lnSpc>
                <a:spcPct val="108000"/>
              </a:lnSpc>
              <a:buNone/>
            </a:pPr>
            <a:r>
              <a:rPr lang="en-US" sz="1050" dirty="0">
                <a:solidFill>
                  <a:srgbClr val="3A3F4B"/>
                </a:solidFill>
                <a:latin typeface="Malgun Gothic" pitchFamily="34" charset="0"/>
                <a:ea typeface="Malgun Gothic" pitchFamily="34" charset="-122"/>
                <a:cs typeface="Malgun Gothic" pitchFamily="34" charset="-120"/>
              </a:rPr>
              <a:t>금칙어·사기 유도</a:t>
            </a:r>
            <a:endParaRPr lang="en-US" sz="1050" dirty="0"/>
          </a:p>
          <a:p>
            <a:pPr algn="ctr" indent="0" marL="0">
              <a:lnSpc>
                <a:spcPct val="108000"/>
              </a:lnSpc>
              <a:buNone/>
            </a:pPr>
            <a:r>
              <a:rPr lang="en-US" sz="1050" dirty="0">
                <a:solidFill>
                  <a:srgbClr val="3A3F4B"/>
                </a:solidFill>
                <a:latin typeface="Malgun Gothic" pitchFamily="34" charset="0"/>
                <a:ea typeface="Malgun Gothic" pitchFamily="34" charset="-122"/>
                <a:cs typeface="Malgun Gothic" pitchFamily="34" charset="-120"/>
              </a:rPr>
              <a:t>실시간 감지</a:t>
            </a:r>
            <a:endParaRPr lang="en-US" sz="1050" dirty="0"/>
          </a:p>
        </p:txBody>
      </p:sp>
      <p:sp>
        <p:nvSpPr>
          <p:cNvPr id="9" name="Shape 7"/>
          <p:cNvSpPr/>
          <p:nvPr/>
        </p:nvSpPr>
        <p:spPr>
          <a:xfrm>
            <a:off x="2331720" y="2715768"/>
            <a:ext cx="137160" cy="201168"/>
          </a:xfrm>
          <a:prstGeom prst="rightArrow">
            <a:avLst/>
          </a:prstGeom>
          <a:solidFill>
            <a:srgbClr val="FF922B"/>
          </a:solidFill>
          <a:ln/>
        </p:spPr>
      </p:sp>
      <p:sp>
        <p:nvSpPr>
          <p:cNvPr id="10" name="Shape 8"/>
          <p:cNvSpPr/>
          <p:nvPr/>
        </p:nvSpPr>
        <p:spPr>
          <a:xfrm>
            <a:off x="2478024" y="2011680"/>
            <a:ext cx="1673352" cy="1600200"/>
          </a:xfrm>
          <a:prstGeom prst="roundRect">
            <a:avLst>
              <a:gd name="adj" fmla="val 514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1" name="Shape 9"/>
          <p:cNvSpPr/>
          <p:nvPr/>
        </p:nvSpPr>
        <p:spPr>
          <a:xfrm>
            <a:off x="2478024" y="2011680"/>
            <a:ext cx="1673352" cy="457200"/>
          </a:xfrm>
          <a:prstGeom prst="roundRect">
            <a:avLst>
              <a:gd name="adj" fmla="val 16000"/>
            </a:avLst>
          </a:prstGeom>
          <a:solidFill>
            <a:srgbClr val="FF922B"/>
          </a:solidFill>
          <a:ln/>
        </p:spPr>
      </p:sp>
      <p:sp>
        <p:nvSpPr>
          <p:cNvPr id="12" name="Text 10"/>
          <p:cNvSpPr txBox="1"/>
          <p:nvPr/>
        </p:nvSpPr>
        <p:spPr>
          <a:xfrm>
            <a:off x="2478024" y="2011680"/>
            <a:ext cx="167335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② 증거 기록</a:t>
            </a:r>
            <a:endParaRPr lang="en-US" sz="1300" dirty="0"/>
          </a:p>
        </p:txBody>
      </p:sp>
      <p:sp>
        <p:nvSpPr>
          <p:cNvPr id="13" name="Text 11"/>
          <p:cNvSpPr txBox="1"/>
          <p:nvPr/>
        </p:nvSpPr>
        <p:spPr>
          <a:xfrm>
            <a:off x="2551176" y="2578608"/>
            <a:ext cx="1527048" cy="914400"/>
          </a:xfrm>
          <a:prstGeom prst="rect">
            <a:avLst/>
          </a:prstGeom>
          <a:noFill/>
          <a:ln/>
        </p:spPr>
        <p:txBody>
          <a:bodyPr wrap="square" lIns="0" tIns="0" rIns="0" bIns="0" rtlCol="0" anchor="t"/>
          <a:lstStyle/>
          <a:p>
            <a:pPr algn="ctr" indent="0" marL="0">
              <a:lnSpc>
                <a:spcPct val="108000"/>
              </a:lnSpc>
              <a:buNone/>
            </a:pPr>
            <a:r>
              <a:rPr lang="en-US" sz="1050" dirty="0">
                <a:solidFill>
                  <a:srgbClr val="3A3F4B"/>
                </a:solidFill>
                <a:latin typeface="Malgun Gothic" pitchFamily="34" charset="0"/>
                <a:ea typeface="Malgun Gothic" pitchFamily="34" charset="-122"/>
                <a:cs typeface="Malgun Gothic" pitchFamily="34" charset="-120"/>
              </a:rPr>
              <a:t>어긴 문장을</a:t>
            </a:r>
            <a:endParaRPr lang="en-US" sz="1050" dirty="0"/>
          </a:p>
          <a:p>
            <a:pPr algn="ctr" indent="0" marL="0">
              <a:lnSpc>
                <a:spcPct val="108000"/>
              </a:lnSpc>
              <a:buNone/>
            </a:pPr>
            <a:r>
              <a:rPr lang="en-US" sz="1050" dirty="0">
                <a:solidFill>
                  <a:srgbClr val="3A3F4B"/>
                </a:solidFill>
                <a:latin typeface="Malgun Gothic" pitchFamily="34" charset="0"/>
                <a:ea typeface="Malgun Gothic" pitchFamily="34" charset="-122"/>
                <a:cs typeface="Malgun Gothic" pitchFamily="34" charset="-120"/>
              </a:rPr>
              <a:t>근거로 저장</a:t>
            </a:r>
            <a:endParaRPr lang="en-US" sz="1050" dirty="0"/>
          </a:p>
        </p:txBody>
      </p:sp>
      <p:sp>
        <p:nvSpPr>
          <p:cNvPr id="14" name="Shape 12"/>
          <p:cNvSpPr/>
          <p:nvPr/>
        </p:nvSpPr>
        <p:spPr>
          <a:xfrm>
            <a:off x="4169664" y="2715768"/>
            <a:ext cx="137160" cy="201168"/>
          </a:xfrm>
          <a:prstGeom prst="rightArrow">
            <a:avLst/>
          </a:prstGeom>
          <a:solidFill>
            <a:srgbClr val="FF922B"/>
          </a:solidFill>
          <a:ln/>
        </p:spPr>
      </p:sp>
      <p:sp>
        <p:nvSpPr>
          <p:cNvPr id="15" name="Shape 13"/>
          <p:cNvSpPr/>
          <p:nvPr/>
        </p:nvSpPr>
        <p:spPr>
          <a:xfrm>
            <a:off x="4315968" y="2011680"/>
            <a:ext cx="1673352" cy="1600200"/>
          </a:xfrm>
          <a:prstGeom prst="roundRect">
            <a:avLst>
              <a:gd name="adj" fmla="val 514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6" name="Shape 14"/>
          <p:cNvSpPr/>
          <p:nvPr/>
        </p:nvSpPr>
        <p:spPr>
          <a:xfrm>
            <a:off x="4315968" y="2011680"/>
            <a:ext cx="1673352" cy="457200"/>
          </a:xfrm>
          <a:prstGeom prst="roundRect">
            <a:avLst>
              <a:gd name="adj" fmla="val 16000"/>
            </a:avLst>
          </a:prstGeom>
          <a:solidFill>
            <a:srgbClr val="1C7293"/>
          </a:solidFill>
          <a:ln/>
        </p:spPr>
      </p:sp>
      <p:sp>
        <p:nvSpPr>
          <p:cNvPr id="17" name="Text 15"/>
          <p:cNvSpPr txBox="1"/>
          <p:nvPr/>
        </p:nvSpPr>
        <p:spPr>
          <a:xfrm>
            <a:off x="4315968" y="2011680"/>
            <a:ext cx="167335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③ 누진 카운트</a:t>
            </a:r>
            <a:endParaRPr lang="en-US" sz="1300" dirty="0"/>
          </a:p>
        </p:txBody>
      </p:sp>
      <p:sp>
        <p:nvSpPr>
          <p:cNvPr id="18" name="Text 16"/>
          <p:cNvSpPr txBox="1"/>
          <p:nvPr/>
        </p:nvSpPr>
        <p:spPr>
          <a:xfrm>
            <a:off x="4389120" y="2578608"/>
            <a:ext cx="1527048" cy="914400"/>
          </a:xfrm>
          <a:prstGeom prst="rect">
            <a:avLst/>
          </a:prstGeom>
          <a:noFill/>
          <a:ln/>
        </p:spPr>
        <p:txBody>
          <a:bodyPr wrap="square" lIns="0" tIns="0" rIns="0" bIns="0" rtlCol="0" anchor="t"/>
          <a:lstStyle/>
          <a:p>
            <a:pPr algn="ctr" indent="0" marL="0">
              <a:lnSpc>
                <a:spcPct val="108000"/>
              </a:lnSpc>
              <a:buNone/>
            </a:pPr>
            <a:r>
              <a:rPr lang="en-US" sz="1050" dirty="0">
                <a:solidFill>
                  <a:srgbClr val="3A3F4B"/>
                </a:solidFill>
                <a:latin typeface="Malgun Gothic" pitchFamily="34" charset="0"/>
                <a:ea typeface="Malgun Gothic" pitchFamily="34" charset="-122"/>
                <a:cs typeface="Malgun Gothic" pitchFamily="34" charset="-120"/>
              </a:rPr>
              <a:t>48시간 안</a:t>
            </a:r>
            <a:endParaRPr lang="en-US" sz="1050" dirty="0"/>
          </a:p>
          <a:p>
            <a:pPr algn="ctr" indent="0" marL="0">
              <a:lnSpc>
                <a:spcPct val="108000"/>
              </a:lnSpc>
              <a:buNone/>
            </a:pPr>
            <a:r>
              <a:rPr lang="en-US" sz="1050" dirty="0">
                <a:solidFill>
                  <a:srgbClr val="3A3F4B"/>
                </a:solidFill>
                <a:latin typeface="Malgun Gothic" pitchFamily="34" charset="0"/>
                <a:ea typeface="Malgun Gothic" pitchFamily="34" charset="-122"/>
                <a:cs typeface="Malgun Gothic" pitchFamily="34" charset="-120"/>
              </a:rPr>
              <a:t>반복 횟수 누적</a:t>
            </a:r>
            <a:endParaRPr lang="en-US" sz="1050" dirty="0"/>
          </a:p>
        </p:txBody>
      </p:sp>
      <p:sp>
        <p:nvSpPr>
          <p:cNvPr id="19" name="Shape 17"/>
          <p:cNvSpPr/>
          <p:nvPr/>
        </p:nvSpPr>
        <p:spPr>
          <a:xfrm>
            <a:off x="6007608" y="2715768"/>
            <a:ext cx="137160" cy="201168"/>
          </a:xfrm>
          <a:prstGeom prst="rightArrow">
            <a:avLst/>
          </a:prstGeom>
          <a:solidFill>
            <a:srgbClr val="FF922B"/>
          </a:solidFill>
          <a:ln/>
        </p:spPr>
      </p:sp>
      <p:sp>
        <p:nvSpPr>
          <p:cNvPr id="20" name="Shape 18"/>
          <p:cNvSpPr/>
          <p:nvPr/>
        </p:nvSpPr>
        <p:spPr>
          <a:xfrm>
            <a:off x="6153912" y="2011680"/>
            <a:ext cx="1673352" cy="1600200"/>
          </a:xfrm>
          <a:prstGeom prst="roundRect">
            <a:avLst>
              <a:gd name="adj" fmla="val 514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1" name="Shape 19"/>
          <p:cNvSpPr/>
          <p:nvPr/>
        </p:nvSpPr>
        <p:spPr>
          <a:xfrm>
            <a:off x="6153912" y="2011680"/>
            <a:ext cx="1673352" cy="457200"/>
          </a:xfrm>
          <a:prstGeom prst="roundRect">
            <a:avLst>
              <a:gd name="adj" fmla="val 16000"/>
            </a:avLst>
          </a:prstGeom>
          <a:solidFill>
            <a:srgbClr val="6B4FBB"/>
          </a:solidFill>
          <a:ln/>
        </p:spPr>
      </p:sp>
      <p:sp>
        <p:nvSpPr>
          <p:cNvPr id="22" name="Text 20"/>
          <p:cNvSpPr txBox="1"/>
          <p:nvPr/>
        </p:nvSpPr>
        <p:spPr>
          <a:xfrm>
            <a:off x="6153912" y="2011680"/>
            <a:ext cx="167335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④ 단계별 조치</a:t>
            </a:r>
            <a:endParaRPr lang="en-US" sz="1300" dirty="0"/>
          </a:p>
        </p:txBody>
      </p:sp>
      <p:sp>
        <p:nvSpPr>
          <p:cNvPr id="23" name="Text 21"/>
          <p:cNvSpPr txBox="1"/>
          <p:nvPr/>
        </p:nvSpPr>
        <p:spPr>
          <a:xfrm>
            <a:off x="6227064" y="2578608"/>
            <a:ext cx="1527048" cy="914400"/>
          </a:xfrm>
          <a:prstGeom prst="rect">
            <a:avLst/>
          </a:prstGeom>
          <a:noFill/>
          <a:ln/>
        </p:spPr>
        <p:txBody>
          <a:bodyPr wrap="square" lIns="0" tIns="0" rIns="0" bIns="0" rtlCol="0" anchor="t"/>
          <a:lstStyle/>
          <a:p>
            <a:pPr algn="ctr" indent="0" marL="0">
              <a:lnSpc>
                <a:spcPct val="108000"/>
              </a:lnSpc>
              <a:buNone/>
            </a:pPr>
            <a:r>
              <a:rPr lang="en-US" sz="1050" dirty="0">
                <a:solidFill>
                  <a:srgbClr val="3A3F4B"/>
                </a:solidFill>
                <a:latin typeface="Malgun Gothic" pitchFamily="34" charset="0"/>
                <a:ea typeface="Malgun Gothic" pitchFamily="34" charset="-122"/>
                <a:cs typeface="Malgun Gothic" pitchFamily="34" charset="-120"/>
              </a:rPr>
              <a:t>경고→매너↓</a:t>
            </a:r>
            <a:endParaRPr lang="en-US" sz="1050" dirty="0"/>
          </a:p>
          <a:p>
            <a:pPr algn="ctr" indent="0" marL="0">
              <a:lnSpc>
                <a:spcPct val="108000"/>
              </a:lnSpc>
              <a:buNone/>
            </a:pPr>
            <a:r>
              <a:rPr lang="en-US" sz="1050" dirty="0">
                <a:solidFill>
                  <a:srgbClr val="3A3F4B"/>
                </a:solidFill>
                <a:latin typeface="Malgun Gothic" pitchFamily="34" charset="0"/>
                <a:ea typeface="Malgun Gothic" pitchFamily="34" charset="-122"/>
                <a:cs typeface="Malgun Gothic" pitchFamily="34" charset="-120"/>
              </a:rPr>
              <a:t>→매물숨김→관리자</a:t>
            </a:r>
            <a:endParaRPr lang="en-US" sz="1050" dirty="0"/>
          </a:p>
        </p:txBody>
      </p:sp>
      <p:sp>
        <p:nvSpPr>
          <p:cNvPr id="24" name="Shape 22"/>
          <p:cNvSpPr/>
          <p:nvPr/>
        </p:nvSpPr>
        <p:spPr>
          <a:xfrm>
            <a:off x="7845552" y="2715768"/>
            <a:ext cx="137160" cy="201168"/>
          </a:xfrm>
          <a:prstGeom prst="rightArrow">
            <a:avLst/>
          </a:prstGeom>
          <a:solidFill>
            <a:srgbClr val="FF922B"/>
          </a:solidFill>
          <a:ln/>
        </p:spPr>
      </p:sp>
      <p:sp>
        <p:nvSpPr>
          <p:cNvPr id="25" name="Shape 23"/>
          <p:cNvSpPr/>
          <p:nvPr/>
        </p:nvSpPr>
        <p:spPr>
          <a:xfrm>
            <a:off x="7991856" y="2011680"/>
            <a:ext cx="1673352" cy="1600200"/>
          </a:xfrm>
          <a:prstGeom prst="roundRect">
            <a:avLst>
              <a:gd name="adj" fmla="val 514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6" name="Shape 24"/>
          <p:cNvSpPr/>
          <p:nvPr/>
        </p:nvSpPr>
        <p:spPr>
          <a:xfrm>
            <a:off x="7991856" y="2011680"/>
            <a:ext cx="1673352" cy="457200"/>
          </a:xfrm>
          <a:prstGeom prst="roundRect">
            <a:avLst>
              <a:gd name="adj" fmla="val 16000"/>
            </a:avLst>
          </a:prstGeom>
          <a:solidFill>
            <a:srgbClr val="2F9E44"/>
          </a:solidFill>
          <a:ln/>
        </p:spPr>
      </p:sp>
      <p:sp>
        <p:nvSpPr>
          <p:cNvPr id="27" name="Text 25"/>
          <p:cNvSpPr txBox="1"/>
          <p:nvPr/>
        </p:nvSpPr>
        <p:spPr>
          <a:xfrm>
            <a:off x="7991856" y="2011680"/>
            <a:ext cx="167335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⑤ 회복</a:t>
            </a:r>
            <a:endParaRPr lang="en-US" sz="1300" dirty="0"/>
          </a:p>
        </p:txBody>
      </p:sp>
      <p:sp>
        <p:nvSpPr>
          <p:cNvPr id="28" name="Text 26"/>
          <p:cNvSpPr txBox="1"/>
          <p:nvPr/>
        </p:nvSpPr>
        <p:spPr>
          <a:xfrm>
            <a:off x="8065008" y="2578608"/>
            <a:ext cx="1527048" cy="914400"/>
          </a:xfrm>
          <a:prstGeom prst="rect">
            <a:avLst/>
          </a:prstGeom>
          <a:noFill/>
          <a:ln/>
        </p:spPr>
        <p:txBody>
          <a:bodyPr wrap="square" lIns="0" tIns="0" rIns="0" bIns="0" rtlCol="0" anchor="t"/>
          <a:lstStyle/>
          <a:p>
            <a:pPr algn="ctr" indent="0" marL="0">
              <a:lnSpc>
                <a:spcPct val="108000"/>
              </a:lnSpc>
              <a:buNone/>
            </a:pPr>
            <a:r>
              <a:rPr lang="en-US" sz="1050" dirty="0">
                <a:solidFill>
                  <a:srgbClr val="3A3F4B"/>
                </a:solidFill>
                <a:latin typeface="Malgun Gothic" pitchFamily="34" charset="0"/>
                <a:ea typeface="Malgun Gothic" pitchFamily="34" charset="-122"/>
                <a:cs typeface="Malgun Gothic" pitchFamily="34" charset="-120"/>
              </a:rPr>
              <a:t>시간 지나면</a:t>
            </a:r>
            <a:endParaRPr lang="en-US" sz="1050" dirty="0"/>
          </a:p>
          <a:p>
            <a:pPr algn="ctr" indent="0" marL="0">
              <a:lnSpc>
                <a:spcPct val="108000"/>
              </a:lnSpc>
              <a:buNone/>
            </a:pPr>
            <a:r>
              <a:rPr lang="en-US" sz="1050" dirty="0">
                <a:solidFill>
                  <a:srgbClr val="3A3F4B"/>
                </a:solidFill>
                <a:latin typeface="Malgun Gothic" pitchFamily="34" charset="0"/>
                <a:ea typeface="Malgun Gothic" pitchFamily="34" charset="-122"/>
                <a:cs typeface="Malgun Gothic" pitchFamily="34" charset="-120"/>
              </a:rPr>
              <a:t>카운트 리셋</a:t>
            </a:r>
            <a:endParaRPr lang="en-US" sz="1050" dirty="0"/>
          </a:p>
        </p:txBody>
      </p:sp>
      <p:sp>
        <p:nvSpPr>
          <p:cNvPr id="29" name="Shape 27"/>
          <p:cNvSpPr/>
          <p:nvPr/>
        </p:nvSpPr>
        <p:spPr>
          <a:xfrm>
            <a:off x="9683496" y="2715768"/>
            <a:ext cx="137160" cy="201168"/>
          </a:xfrm>
          <a:prstGeom prst="rightArrow">
            <a:avLst/>
          </a:prstGeom>
          <a:solidFill>
            <a:srgbClr val="FF922B"/>
          </a:solidFill>
          <a:ln/>
        </p:spPr>
      </p:sp>
      <p:sp>
        <p:nvSpPr>
          <p:cNvPr id="30" name="Shape 28"/>
          <p:cNvSpPr/>
          <p:nvPr/>
        </p:nvSpPr>
        <p:spPr>
          <a:xfrm>
            <a:off x="9829800" y="2011680"/>
            <a:ext cx="1673352" cy="1600200"/>
          </a:xfrm>
          <a:prstGeom prst="roundRect">
            <a:avLst>
              <a:gd name="adj" fmla="val 5143"/>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31" name="Shape 29"/>
          <p:cNvSpPr/>
          <p:nvPr/>
        </p:nvSpPr>
        <p:spPr>
          <a:xfrm>
            <a:off x="9829800" y="2011680"/>
            <a:ext cx="1673352" cy="457200"/>
          </a:xfrm>
          <a:prstGeom prst="roundRect">
            <a:avLst>
              <a:gd name="adj" fmla="val 16000"/>
            </a:avLst>
          </a:prstGeom>
          <a:solidFill>
            <a:srgbClr val="868E96"/>
          </a:solidFill>
          <a:ln/>
        </p:spPr>
      </p:sp>
      <p:sp>
        <p:nvSpPr>
          <p:cNvPr id="32" name="Text 30"/>
          <p:cNvSpPr txBox="1"/>
          <p:nvPr/>
        </p:nvSpPr>
        <p:spPr>
          <a:xfrm>
            <a:off x="9829800" y="2011680"/>
            <a:ext cx="167335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⑥ 보관</a:t>
            </a:r>
            <a:endParaRPr lang="en-US" sz="1300" dirty="0"/>
          </a:p>
        </p:txBody>
      </p:sp>
      <p:sp>
        <p:nvSpPr>
          <p:cNvPr id="33" name="Text 31"/>
          <p:cNvSpPr txBox="1"/>
          <p:nvPr/>
        </p:nvSpPr>
        <p:spPr>
          <a:xfrm>
            <a:off x="9902952" y="2578608"/>
            <a:ext cx="1527048" cy="914400"/>
          </a:xfrm>
          <a:prstGeom prst="rect">
            <a:avLst/>
          </a:prstGeom>
          <a:noFill/>
          <a:ln/>
        </p:spPr>
        <p:txBody>
          <a:bodyPr wrap="square" lIns="0" tIns="0" rIns="0" bIns="0" rtlCol="0" anchor="t"/>
          <a:lstStyle/>
          <a:p>
            <a:pPr algn="ctr" indent="0" marL="0">
              <a:lnSpc>
                <a:spcPct val="108000"/>
              </a:lnSpc>
              <a:buNone/>
            </a:pPr>
            <a:r>
              <a:rPr lang="en-US" sz="1050" dirty="0">
                <a:solidFill>
                  <a:srgbClr val="3A3F4B"/>
                </a:solidFill>
                <a:latin typeface="Malgun Gothic" pitchFamily="34" charset="0"/>
                <a:ea typeface="Malgun Gothic" pitchFamily="34" charset="-122"/>
                <a:cs typeface="Malgun Gothic" pitchFamily="34" charset="-120"/>
              </a:rPr>
              <a:t>15일 뒤</a:t>
            </a:r>
            <a:endParaRPr lang="en-US" sz="1050" dirty="0"/>
          </a:p>
          <a:p>
            <a:pPr algn="ctr" indent="0" marL="0">
              <a:lnSpc>
                <a:spcPct val="108000"/>
              </a:lnSpc>
              <a:buNone/>
            </a:pPr>
            <a:r>
              <a:rPr lang="en-US" sz="1050" dirty="0">
                <a:solidFill>
                  <a:srgbClr val="3A3F4B"/>
                </a:solidFill>
                <a:latin typeface="Malgun Gothic" pitchFamily="34" charset="0"/>
                <a:ea typeface="Malgun Gothic" pitchFamily="34" charset="-122"/>
                <a:cs typeface="Malgun Gothic" pitchFamily="34" charset="-120"/>
              </a:rPr>
              <a:t>근거 자동 삭제</a:t>
            </a:r>
            <a:endParaRPr lang="en-US" sz="1050" dirty="0"/>
          </a:p>
        </p:txBody>
      </p:sp>
      <p:sp>
        <p:nvSpPr>
          <p:cNvPr id="34" name="Shape 32"/>
          <p:cNvSpPr/>
          <p:nvPr/>
        </p:nvSpPr>
        <p:spPr>
          <a:xfrm>
            <a:off x="640080" y="3977640"/>
            <a:ext cx="11018520" cy="2011680"/>
          </a:xfrm>
          <a:prstGeom prst="roundRect">
            <a:avLst>
              <a:gd name="adj" fmla="val 4091"/>
            </a:avLst>
          </a:prstGeom>
          <a:solidFill>
            <a:srgbClr val="1F2430"/>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35" name="Text 33"/>
          <p:cNvSpPr txBox="1"/>
          <p:nvPr/>
        </p:nvSpPr>
        <p:spPr>
          <a:xfrm>
            <a:off x="868680" y="4114800"/>
            <a:ext cx="7315200" cy="320040"/>
          </a:xfrm>
          <a:prstGeom prst="rect">
            <a:avLst/>
          </a:prstGeom>
          <a:noFill/>
          <a:ln/>
        </p:spPr>
        <p:txBody>
          <a:bodyPr wrap="square" lIns="0" tIns="0" rIns="0" bIns="0" rtlCol="0" anchor="ctr"/>
          <a:lstStyle/>
          <a:p>
            <a:pPr indent="0" marL="0">
              <a:buNone/>
            </a:pPr>
            <a:r>
              <a:rPr lang="en-US" sz="1500" b="1" dirty="0">
                <a:solidFill>
                  <a:srgbClr val="FF922B"/>
                </a:solidFill>
                <a:latin typeface="Malgun Gothic" pitchFamily="34" charset="0"/>
                <a:ea typeface="Malgun Gothic" pitchFamily="34" charset="-122"/>
                <a:cs typeface="Malgun Gothic" pitchFamily="34" charset="-120"/>
              </a:rPr>
              <a:t>설계 원칙 — 벌주기가 아니라 예방</a:t>
            </a:r>
            <a:endParaRPr lang="en-US" sz="1500" dirty="0"/>
          </a:p>
        </p:txBody>
      </p:sp>
      <p:sp>
        <p:nvSpPr>
          <p:cNvPr id="36" name="Text 34"/>
          <p:cNvSpPr txBox="1"/>
          <p:nvPr/>
        </p:nvSpPr>
        <p:spPr>
          <a:xfrm>
            <a:off x="868680" y="4572000"/>
            <a:ext cx="3429000" cy="1280160"/>
          </a:xfrm>
          <a:prstGeom prst="rect">
            <a:avLst/>
          </a:prstGeom>
          <a:noFill/>
          <a:ln/>
        </p:spPr>
        <p:txBody>
          <a:bodyPr wrap="square" lIns="0" tIns="0" rIns="0" bIns="0" rtlCol="0" anchor="t"/>
          <a:lstStyle/>
          <a:p>
            <a:pPr indent="0" marL="0">
              <a:lnSpc>
                <a:spcPct val="112000"/>
              </a:lnSpc>
              <a:buNone/>
            </a:pPr>
            <a:r>
              <a:rPr lang="en-US" sz="1250" b="1" dirty="0">
                <a:solidFill>
                  <a:srgbClr val="FFFFFF"/>
                </a:solidFill>
                <a:latin typeface="Malgun Gothic" pitchFamily="34" charset="0"/>
                <a:ea typeface="Malgun Gothic" pitchFamily="34" charset="-122"/>
                <a:cs typeface="Malgun Gothic" pitchFamily="34" charset="-120"/>
              </a:rPr>
              <a:t>사람이 아니라 '행동'을 지목
</a:t>
            </a:r>
            <a:pPr indent="0" marL="0">
              <a:lnSpc>
                <a:spcPct val="112000"/>
              </a:lnSpc>
              <a:buNone/>
            </a:pPr>
            <a:r>
              <a:rPr lang="en-US" sz="1050" dirty="0">
                <a:solidFill>
                  <a:srgbClr val="C9CDD6"/>
                </a:solidFill>
                <a:latin typeface="Malgun Gothic" pitchFamily="34" charset="0"/>
                <a:ea typeface="Malgun Gothic" pitchFamily="34" charset="-122"/>
                <a:cs typeface="Malgun Gothic" pitchFamily="34" charset="-120"/>
              </a:rPr>
              <a:t>매물·계정 전체가 아니라 '그 문장'만 문제 삼음 → 낙인 방지</a:t>
            </a:r>
            <a:endParaRPr lang="en-US" sz="1250" dirty="0"/>
          </a:p>
        </p:txBody>
      </p:sp>
      <p:sp>
        <p:nvSpPr>
          <p:cNvPr id="37" name="Text 35"/>
          <p:cNvSpPr txBox="1"/>
          <p:nvPr/>
        </p:nvSpPr>
        <p:spPr>
          <a:xfrm>
            <a:off x="4480560" y="4572000"/>
            <a:ext cx="3429000" cy="1280160"/>
          </a:xfrm>
          <a:prstGeom prst="rect">
            <a:avLst/>
          </a:prstGeom>
          <a:noFill/>
          <a:ln/>
        </p:spPr>
        <p:txBody>
          <a:bodyPr wrap="square" lIns="0" tIns="0" rIns="0" bIns="0" rtlCol="0" anchor="t"/>
          <a:lstStyle/>
          <a:p>
            <a:pPr indent="0" marL="0">
              <a:lnSpc>
                <a:spcPct val="112000"/>
              </a:lnSpc>
              <a:buNone/>
            </a:pPr>
            <a:r>
              <a:rPr lang="en-US" sz="1250" b="1" dirty="0">
                <a:solidFill>
                  <a:srgbClr val="FFFFFF"/>
                </a:solidFill>
                <a:latin typeface="Malgun Gothic" pitchFamily="34" charset="0"/>
                <a:ea typeface="Malgun Gothic" pitchFamily="34" charset="-122"/>
                <a:cs typeface="Malgun Gothic" pitchFamily="34" charset="-120"/>
              </a:rPr>
              <a:t>판정은 규칙, 결정은 사람
</a:t>
            </a:r>
            <a:pPr indent="0" marL="0">
              <a:lnSpc>
                <a:spcPct val="112000"/>
              </a:lnSpc>
              <a:buNone/>
            </a:pPr>
            <a:r>
              <a:rPr lang="en-US" sz="1050" dirty="0">
                <a:solidFill>
                  <a:srgbClr val="C9CDD6"/>
                </a:solidFill>
                <a:latin typeface="Malgun Gothic" pitchFamily="34" charset="0"/>
                <a:ea typeface="Malgun Gothic" pitchFamily="34" charset="-122"/>
                <a:cs typeface="Malgun Gothic" pitchFamily="34" charset="-120"/>
              </a:rPr>
              <a:t>자동 정지는 없음. 증거를 모아 보여주고 관리자가 최종 판단</a:t>
            </a:r>
            <a:endParaRPr lang="en-US" sz="1250" dirty="0"/>
          </a:p>
        </p:txBody>
      </p:sp>
      <p:sp>
        <p:nvSpPr>
          <p:cNvPr id="38" name="Text 36"/>
          <p:cNvSpPr txBox="1"/>
          <p:nvPr/>
        </p:nvSpPr>
        <p:spPr>
          <a:xfrm>
            <a:off x="8092440" y="4572000"/>
            <a:ext cx="3429000" cy="1280160"/>
          </a:xfrm>
          <a:prstGeom prst="rect">
            <a:avLst/>
          </a:prstGeom>
          <a:noFill/>
          <a:ln/>
        </p:spPr>
        <p:txBody>
          <a:bodyPr wrap="square" lIns="0" tIns="0" rIns="0" bIns="0" rtlCol="0" anchor="t"/>
          <a:lstStyle/>
          <a:p>
            <a:pPr indent="0" marL="0">
              <a:lnSpc>
                <a:spcPct val="112000"/>
              </a:lnSpc>
              <a:buNone/>
            </a:pPr>
            <a:r>
              <a:rPr lang="en-US" sz="1250" b="1" dirty="0">
                <a:solidFill>
                  <a:srgbClr val="FFFFFF"/>
                </a:solidFill>
                <a:latin typeface="Malgun Gothic" pitchFamily="34" charset="0"/>
                <a:ea typeface="Malgun Gothic" pitchFamily="34" charset="-122"/>
                <a:cs typeface="Malgun Gothic" pitchFamily="34" charset="-120"/>
              </a:rPr>
              <a:t>처벌은 교화
</a:t>
            </a:r>
            <a:pPr indent="0" marL="0">
              <a:lnSpc>
                <a:spcPct val="112000"/>
              </a:lnSpc>
              <a:buNone/>
            </a:pPr>
            <a:r>
              <a:rPr lang="en-US" sz="1050" dirty="0">
                <a:solidFill>
                  <a:srgbClr val="C9CDD6"/>
                </a:solidFill>
                <a:latin typeface="Malgun Gothic" pitchFamily="34" charset="0"/>
                <a:ea typeface="Malgun Gothic" pitchFamily="34" charset="-122"/>
                <a:cs typeface="Malgun Gothic" pitchFamily="34" charset="-120"/>
              </a:rPr>
              <a:t>시간이 지나면 카운트가 풀린다(회복) — 영구 낙인 아님</a:t>
            </a:r>
            <a:endParaRPr lang="en-US" sz="1250" dirty="0"/>
          </a:p>
        </p:txBody>
      </p:sp>
      <p:sp>
        <p:nvSpPr>
          <p:cNvPr id="39" name="Text 37"/>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PREVENTION ② · LIVE</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사전 예방 — 실제 작동 화면</a:t>
            </a:r>
            <a:endParaRPr lang="en-US" sz="2800" dirty="0"/>
          </a:p>
        </p:txBody>
      </p:sp>
      <p:sp>
        <p:nvSpPr>
          <p:cNvPr id="4" name="Shape 2"/>
          <p:cNvSpPr/>
          <p:nvPr/>
        </p:nvSpPr>
        <p:spPr>
          <a:xfrm>
            <a:off x="640080" y="1554480"/>
            <a:ext cx="4160520" cy="4434840"/>
          </a:xfrm>
          <a:prstGeom prst="roundRect">
            <a:avLst>
              <a:gd name="adj" fmla="val 1978"/>
            </a:avLst>
          </a:prstGeom>
          <a:solidFill>
            <a:srgbClr val="F4F5F7"/>
          </a:solidFill>
          <a:ln w="12700">
            <a:solidFill>
              <a:srgbClr val="D8DBE0"/>
            </a:solidFill>
            <a:prstDash val="solid"/>
          </a:ln>
          <a:effectLst>
            <a:outerShdw sx="100000" sy="100000" kx="0" ky="0" algn="bl" rotWithShape="0" blurRad="76200" dist="25400" dir="5400000">
              <a:srgbClr val="9AA0A6">
                <a:alpha val="20000"/>
              </a:srgbClr>
            </a:outerShdw>
          </a:effectLst>
        </p:spPr>
      </p:sp>
      <p:pic>
        <p:nvPicPr>
          <p:cNvPr id="5" name="Image 0" descr="/tmp/edit/shots/p1_chatwarn.png">    </p:cNvPr>
          <p:cNvPicPr>
            <a:picLocks noChangeAspect="1"/>
          </p:cNvPicPr>
          <p:nvPr/>
        </p:nvPicPr>
        <p:blipFill>
          <a:blip r:embed="rId1"/>
          <a:stretch>
            <a:fillRect/>
          </a:stretch>
        </p:blipFill>
        <p:spPr>
          <a:xfrm>
            <a:off x="1180490" y="1700784"/>
            <a:ext cx="3079699" cy="3849624"/>
          </a:xfrm>
          <a:prstGeom prst="rect">
            <a:avLst/>
          </a:prstGeom>
        </p:spPr>
      </p:pic>
      <p:sp>
        <p:nvSpPr>
          <p:cNvPr id="6" name="Text 3"/>
          <p:cNvSpPr txBox="1"/>
          <p:nvPr/>
        </p:nvSpPr>
        <p:spPr>
          <a:xfrm>
            <a:off x="640080" y="5696712"/>
            <a:ext cx="4160520" cy="274320"/>
          </a:xfrm>
          <a:prstGeom prst="rect">
            <a:avLst/>
          </a:prstGeom>
          <a:noFill/>
          <a:ln/>
        </p:spPr>
        <p:txBody>
          <a:bodyPr wrap="square" lIns="0" tIns="0" rIns="0" bIns="0" rtlCol="0" anchor="ctr"/>
          <a:lstStyle/>
          <a:p>
            <a:pPr algn="ctr" indent="0" marL="0">
              <a:buNone/>
            </a:pPr>
            <a:r>
              <a:rPr lang="en-US" sz="1000" b="1" dirty="0">
                <a:solidFill>
                  <a:srgbClr val="6B7280"/>
                </a:solidFill>
                <a:latin typeface="Malgun Gothic" pitchFamily="34" charset="0"/>
                <a:ea typeface="Malgun Gothic" pitchFamily="34" charset="-122"/>
                <a:cs typeface="Malgun Gothic" pitchFamily="34" charset="-120"/>
              </a:rPr>
              <a:t>① 채팅 — 위험 표현 실시간 경고</a:t>
            </a:r>
            <a:endParaRPr lang="en-US" sz="1000" dirty="0"/>
          </a:p>
        </p:txBody>
      </p:sp>
      <p:sp>
        <p:nvSpPr>
          <p:cNvPr id="7" name="Shape 4"/>
          <p:cNvSpPr/>
          <p:nvPr/>
        </p:nvSpPr>
        <p:spPr>
          <a:xfrm>
            <a:off x="5029200" y="1554480"/>
            <a:ext cx="6583680" cy="2331720"/>
          </a:xfrm>
          <a:prstGeom prst="roundRect">
            <a:avLst>
              <a:gd name="adj" fmla="val 3529"/>
            </a:avLst>
          </a:prstGeom>
          <a:solidFill>
            <a:srgbClr val="F4F5F7"/>
          </a:solidFill>
          <a:ln w="12700">
            <a:solidFill>
              <a:srgbClr val="D8DBE0"/>
            </a:solidFill>
            <a:prstDash val="solid"/>
          </a:ln>
          <a:effectLst>
            <a:outerShdw sx="100000" sy="100000" kx="0" ky="0" algn="bl" rotWithShape="0" blurRad="76200" dist="25400" dir="5400000">
              <a:srgbClr val="9AA0A6">
                <a:alpha val="20000"/>
              </a:srgbClr>
            </a:outerShdw>
          </a:effectLst>
        </p:spPr>
      </p:sp>
      <p:pic>
        <p:nvPicPr>
          <p:cNvPr id="8" name="Image 1" descr="/tmp/edit/shots/p2_penalty.png">    </p:cNvPr>
          <p:cNvPicPr>
            <a:picLocks noChangeAspect="1"/>
          </p:cNvPicPr>
          <p:nvPr/>
        </p:nvPicPr>
        <p:blipFill>
          <a:blip r:embed="rId2"/>
          <a:stretch>
            <a:fillRect/>
          </a:stretch>
        </p:blipFill>
        <p:spPr>
          <a:xfrm>
            <a:off x="6097740" y="1700784"/>
            <a:ext cx="4446599" cy="1746504"/>
          </a:xfrm>
          <a:prstGeom prst="rect">
            <a:avLst/>
          </a:prstGeom>
        </p:spPr>
      </p:pic>
      <p:sp>
        <p:nvSpPr>
          <p:cNvPr id="9" name="Text 5"/>
          <p:cNvSpPr txBox="1"/>
          <p:nvPr/>
        </p:nvSpPr>
        <p:spPr>
          <a:xfrm>
            <a:off x="5029200" y="3593592"/>
            <a:ext cx="6583680" cy="274320"/>
          </a:xfrm>
          <a:prstGeom prst="rect">
            <a:avLst/>
          </a:prstGeom>
          <a:noFill/>
          <a:ln/>
        </p:spPr>
        <p:txBody>
          <a:bodyPr wrap="square" lIns="0" tIns="0" rIns="0" bIns="0" rtlCol="0" anchor="ctr"/>
          <a:lstStyle/>
          <a:p>
            <a:pPr algn="ctr" indent="0" marL="0">
              <a:buNone/>
            </a:pPr>
            <a:r>
              <a:rPr lang="en-US" sz="1000" b="1" dirty="0">
                <a:solidFill>
                  <a:srgbClr val="6B7280"/>
                </a:solidFill>
                <a:latin typeface="Malgun Gothic" pitchFamily="34" charset="0"/>
                <a:ea typeface="Malgun Gothic" pitchFamily="34" charset="-122"/>
                <a:cs typeface="Malgun Gothic" pitchFamily="34" charset="-120"/>
              </a:rPr>
              <a:t>② 관리자 '제재 대기' — 증거·누진 횟수</a:t>
            </a:r>
            <a:endParaRPr lang="en-US" sz="1000" dirty="0"/>
          </a:p>
        </p:txBody>
      </p:sp>
      <p:sp>
        <p:nvSpPr>
          <p:cNvPr id="10" name="Shape 6"/>
          <p:cNvSpPr/>
          <p:nvPr/>
        </p:nvSpPr>
        <p:spPr>
          <a:xfrm>
            <a:off x="5029200" y="4023360"/>
            <a:ext cx="6583680" cy="1965960"/>
          </a:xfrm>
          <a:prstGeom prst="roundRect">
            <a:avLst>
              <a:gd name="adj" fmla="val 4186"/>
            </a:avLst>
          </a:prstGeom>
          <a:solidFill>
            <a:srgbClr val="FFF4E6"/>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1" name="Text 7"/>
          <p:cNvSpPr txBox="1"/>
          <p:nvPr/>
        </p:nvSpPr>
        <p:spPr>
          <a:xfrm>
            <a:off x="5230368" y="4133088"/>
            <a:ext cx="5486400" cy="320040"/>
          </a:xfrm>
          <a:prstGeom prst="rect">
            <a:avLst/>
          </a:prstGeom>
          <a:noFill/>
          <a:ln/>
        </p:spPr>
        <p:txBody>
          <a:bodyPr wrap="square" lIns="0" tIns="0" rIns="0" bIns="0" rtlCol="0" anchor="ctr"/>
          <a:lstStyle/>
          <a:p>
            <a:pPr indent="0" marL="0">
              <a:buNone/>
            </a:pPr>
            <a:r>
              <a:rPr lang="en-US" sz="1350" b="1" dirty="0">
                <a:solidFill>
                  <a:srgbClr val="B5651D"/>
                </a:solidFill>
                <a:latin typeface="Malgun Gothic" pitchFamily="34" charset="0"/>
                <a:ea typeface="Malgun Gothic" pitchFamily="34" charset="-122"/>
                <a:cs typeface="Malgun Gothic" pitchFamily="34" charset="-120"/>
              </a:rPr>
              <a:t>화면이 말해주는 것</a:t>
            </a:r>
            <a:endParaRPr lang="en-US" sz="1350" dirty="0"/>
          </a:p>
        </p:txBody>
      </p:sp>
      <p:sp>
        <p:nvSpPr>
          <p:cNvPr id="12" name="Shape 8"/>
          <p:cNvSpPr/>
          <p:nvPr/>
        </p:nvSpPr>
        <p:spPr>
          <a:xfrm>
            <a:off x="5248656" y="4581144"/>
            <a:ext cx="109728" cy="109728"/>
          </a:xfrm>
          <a:prstGeom prst="ellipse">
            <a:avLst/>
          </a:prstGeom>
          <a:solidFill>
            <a:srgbClr val="E8590C"/>
          </a:solidFill>
          <a:ln/>
        </p:spPr>
      </p:sp>
      <p:sp>
        <p:nvSpPr>
          <p:cNvPr id="13" name="Text 9"/>
          <p:cNvSpPr txBox="1"/>
          <p:nvPr/>
        </p:nvSpPr>
        <p:spPr>
          <a:xfrm>
            <a:off x="5504688" y="4526280"/>
            <a:ext cx="5943600" cy="438912"/>
          </a:xfrm>
          <a:prstGeom prst="rect">
            <a:avLst/>
          </a:prstGeom>
          <a:noFill/>
          <a:ln/>
        </p:spPr>
        <p:txBody>
          <a:bodyPr wrap="square" lIns="0" tIns="0" rIns="0" bIns="0" rtlCol="0" anchor="ctr"/>
          <a:lstStyle/>
          <a:p>
            <a:pPr indent="0" marL="0">
              <a:lnSpc>
                <a:spcPct val="100000"/>
              </a:lnSpc>
              <a:buNone/>
            </a:pPr>
            <a:r>
              <a:rPr lang="en-US" sz="1100" b="1" dirty="0">
                <a:solidFill>
                  <a:srgbClr val="1F2430"/>
                </a:solidFill>
                <a:latin typeface="Malgun Gothic" pitchFamily="34" charset="0"/>
                <a:ea typeface="Malgun Gothic" pitchFamily="34" charset="-122"/>
                <a:cs typeface="Malgun Gothic" pitchFamily="34" charset="-120"/>
              </a:rPr>
              <a:t>욕설 → 경고만 — </a:t>
            </a:r>
            <a:pPr indent="0" marL="0">
              <a:lnSpc>
                <a:spcPct val="100000"/>
              </a:lnSpc>
              <a:buNone/>
            </a:pPr>
            <a:r>
              <a:rPr lang="en-US" sz="1100" dirty="0">
                <a:solidFill>
                  <a:srgbClr val="37503F"/>
                </a:solidFill>
                <a:latin typeface="Malgun Gothic" pitchFamily="34" charset="0"/>
                <a:ea typeface="Malgun Gothic" pitchFamily="34" charset="-122"/>
                <a:cs typeface="Malgun Gothic" pitchFamily="34" charset="-120"/>
              </a:rPr>
              <a:t>'서로 존중하는 말로…' 안내. 매너 문제라 카운트는 안 쌓음</a:t>
            </a:r>
            <a:endParaRPr lang="en-US" sz="1100" dirty="0"/>
          </a:p>
        </p:txBody>
      </p:sp>
      <p:sp>
        <p:nvSpPr>
          <p:cNvPr id="14" name="Shape 10"/>
          <p:cNvSpPr/>
          <p:nvPr/>
        </p:nvSpPr>
        <p:spPr>
          <a:xfrm>
            <a:off x="5248656" y="5038344"/>
            <a:ext cx="109728" cy="109728"/>
          </a:xfrm>
          <a:prstGeom prst="ellipse">
            <a:avLst/>
          </a:prstGeom>
          <a:solidFill>
            <a:srgbClr val="E8590C"/>
          </a:solidFill>
          <a:ln/>
        </p:spPr>
      </p:sp>
      <p:sp>
        <p:nvSpPr>
          <p:cNvPr id="15" name="Text 11"/>
          <p:cNvSpPr txBox="1"/>
          <p:nvPr/>
        </p:nvSpPr>
        <p:spPr>
          <a:xfrm>
            <a:off x="5504688" y="4983480"/>
            <a:ext cx="5943600" cy="438912"/>
          </a:xfrm>
          <a:prstGeom prst="rect">
            <a:avLst/>
          </a:prstGeom>
          <a:noFill/>
          <a:ln/>
        </p:spPr>
        <p:txBody>
          <a:bodyPr wrap="square" lIns="0" tIns="0" rIns="0" bIns="0" rtlCol="0" anchor="ctr"/>
          <a:lstStyle/>
          <a:p>
            <a:pPr indent="0" marL="0">
              <a:lnSpc>
                <a:spcPct val="100000"/>
              </a:lnSpc>
              <a:buNone/>
            </a:pPr>
            <a:r>
              <a:rPr lang="en-US" sz="1100" b="1" dirty="0">
                <a:solidFill>
                  <a:srgbClr val="1F2430"/>
                </a:solidFill>
                <a:latin typeface="Malgun Gothic" pitchFamily="34" charset="0"/>
                <a:ea typeface="Malgun Gothic" pitchFamily="34" charset="-122"/>
                <a:cs typeface="Malgun Gothic" pitchFamily="34" charset="-120"/>
              </a:rPr>
              <a:t>사기 유도(택배·선입금·계좌) → 카운트 — </a:t>
            </a:r>
            <a:pPr indent="0" marL="0">
              <a:lnSpc>
                <a:spcPct val="100000"/>
              </a:lnSpc>
              <a:buNone/>
            </a:pPr>
            <a:r>
              <a:rPr lang="en-US" sz="1100" dirty="0">
                <a:solidFill>
                  <a:srgbClr val="37503F"/>
                </a:solidFill>
                <a:latin typeface="Malgun Gothic" pitchFamily="34" charset="0"/>
                <a:ea typeface="Malgun Gothic" pitchFamily="34" charset="-122"/>
                <a:cs typeface="Malgun Gothic" pitchFamily="34" charset="-120"/>
              </a:rPr>
              <a:t>경고 + 증거 저장 + 누진 → 반복하면 '제재 대기'로</a:t>
            </a:r>
            <a:endParaRPr lang="en-US" sz="1100" dirty="0"/>
          </a:p>
        </p:txBody>
      </p:sp>
      <p:sp>
        <p:nvSpPr>
          <p:cNvPr id="16" name="Shape 12"/>
          <p:cNvSpPr/>
          <p:nvPr/>
        </p:nvSpPr>
        <p:spPr>
          <a:xfrm>
            <a:off x="5248656" y="5495544"/>
            <a:ext cx="109728" cy="109728"/>
          </a:xfrm>
          <a:prstGeom prst="ellipse">
            <a:avLst/>
          </a:prstGeom>
          <a:solidFill>
            <a:srgbClr val="E8590C"/>
          </a:solidFill>
          <a:ln/>
        </p:spPr>
      </p:sp>
      <p:sp>
        <p:nvSpPr>
          <p:cNvPr id="17" name="Text 13"/>
          <p:cNvSpPr txBox="1"/>
          <p:nvPr/>
        </p:nvSpPr>
        <p:spPr>
          <a:xfrm>
            <a:off x="5504688" y="5440680"/>
            <a:ext cx="5943600" cy="438912"/>
          </a:xfrm>
          <a:prstGeom prst="rect">
            <a:avLst/>
          </a:prstGeom>
          <a:noFill/>
          <a:ln/>
        </p:spPr>
        <p:txBody>
          <a:bodyPr wrap="square" lIns="0" tIns="0" rIns="0" bIns="0" rtlCol="0" anchor="ctr"/>
          <a:lstStyle/>
          <a:p>
            <a:pPr indent="0" marL="0">
              <a:lnSpc>
                <a:spcPct val="100000"/>
              </a:lnSpc>
              <a:buNone/>
            </a:pPr>
            <a:r>
              <a:rPr lang="en-US" sz="1100" b="1" dirty="0">
                <a:solidFill>
                  <a:srgbClr val="1F2430"/>
                </a:solidFill>
                <a:latin typeface="Malgun Gothic" pitchFamily="34" charset="0"/>
                <a:ea typeface="Malgun Gothic" pitchFamily="34" charset="-122"/>
                <a:cs typeface="Malgun Gothic" pitchFamily="34" charset="-120"/>
              </a:rPr>
              <a:t>문장 속 단어도 잡음 — </a:t>
            </a:r>
            <a:pPr indent="0" marL="0">
              <a:lnSpc>
                <a:spcPct val="100000"/>
              </a:lnSpc>
              <a:buNone/>
            </a:pPr>
            <a:r>
              <a:rPr lang="en-US" sz="1100" dirty="0">
                <a:solidFill>
                  <a:srgbClr val="37503F"/>
                </a:solidFill>
                <a:latin typeface="Malgun Gothic" pitchFamily="34" charset="0"/>
                <a:ea typeface="Malgun Gothic" pitchFamily="34" charset="-122"/>
                <a:cs typeface="Malgun Gothic" pitchFamily="34" charset="-120"/>
              </a:rPr>
              <a:t>'택배 배송 가능합니다'처럼 섞여 있어도 감지</a:t>
            </a:r>
            <a:endParaRPr lang="en-US" sz="1100" dirty="0"/>
          </a:p>
        </p:txBody>
      </p:sp>
      <p:sp>
        <p:nvSpPr>
          <p:cNvPr id="18" name="Text 14"/>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50" b="1" spc="200" kern="0" dirty="0">
                <a:solidFill>
                  <a:srgbClr val="E8590C"/>
                </a:solidFill>
                <a:latin typeface="Malgun Gothic" pitchFamily="34" charset="0"/>
                <a:ea typeface="Malgun Gothic" pitchFamily="34" charset="-122"/>
                <a:cs typeface="Malgun Gothic" pitchFamily="34" charset="-120"/>
              </a:rPr>
              <a:t>NEXT</a:t>
            </a:r>
            <a:endParaRPr lang="en-US" sz="125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indent="0" marL="0">
              <a:buNone/>
            </a:pPr>
            <a:r>
              <a:rPr lang="en-US" sz="2800" b="1" dirty="0">
                <a:solidFill>
                  <a:srgbClr val="1F2430"/>
                </a:solidFill>
                <a:latin typeface="Malgun Gothic" pitchFamily="34" charset="0"/>
                <a:ea typeface="Malgun Gothic" pitchFamily="34" charset="-122"/>
                <a:cs typeface="Malgun Gothic" pitchFamily="34" charset="-120"/>
              </a:rPr>
              <a:t>향후 계획 — 진품·가품 판별</a:t>
            </a:r>
            <a:endParaRPr lang="en-US" sz="2800" dirty="0"/>
          </a:p>
        </p:txBody>
      </p:sp>
      <p:sp>
        <p:nvSpPr>
          <p:cNvPr id="4" name="Text 2"/>
          <p:cNvSpPr txBox="1"/>
          <p:nvPr/>
        </p:nvSpPr>
        <p:spPr>
          <a:xfrm>
            <a:off x="548640" y="1371600"/>
            <a:ext cx="11155680" cy="365760"/>
          </a:xfrm>
          <a:prstGeom prst="rect">
            <a:avLst/>
          </a:prstGeom>
          <a:noFill/>
          <a:ln/>
        </p:spPr>
        <p:txBody>
          <a:bodyPr wrap="square" lIns="0" tIns="0" rIns="0" bIns="0" rtlCol="0" anchor="ctr"/>
          <a:lstStyle/>
          <a:p>
            <a:pPr indent="0" marL="0">
              <a:buNone/>
            </a:pPr>
            <a:r>
              <a:rPr lang="en-US" sz="1350" dirty="0">
                <a:solidFill>
                  <a:srgbClr val="6B7280"/>
                </a:solidFill>
                <a:latin typeface="Malgun Gothic" pitchFamily="34" charset="0"/>
                <a:ea typeface="Malgun Gothic" pitchFamily="34" charset="-122"/>
                <a:cs typeface="Malgun Gothic" pitchFamily="34" charset="-120"/>
              </a:rPr>
              <a:t>지금은 '대화·행동'으로 사기를 막는다. 다음 도전은 물건 자체의 진짜/가짜를 가려내는 것.</a:t>
            </a:r>
            <a:endParaRPr lang="en-US" sz="1350" dirty="0"/>
          </a:p>
        </p:txBody>
      </p:sp>
      <p:sp>
        <p:nvSpPr>
          <p:cNvPr id="5" name="Shape 3"/>
          <p:cNvSpPr/>
          <p:nvPr/>
        </p:nvSpPr>
        <p:spPr>
          <a:xfrm>
            <a:off x="640080" y="1920240"/>
            <a:ext cx="11018520" cy="1051560"/>
          </a:xfrm>
          <a:prstGeom prst="roundRect">
            <a:avLst>
              <a:gd name="adj" fmla="val 7826"/>
            </a:avLst>
          </a:prstGeom>
          <a:solidFill>
            <a:srgbClr val="EBFBEE"/>
          </a:solidFill>
          <a:ln w="12700">
            <a:solidFill>
              <a:srgbClr val="B2F2BB"/>
            </a:solidFill>
            <a:prstDash val="solid"/>
          </a:ln>
          <a:effectLst>
            <a:outerShdw sx="100000" sy="100000" kx="0" ky="0" algn="bl" rotWithShape="0" blurRad="76200" dist="25400" dir="5400000">
              <a:srgbClr val="9AA0A6">
                <a:alpha val="20000"/>
              </a:srgbClr>
            </a:outerShdw>
          </a:effectLst>
        </p:spPr>
      </p:sp>
      <p:sp>
        <p:nvSpPr>
          <p:cNvPr id="6" name="Text 4"/>
          <p:cNvSpPr txBox="1"/>
          <p:nvPr/>
        </p:nvSpPr>
        <p:spPr>
          <a:xfrm>
            <a:off x="868680" y="1920240"/>
            <a:ext cx="10515600" cy="1051560"/>
          </a:xfrm>
          <a:prstGeom prst="rect">
            <a:avLst/>
          </a:prstGeom>
          <a:noFill/>
          <a:ln/>
        </p:spPr>
        <p:txBody>
          <a:bodyPr wrap="square" lIns="0" tIns="0" rIns="0" bIns="0" rtlCol="0" anchor="ctr"/>
          <a:lstStyle/>
          <a:p>
            <a:pPr indent="0" marL="0">
              <a:buNone/>
            </a:pPr>
            <a:r>
              <a:rPr lang="en-US" sz="1500" b="1" dirty="0">
                <a:solidFill>
                  <a:srgbClr val="2B8A3E"/>
                </a:solidFill>
                <a:latin typeface="Malgun Gothic" pitchFamily="34" charset="0"/>
                <a:ea typeface="Malgun Gothic" pitchFamily="34" charset="-122"/>
                <a:cs typeface="Malgun Gothic" pitchFamily="34" charset="-120"/>
              </a:rPr>
              <a:t>장기 목표   </a:t>
            </a:r>
            <a:pPr indent="0" marL="0">
              <a:buNone/>
            </a:pPr>
            <a:r>
              <a:rPr lang="en-US" sz="1500" dirty="0">
                <a:solidFill>
                  <a:srgbClr val="37503F"/>
                </a:solidFill>
                <a:latin typeface="Malgun Gothic" pitchFamily="34" charset="0"/>
                <a:ea typeface="Malgun Gothic" pitchFamily="34" charset="-122"/>
                <a:cs typeface="Malgun Gothic" pitchFamily="34" charset="-120"/>
              </a:rPr>
              <a:t>사진만으로 정품/가품을 판별하는 AI</a:t>
            </a:r>
            <a:endParaRPr lang="en-US" sz="1500" dirty="0"/>
          </a:p>
        </p:txBody>
      </p:sp>
      <p:sp>
        <p:nvSpPr>
          <p:cNvPr id="7" name="Text 5"/>
          <p:cNvSpPr txBox="1"/>
          <p:nvPr/>
        </p:nvSpPr>
        <p:spPr>
          <a:xfrm>
            <a:off x="640080" y="3200400"/>
            <a:ext cx="7315200" cy="365760"/>
          </a:xfrm>
          <a:prstGeom prst="rect">
            <a:avLst/>
          </a:prstGeom>
          <a:noFill/>
          <a:ln/>
        </p:spPr>
        <p:txBody>
          <a:bodyPr wrap="square" lIns="0" tIns="0" rIns="0" bIns="0" rtlCol="0" anchor="ctr"/>
          <a:lstStyle/>
          <a:p>
            <a:pPr indent="0" marL="0">
              <a:buNone/>
            </a:pPr>
            <a:r>
              <a:rPr lang="en-US" sz="1600" b="1" dirty="0">
                <a:solidFill>
                  <a:srgbClr val="E8590C"/>
                </a:solidFill>
                <a:latin typeface="Malgun Gothic" pitchFamily="34" charset="0"/>
                <a:ea typeface="Malgun Gothic" pitchFamily="34" charset="-122"/>
                <a:cs typeface="Malgun Gothic" pitchFamily="34" charset="-120"/>
              </a:rPr>
              <a:t>지금 당장은 어려운 이유</a:t>
            </a:r>
            <a:endParaRPr lang="en-US" sz="1600" dirty="0"/>
          </a:p>
        </p:txBody>
      </p:sp>
      <p:sp>
        <p:nvSpPr>
          <p:cNvPr id="8" name="Shape 6"/>
          <p:cNvSpPr/>
          <p:nvPr/>
        </p:nvSpPr>
        <p:spPr>
          <a:xfrm>
            <a:off x="640080" y="3657600"/>
            <a:ext cx="3429000" cy="1691640"/>
          </a:xfrm>
          <a:prstGeom prst="roundRect">
            <a:avLst>
              <a:gd name="adj" fmla="val 4865"/>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9" name="Shape 7"/>
          <p:cNvSpPr/>
          <p:nvPr/>
        </p:nvSpPr>
        <p:spPr>
          <a:xfrm>
            <a:off x="896112" y="3886200"/>
            <a:ext cx="457200" cy="457200"/>
          </a:xfrm>
          <a:prstGeom prst="ellipse">
            <a:avLst/>
          </a:prstGeom>
          <a:solidFill>
            <a:srgbClr val="FF6B6B"/>
          </a:solidFill>
          <a:ln/>
        </p:spPr>
      </p:sp>
      <p:sp>
        <p:nvSpPr>
          <p:cNvPr id="10" name="Text 8"/>
          <p:cNvSpPr txBox="1"/>
          <p:nvPr/>
        </p:nvSpPr>
        <p:spPr>
          <a:xfrm>
            <a:off x="1481328" y="3913632"/>
            <a:ext cx="2468880" cy="411480"/>
          </a:xfrm>
          <a:prstGeom prst="rect">
            <a:avLst/>
          </a:prstGeom>
          <a:noFill/>
          <a:ln/>
        </p:spPr>
        <p:txBody>
          <a:bodyPr wrap="square" lIns="0" tIns="0" rIns="0" bIns="0" rtlCol="0" anchor="ctr"/>
          <a:lstStyle/>
          <a:p>
            <a:pPr indent="0" marL="0">
              <a:buNone/>
            </a:pPr>
            <a:r>
              <a:rPr lang="en-US" sz="1400" b="1" dirty="0">
                <a:solidFill>
                  <a:srgbClr val="1F2430"/>
                </a:solidFill>
                <a:latin typeface="Malgun Gothic" pitchFamily="34" charset="0"/>
                <a:ea typeface="Malgun Gothic" pitchFamily="34" charset="-122"/>
                <a:cs typeface="Malgun Gothic" pitchFamily="34" charset="-120"/>
              </a:rPr>
              <a:t>① 라벨링 데이터</a:t>
            </a:r>
            <a:endParaRPr lang="en-US" sz="1400" dirty="0"/>
          </a:p>
        </p:txBody>
      </p:sp>
      <p:sp>
        <p:nvSpPr>
          <p:cNvPr id="11" name="Text 9"/>
          <p:cNvSpPr txBox="1"/>
          <p:nvPr/>
        </p:nvSpPr>
        <p:spPr>
          <a:xfrm>
            <a:off x="896112" y="4480560"/>
            <a:ext cx="2926080" cy="777240"/>
          </a:xfrm>
          <a:prstGeom prst="rect">
            <a:avLst/>
          </a:prstGeom>
          <a:noFill/>
          <a:ln/>
        </p:spPr>
        <p:txBody>
          <a:bodyPr wrap="square" lIns="0" tIns="0" rIns="0" bIns="0" rtlCol="0" anchor="t"/>
          <a:lstStyle/>
          <a:p>
            <a:pPr indent="0" marL="0">
              <a:lnSpc>
                <a:spcPct val="110000"/>
              </a:lnSpc>
              <a:buNone/>
            </a:pPr>
            <a:r>
              <a:rPr lang="en-US" sz="1150" dirty="0">
                <a:solidFill>
                  <a:srgbClr val="3A3F4B"/>
                </a:solidFill>
                <a:latin typeface="Malgun Gothic" pitchFamily="34" charset="0"/>
                <a:ea typeface="Malgun Gothic" pitchFamily="34" charset="-122"/>
                <a:cs typeface="Malgun Gothic" pitchFamily="34" charset="-120"/>
              </a:rPr>
              <a:t>브랜드·모델마다 정품/가품을 구분해 표시한 이미지가 수십만 장 이상 필요</a:t>
            </a:r>
            <a:endParaRPr lang="en-US" sz="1150" dirty="0"/>
          </a:p>
        </p:txBody>
      </p:sp>
      <p:sp>
        <p:nvSpPr>
          <p:cNvPr id="12" name="Shape 10"/>
          <p:cNvSpPr/>
          <p:nvPr/>
        </p:nvSpPr>
        <p:spPr>
          <a:xfrm>
            <a:off x="4343400" y="3657600"/>
            <a:ext cx="3429000" cy="1691640"/>
          </a:xfrm>
          <a:prstGeom prst="roundRect">
            <a:avLst>
              <a:gd name="adj" fmla="val 4865"/>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3" name="Shape 11"/>
          <p:cNvSpPr/>
          <p:nvPr/>
        </p:nvSpPr>
        <p:spPr>
          <a:xfrm>
            <a:off x="4599432" y="3886200"/>
            <a:ext cx="457200" cy="457200"/>
          </a:xfrm>
          <a:prstGeom prst="ellipse">
            <a:avLst/>
          </a:prstGeom>
          <a:solidFill>
            <a:srgbClr val="FFB066"/>
          </a:solidFill>
          <a:ln/>
        </p:spPr>
      </p:sp>
      <p:sp>
        <p:nvSpPr>
          <p:cNvPr id="14" name="Text 12"/>
          <p:cNvSpPr txBox="1"/>
          <p:nvPr/>
        </p:nvSpPr>
        <p:spPr>
          <a:xfrm>
            <a:off x="5184648" y="3913632"/>
            <a:ext cx="2468880" cy="411480"/>
          </a:xfrm>
          <a:prstGeom prst="rect">
            <a:avLst/>
          </a:prstGeom>
          <a:noFill/>
          <a:ln/>
        </p:spPr>
        <p:txBody>
          <a:bodyPr wrap="square" lIns="0" tIns="0" rIns="0" bIns="0" rtlCol="0" anchor="ctr"/>
          <a:lstStyle/>
          <a:p>
            <a:pPr indent="0" marL="0">
              <a:buNone/>
            </a:pPr>
            <a:r>
              <a:rPr lang="en-US" sz="1400" b="1" dirty="0">
                <a:solidFill>
                  <a:srgbClr val="1F2430"/>
                </a:solidFill>
                <a:latin typeface="Malgun Gothic" pitchFamily="34" charset="0"/>
                <a:ea typeface="Malgun Gothic" pitchFamily="34" charset="-122"/>
                <a:cs typeface="Malgun Gothic" pitchFamily="34" charset="-120"/>
              </a:rPr>
              <a:t>② 가품 확보 난이도</a:t>
            </a:r>
            <a:endParaRPr lang="en-US" sz="1400" dirty="0"/>
          </a:p>
        </p:txBody>
      </p:sp>
      <p:sp>
        <p:nvSpPr>
          <p:cNvPr id="15" name="Text 13"/>
          <p:cNvSpPr txBox="1"/>
          <p:nvPr/>
        </p:nvSpPr>
        <p:spPr>
          <a:xfrm>
            <a:off x="4599432" y="4480560"/>
            <a:ext cx="2926080" cy="777240"/>
          </a:xfrm>
          <a:prstGeom prst="rect">
            <a:avLst/>
          </a:prstGeom>
          <a:noFill/>
          <a:ln/>
        </p:spPr>
        <p:txBody>
          <a:bodyPr wrap="square" lIns="0" tIns="0" rIns="0" bIns="0" rtlCol="0" anchor="t"/>
          <a:lstStyle/>
          <a:p>
            <a:pPr indent="0" marL="0">
              <a:lnSpc>
                <a:spcPct val="110000"/>
              </a:lnSpc>
              <a:buNone/>
            </a:pPr>
            <a:r>
              <a:rPr lang="en-US" sz="1150" dirty="0">
                <a:solidFill>
                  <a:srgbClr val="3A3F4B"/>
                </a:solidFill>
                <a:latin typeface="Malgun Gothic" pitchFamily="34" charset="0"/>
                <a:ea typeface="Malgun Gothic" pitchFamily="34" charset="-122"/>
                <a:cs typeface="Malgun Gothic" pitchFamily="34" charset="-120"/>
              </a:rPr>
              <a:t>진품 사진은 많아도 '진짜 같은 가품' 이미지는 구하기 어렵다</a:t>
            </a:r>
            <a:endParaRPr lang="en-US" sz="1150" dirty="0"/>
          </a:p>
        </p:txBody>
      </p:sp>
      <p:sp>
        <p:nvSpPr>
          <p:cNvPr id="16" name="Shape 14"/>
          <p:cNvSpPr/>
          <p:nvPr/>
        </p:nvSpPr>
        <p:spPr>
          <a:xfrm>
            <a:off x="8046720" y="3657600"/>
            <a:ext cx="3429000" cy="1691640"/>
          </a:xfrm>
          <a:prstGeom prst="roundRect">
            <a:avLst>
              <a:gd name="adj" fmla="val 4865"/>
            </a:avLst>
          </a:prstGeom>
          <a:solidFill>
            <a:srgbClr val="FFFFFF"/>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17" name="Shape 15"/>
          <p:cNvSpPr/>
          <p:nvPr/>
        </p:nvSpPr>
        <p:spPr>
          <a:xfrm>
            <a:off x="8302752" y="3886200"/>
            <a:ext cx="457200" cy="457200"/>
          </a:xfrm>
          <a:prstGeom prst="ellipse">
            <a:avLst/>
          </a:prstGeom>
          <a:solidFill>
            <a:srgbClr val="4DABF7"/>
          </a:solidFill>
          <a:ln/>
        </p:spPr>
      </p:sp>
      <p:sp>
        <p:nvSpPr>
          <p:cNvPr id="18" name="Text 16"/>
          <p:cNvSpPr txBox="1"/>
          <p:nvPr/>
        </p:nvSpPr>
        <p:spPr>
          <a:xfrm>
            <a:off x="8887968" y="3913632"/>
            <a:ext cx="2468880" cy="411480"/>
          </a:xfrm>
          <a:prstGeom prst="rect">
            <a:avLst/>
          </a:prstGeom>
          <a:noFill/>
          <a:ln/>
        </p:spPr>
        <p:txBody>
          <a:bodyPr wrap="square" lIns="0" tIns="0" rIns="0" bIns="0" rtlCol="0" anchor="ctr"/>
          <a:lstStyle/>
          <a:p>
            <a:pPr indent="0" marL="0">
              <a:buNone/>
            </a:pPr>
            <a:r>
              <a:rPr lang="en-US" sz="1400" b="1" dirty="0">
                <a:solidFill>
                  <a:srgbClr val="1F2430"/>
                </a:solidFill>
                <a:latin typeface="Malgun Gothic" pitchFamily="34" charset="0"/>
                <a:ea typeface="Malgun Gothic" pitchFamily="34" charset="-122"/>
                <a:cs typeface="Malgun Gothic" pitchFamily="34" charset="-120"/>
              </a:rPr>
              <a:t>③ 학습 비용</a:t>
            </a:r>
            <a:endParaRPr lang="en-US" sz="1400" dirty="0"/>
          </a:p>
        </p:txBody>
      </p:sp>
      <p:sp>
        <p:nvSpPr>
          <p:cNvPr id="19" name="Text 17"/>
          <p:cNvSpPr txBox="1"/>
          <p:nvPr/>
        </p:nvSpPr>
        <p:spPr>
          <a:xfrm>
            <a:off x="8302752" y="4480560"/>
            <a:ext cx="2926080" cy="777240"/>
          </a:xfrm>
          <a:prstGeom prst="rect">
            <a:avLst/>
          </a:prstGeom>
          <a:noFill/>
          <a:ln/>
        </p:spPr>
        <p:txBody>
          <a:bodyPr wrap="square" lIns="0" tIns="0" rIns="0" bIns="0" rtlCol="0" anchor="t"/>
          <a:lstStyle/>
          <a:p>
            <a:pPr indent="0" marL="0">
              <a:lnSpc>
                <a:spcPct val="110000"/>
              </a:lnSpc>
              <a:buNone/>
            </a:pPr>
            <a:r>
              <a:rPr lang="en-US" sz="1150" dirty="0">
                <a:solidFill>
                  <a:srgbClr val="3A3F4B"/>
                </a:solidFill>
                <a:latin typeface="Malgun Gothic" pitchFamily="34" charset="0"/>
                <a:ea typeface="Malgun Gothic" pitchFamily="34" charset="-122"/>
                <a:cs typeface="Malgun Gothic" pitchFamily="34" charset="-120"/>
              </a:rPr>
              <a:t>대규모 학습에 시간·GPU 자원이 많이 든다</a:t>
            </a:r>
            <a:endParaRPr lang="en-US" sz="1150" dirty="0"/>
          </a:p>
        </p:txBody>
      </p:sp>
      <p:sp>
        <p:nvSpPr>
          <p:cNvPr id="20" name="Shape 18"/>
          <p:cNvSpPr/>
          <p:nvPr/>
        </p:nvSpPr>
        <p:spPr>
          <a:xfrm>
            <a:off x="640080" y="5532120"/>
            <a:ext cx="11018520" cy="685800"/>
          </a:xfrm>
          <a:prstGeom prst="roundRect">
            <a:avLst>
              <a:gd name="adj" fmla="val 12000"/>
            </a:avLst>
          </a:prstGeom>
          <a:solidFill>
            <a:srgbClr val="1F2430"/>
          </a:solidFill>
          <a:ln w="12700">
            <a:solidFill>
              <a:srgbClr val="E5E1DA"/>
            </a:solidFill>
            <a:prstDash val="solid"/>
          </a:ln>
          <a:effectLst>
            <a:outerShdw sx="100000" sy="100000" kx="0" ky="0" algn="bl" rotWithShape="0" blurRad="76200" dist="25400" dir="5400000">
              <a:srgbClr val="9AA0A6">
                <a:alpha val="20000"/>
              </a:srgbClr>
            </a:outerShdw>
          </a:effectLst>
        </p:spPr>
      </p:sp>
      <p:sp>
        <p:nvSpPr>
          <p:cNvPr id="21" name="Text 19"/>
          <p:cNvSpPr txBox="1"/>
          <p:nvPr/>
        </p:nvSpPr>
        <p:spPr>
          <a:xfrm>
            <a:off x="868680" y="5532120"/>
            <a:ext cx="10515600" cy="685800"/>
          </a:xfrm>
          <a:prstGeom prst="rect">
            <a:avLst/>
          </a:prstGeom>
          <a:noFill/>
          <a:ln/>
        </p:spPr>
        <p:txBody>
          <a:bodyPr wrap="square" lIns="0" tIns="0" rIns="0" bIns="0" rtlCol="0" anchor="ctr"/>
          <a:lstStyle/>
          <a:p>
            <a:pPr indent="0" marL="0">
              <a:buNone/>
            </a:pPr>
            <a:r>
              <a:rPr lang="en-US" sz="1300" i="1" dirty="0">
                <a:solidFill>
                  <a:srgbClr val="FF922B"/>
                </a:solidFill>
                <a:latin typeface="Malgun Gothic" pitchFamily="34" charset="0"/>
                <a:ea typeface="Malgun Gothic" pitchFamily="34" charset="-122"/>
                <a:cs typeface="Malgun Gothic" pitchFamily="34" charset="-120"/>
              </a:rPr>
              <a:t>→ 그래서 지금은 '가품 의심 신호 점수화'부터 접근한다.  될 것과 도전할 것을 솔직히 구분했다.</a:t>
            </a:r>
            <a:endParaRPr lang="en-US" sz="1300" dirty="0"/>
          </a:p>
        </p:txBody>
      </p:sp>
      <p:sp>
        <p:nvSpPr>
          <p:cNvPr id="22" name="Text 20"/>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F2430"/>
        </a:solidFill>
      </p:bgPr>
    </p:bg>
    <p:spTree>
      <p:nvGrpSpPr>
        <p:cNvPr id="1" name=""/>
        <p:cNvGrpSpPr/>
        <p:nvPr/>
      </p:nvGrpSpPr>
      <p:grpSpPr>
        <a:xfrm>
          <a:off x="0" y="0"/>
          <a:ext cx="0" cy="0"/>
          <a:chOff x="0" y="0"/>
          <a:chExt cx="0" cy="0"/>
        </a:xfrm>
      </p:grpSpPr>
      <p:sp>
        <p:nvSpPr>
          <p:cNvPr id="2" name="Shape 0"/>
          <p:cNvSpPr/>
          <p:nvPr/>
        </p:nvSpPr>
        <p:spPr>
          <a:xfrm>
            <a:off x="-1280160" y="4663440"/>
            <a:ext cx="3931920" cy="3931920"/>
          </a:xfrm>
          <a:prstGeom prst="ellipse">
            <a:avLst/>
          </a:prstGeom>
          <a:solidFill>
            <a:srgbClr val="E8590C"/>
          </a:solidFill>
          <a:ln/>
        </p:spPr>
      </p:sp>
      <p:sp>
        <p:nvSpPr>
          <p:cNvPr id="3" name="Shape 1"/>
          <p:cNvSpPr/>
          <p:nvPr/>
        </p:nvSpPr>
        <p:spPr>
          <a:xfrm>
            <a:off x="10698480" y="-1371600"/>
            <a:ext cx="3291840" cy="3291840"/>
          </a:xfrm>
          <a:prstGeom prst="ellipse">
            <a:avLst/>
          </a:prstGeom>
          <a:solidFill>
            <a:srgbClr val="2F9E44"/>
          </a:solidFill>
          <a:ln/>
        </p:spPr>
      </p:sp>
      <p:sp>
        <p:nvSpPr>
          <p:cNvPr id="4" name="Text 2"/>
          <p:cNvSpPr txBox="1"/>
          <p:nvPr/>
        </p:nvSpPr>
        <p:spPr>
          <a:xfrm>
            <a:off x="640080" y="548640"/>
            <a:ext cx="7315200" cy="320040"/>
          </a:xfrm>
          <a:prstGeom prst="rect">
            <a:avLst/>
          </a:prstGeom>
          <a:noFill/>
          <a:ln/>
        </p:spPr>
        <p:txBody>
          <a:bodyPr wrap="square" lIns="0" tIns="0" rIns="0" bIns="0" rtlCol="0" anchor="ctr"/>
          <a:lstStyle/>
          <a:p>
            <a:pPr indent="0" marL="0">
              <a:buNone/>
            </a:pPr>
            <a:r>
              <a:rPr lang="en-US" sz="1300" b="1" spc="200" kern="0" dirty="0">
                <a:solidFill>
                  <a:srgbClr val="FF922B"/>
                </a:solidFill>
                <a:latin typeface="Malgun Gothic" pitchFamily="34" charset="0"/>
                <a:ea typeface="Malgun Gothic" pitchFamily="34" charset="-122"/>
                <a:cs typeface="Malgun Gothic" pitchFamily="34" charset="-120"/>
              </a:rPr>
              <a:t>SUMMARY</a:t>
            </a:r>
            <a:endParaRPr lang="en-US" sz="1300" dirty="0"/>
          </a:p>
        </p:txBody>
      </p:sp>
      <p:sp>
        <p:nvSpPr>
          <p:cNvPr id="5" name="Text 3"/>
          <p:cNvSpPr txBox="1"/>
          <p:nvPr/>
        </p:nvSpPr>
        <p:spPr>
          <a:xfrm>
            <a:off x="603504" y="868680"/>
            <a:ext cx="10058400" cy="731520"/>
          </a:xfrm>
          <a:prstGeom prst="rect">
            <a:avLst/>
          </a:prstGeom>
          <a:noFill/>
          <a:ln/>
        </p:spPr>
        <p:txBody>
          <a:bodyPr wrap="square" lIns="0" tIns="0" rIns="0" bIns="0" rtlCol="0" anchor="ctr"/>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당근 프로젝트 총정리</a:t>
            </a:r>
            <a:endParaRPr lang="en-US" sz="3000" dirty="0"/>
          </a:p>
        </p:txBody>
      </p:sp>
      <p:sp>
        <p:nvSpPr>
          <p:cNvPr id="6" name="Shape 4"/>
          <p:cNvSpPr/>
          <p:nvPr/>
        </p:nvSpPr>
        <p:spPr>
          <a:xfrm>
            <a:off x="640080" y="1719072"/>
            <a:ext cx="2423160" cy="512064"/>
          </a:xfrm>
          <a:prstGeom prst="roundRect">
            <a:avLst>
              <a:gd name="adj" fmla="val 14286"/>
            </a:avLst>
          </a:prstGeom>
          <a:solidFill>
            <a:srgbClr val="2A2F3D"/>
          </a:solidFill>
          <a:ln/>
        </p:spPr>
      </p:sp>
      <p:sp>
        <p:nvSpPr>
          <p:cNvPr id="7" name="Text 5"/>
          <p:cNvSpPr txBox="1"/>
          <p:nvPr/>
        </p:nvSpPr>
        <p:spPr>
          <a:xfrm>
            <a:off x="640080" y="1719072"/>
            <a:ext cx="2423160" cy="512064"/>
          </a:xfrm>
          <a:prstGeom prst="rect">
            <a:avLst/>
          </a:prstGeom>
          <a:noFill/>
          <a:ln/>
        </p:spPr>
        <p:txBody>
          <a:bodyPr wrap="square" lIns="0" tIns="0" rIns="0" bIns="0" rtlCol="0" anchor="ctr"/>
          <a:lstStyle/>
          <a:p>
            <a:pPr algn="ctr" indent="0" marL="0">
              <a:buNone/>
            </a:pPr>
            <a:r>
              <a:rPr lang="en-US" sz="1250" b="1" dirty="0">
                <a:solidFill>
                  <a:srgbClr val="FF922B"/>
                </a:solidFill>
                <a:latin typeface="Malgun Gothic" pitchFamily="34" charset="0"/>
                <a:ea typeface="Malgun Gothic" pitchFamily="34" charset="-122"/>
                <a:cs typeface="Malgun Gothic" pitchFamily="34" charset="-120"/>
              </a:rPr>
              <a:t>프론트엔드</a:t>
            </a:r>
            <a:endParaRPr lang="en-US" sz="1250" dirty="0"/>
          </a:p>
        </p:txBody>
      </p:sp>
      <p:sp>
        <p:nvSpPr>
          <p:cNvPr id="8" name="Text 6"/>
          <p:cNvSpPr txBox="1"/>
          <p:nvPr/>
        </p:nvSpPr>
        <p:spPr>
          <a:xfrm>
            <a:off x="3291840" y="1691640"/>
            <a:ext cx="8229600" cy="566928"/>
          </a:xfrm>
          <a:prstGeom prst="rect">
            <a:avLst/>
          </a:prstGeom>
          <a:noFill/>
          <a:ln/>
        </p:spPr>
        <p:txBody>
          <a:bodyPr wrap="square" lIns="0" tIns="0" rIns="0" bIns="0" rtlCol="0" anchor="ctr"/>
          <a:lstStyle/>
          <a:p>
            <a:pPr indent="0" marL="0">
              <a:buNone/>
            </a:pPr>
            <a:r>
              <a:rPr lang="en-US" sz="1300" dirty="0">
                <a:solidFill>
                  <a:srgbClr val="D7DBE3"/>
                </a:solidFill>
                <a:latin typeface="Malgun Gothic" pitchFamily="34" charset="0"/>
                <a:ea typeface="Malgun Gothic" pitchFamily="34" charset="-122"/>
                <a:cs typeface="Malgun Gothic" pitchFamily="34" charset="-120"/>
              </a:rPr>
              <a:t>React 컴포넌트로 화면 많은 앱을 재사용성 있게 (SPA)</a:t>
            </a:r>
            <a:endParaRPr lang="en-US" sz="1300" dirty="0"/>
          </a:p>
        </p:txBody>
      </p:sp>
      <p:sp>
        <p:nvSpPr>
          <p:cNvPr id="9" name="Shape 7"/>
          <p:cNvSpPr/>
          <p:nvPr/>
        </p:nvSpPr>
        <p:spPr>
          <a:xfrm>
            <a:off x="640080" y="2468880"/>
            <a:ext cx="2423160" cy="512064"/>
          </a:xfrm>
          <a:prstGeom prst="roundRect">
            <a:avLst>
              <a:gd name="adj" fmla="val 14286"/>
            </a:avLst>
          </a:prstGeom>
          <a:solidFill>
            <a:srgbClr val="2A2F3D"/>
          </a:solidFill>
          <a:ln/>
        </p:spPr>
      </p:sp>
      <p:sp>
        <p:nvSpPr>
          <p:cNvPr id="10" name="Text 8"/>
          <p:cNvSpPr txBox="1"/>
          <p:nvPr/>
        </p:nvSpPr>
        <p:spPr>
          <a:xfrm>
            <a:off x="640080" y="2468880"/>
            <a:ext cx="2423160" cy="512064"/>
          </a:xfrm>
          <a:prstGeom prst="rect">
            <a:avLst/>
          </a:prstGeom>
          <a:noFill/>
          <a:ln/>
        </p:spPr>
        <p:txBody>
          <a:bodyPr wrap="square" lIns="0" tIns="0" rIns="0" bIns="0" rtlCol="0" anchor="ctr"/>
          <a:lstStyle/>
          <a:p>
            <a:pPr algn="ctr" indent="0" marL="0">
              <a:buNone/>
            </a:pPr>
            <a:r>
              <a:rPr lang="en-US" sz="1250" b="1" dirty="0">
                <a:solidFill>
                  <a:srgbClr val="FF922B"/>
                </a:solidFill>
                <a:latin typeface="Malgun Gothic" pitchFamily="34" charset="0"/>
                <a:ea typeface="Malgun Gothic" pitchFamily="34" charset="-122"/>
                <a:cs typeface="Malgun Gothic" pitchFamily="34" charset="-120"/>
              </a:rPr>
              <a:t>백엔드</a:t>
            </a:r>
            <a:endParaRPr lang="en-US" sz="1250" dirty="0"/>
          </a:p>
        </p:txBody>
      </p:sp>
      <p:sp>
        <p:nvSpPr>
          <p:cNvPr id="11" name="Text 9"/>
          <p:cNvSpPr txBox="1"/>
          <p:nvPr/>
        </p:nvSpPr>
        <p:spPr>
          <a:xfrm>
            <a:off x="3291840" y="2441448"/>
            <a:ext cx="8229600" cy="566928"/>
          </a:xfrm>
          <a:prstGeom prst="rect">
            <a:avLst/>
          </a:prstGeom>
          <a:noFill/>
          <a:ln/>
        </p:spPr>
        <p:txBody>
          <a:bodyPr wrap="square" lIns="0" tIns="0" rIns="0" bIns="0" rtlCol="0" anchor="ctr"/>
          <a:lstStyle/>
          <a:p>
            <a:pPr indent="0" marL="0">
              <a:buNone/>
            </a:pPr>
            <a:r>
              <a:rPr lang="en-US" sz="1300" dirty="0">
                <a:solidFill>
                  <a:srgbClr val="D7DBE3"/>
                </a:solidFill>
                <a:latin typeface="Malgun Gothic" pitchFamily="34" charset="0"/>
                <a:ea typeface="Malgun Gothic" pitchFamily="34" charset="-122"/>
                <a:cs typeface="Malgun Gothic" pitchFamily="34" charset="-120"/>
              </a:rPr>
              <a:t>FastAPI + SQLite + JWT. 채팅은 WebSocket 실시간</a:t>
            </a:r>
            <a:endParaRPr lang="en-US" sz="1300" dirty="0"/>
          </a:p>
        </p:txBody>
      </p:sp>
      <p:sp>
        <p:nvSpPr>
          <p:cNvPr id="12" name="Shape 10"/>
          <p:cNvSpPr/>
          <p:nvPr/>
        </p:nvSpPr>
        <p:spPr>
          <a:xfrm>
            <a:off x="640080" y="3218688"/>
            <a:ext cx="2423160" cy="512064"/>
          </a:xfrm>
          <a:prstGeom prst="roundRect">
            <a:avLst>
              <a:gd name="adj" fmla="val 14286"/>
            </a:avLst>
          </a:prstGeom>
          <a:solidFill>
            <a:srgbClr val="2A2F3D"/>
          </a:solidFill>
          <a:ln/>
        </p:spPr>
      </p:sp>
      <p:sp>
        <p:nvSpPr>
          <p:cNvPr id="13" name="Text 11"/>
          <p:cNvSpPr txBox="1"/>
          <p:nvPr/>
        </p:nvSpPr>
        <p:spPr>
          <a:xfrm>
            <a:off x="640080" y="3218688"/>
            <a:ext cx="2423160" cy="512064"/>
          </a:xfrm>
          <a:prstGeom prst="rect">
            <a:avLst/>
          </a:prstGeom>
          <a:noFill/>
          <a:ln/>
        </p:spPr>
        <p:txBody>
          <a:bodyPr wrap="square" lIns="0" tIns="0" rIns="0" bIns="0" rtlCol="0" anchor="ctr"/>
          <a:lstStyle/>
          <a:p>
            <a:pPr algn="ctr" indent="0" marL="0">
              <a:buNone/>
            </a:pPr>
            <a:r>
              <a:rPr lang="en-US" sz="1250" b="1" dirty="0">
                <a:solidFill>
                  <a:srgbClr val="FF922B"/>
                </a:solidFill>
                <a:latin typeface="Malgun Gothic" pitchFamily="34" charset="0"/>
                <a:ea typeface="Malgun Gothic" pitchFamily="34" charset="-122"/>
                <a:cs typeface="Malgun Gothic" pitchFamily="34" charset="-120"/>
              </a:rPr>
              <a:t>AI 기능</a:t>
            </a:r>
            <a:endParaRPr lang="en-US" sz="1250" dirty="0"/>
          </a:p>
        </p:txBody>
      </p:sp>
      <p:sp>
        <p:nvSpPr>
          <p:cNvPr id="14" name="Text 12"/>
          <p:cNvSpPr txBox="1"/>
          <p:nvPr/>
        </p:nvSpPr>
        <p:spPr>
          <a:xfrm>
            <a:off x="3291840" y="3191256"/>
            <a:ext cx="8229600" cy="566928"/>
          </a:xfrm>
          <a:prstGeom prst="rect">
            <a:avLst/>
          </a:prstGeom>
          <a:noFill/>
          <a:ln/>
        </p:spPr>
        <p:txBody>
          <a:bodyPr wrap="square" lIns="0" tIns="0" rIns="0" bIns="0" rtlCol="0" anchor="ctr"/>
          <a:lstStyle/>
          <a:p>
            <a:pPr indent="0" marL="0">
              <a:buNone/>
            </a:pPr>
            <a:r>
              <a:rPr lang="en-US" sz="1300" dirty="0">
                <a:solidFill>
                  <a:srgbClr val="D7DBE3"/>
                </a:solidFill>
                <a:latin typeface="Malgun Gothic" pitchFamily="34" charset="0"/>
                <a:ea typeface="Malgun Gothic" pitchFamily="34" charset="-122"/>
                <a:cs typeface="Malgun Gothic" pitchFamily="34" charset="-120"/>
              </a:rPr>
              <a:t>사진→카테고리·판매글, 의미·사진 검색, 도용 탐지</a:t>
            </a:r>
            <a:endParaRPr lang="en-US" sz="1300" dirty="0"/>
          </a:p>
        </p:txBody>
      </p:sp>
      <p:sp>
        <p:nvSpPr>
          <p:cNvPr id="15" name="Shape 13"/>
          <p:cNvSpPr/>
          <p:nvPr/>
        </p:nvSpPr>
        <p:spPr>
          <a:xfrm>
            <a:off x="640080" y="3968496"/>
            <a:ext cx="2423160" cy="512064"/>
          </a:xfrm>
          <a:prstGeom prst="roundRect">
            <a:avLst>
              <a:gd name="adj" fmla="val 14286"/>
            </a:avLst>
          </a:prstGeom>
          <a:solidFill>
            <a:srgbClr val="2A2F3D"/>
          </a:solidFill>
          <a:ln/>
        </p:spPr>
      </p:sp>
      <p:sp>
        <p:nvSpPr>
          <p:cNvPr id="16" name="Text 14"/>
          <p:cNvSpPr txBox="1"/>
          <p:nvPr/>
        </p:nvSpPr>
        <p:spPr>
          <a:xfrm>
            <a:off x="640080" y="3968496"/>
            <a:ext cx="2423160" cy="512064"/>
          </a:xfrm>
          <a:prstGeom prst="rect">
            <a:avLst/>
          </a:prstGeom>
          <a:noFill/>
          <a:ln/>
        </p:spPr>
        <p:txBody>
          <a:bodyPr wrap="square" lIns="0" tIns="0" rIns="0" bIns="0" rtlCol="0" anchor="ctr"/>
          <a:lstStyle/>
          <a:p>
            <a:pPr algn="ctr" indent="0" marL="0">
              <a:buNone/>
            </a:pPr>
            <a:r>
              <a:rPr lang="en-US" sz="1250" b="1" dirty="0">
                <a:solidFill>
                  <a:srgbClr val="FF922B"/>
                </a:solidFill>
                <a:latin typeface="Malgun Gothic" pitchFamily="34" charset="0"/>
                <a:ea typeface="Malgun Gothic" pitchFamily="34" charset="-122"/>
                <a:cs typeface="Malgun Gothic" pitchFamily="34" charset="-120"/>
              </a:rPr>
              <a:t>멀티에이전트</a:t>
            </a:r>
            <a:endParaRPr lang="en-US" sz="1250" dirty="0"/>
          </a:p>
        </p:txBody>
      </p:sp>
      <p:sp>
        <p:nvSpPr>
          <p:cNvPr id="17" name="Text 15"/>
          <p:cNvSpPr txBox="1"/>
          <p:nvPr/>
        </p:nvSpPr>
        <p:spPr>
          <a:xfrm>
            <a:off x="3291840" y="3941064"/>
            <a:ext cx="8229600" cy="566928"/>
          </a:xfrm>
          <a:prstGeom prst="rect">
            <a:avLst/>
          </a:prstGeom>
          <a:noFill/>
          <a:ln/>
        </p:spPr>
        <p:txBody>
          <a:bodyPr wrap="square" lIns="0" tIns="0" rIns="0" bIns="0" rtlCol="0" anchor="ctr"/>
          <a:lstStyle/>
          <a:p>
            <a:pPr indent="0" marL="0">
              <a:buNone/>
            </a:pPr>
            <a:r>
              <a:rPr lang="en-US" sz="1300" dirty="0">
                <a:solidFill>
                  <a:srgbClr val="D7DBE3"/>
                </a:solidFill>
                <a:latin typeface="Malgun Gothic" pitchFamily="34" charset="0"/>
                <a:ea typeface="Malgun Gothic" pitchFamily="34" charset="-122"/>
                <a:cs typeface="Malgun Gothic" pitchFamily="34" charset="-120"/>
              </a:rPr>
              <a:t>여러 에이전트가 나눠 조사 + 검사·변호인으로 견제</a:t>
            </a:r>
            <a:endParaRPr lang="en-US" sz="1300" dirty="0"/>
          </a:p>
        </p:txBody>
      </p:sp>
      <p:sp>
        <p:nvSpPr>
          <p:cNvPr id="18" name="Shape 16"/>
          <p:cNvSpPr/>
          <p:nvPr/>
        </p:nvSpPr>
        <p:spPr>
          <a:xfrm>
            <a:off x="640080" y="4718304"/>
            <a:ext cx="2423160" cy="512064"/>
          </a:xfrm>
          <a:prstGeom prst="roundRect">
            <a:avLst>
              <a:gd name="adj" fmla="val 14286"/>
            </a:avLst>
          </a:prstGeom>
          <a:solidFill>
            <a:srgbClr val="2A2F3D"/>
          </a:solidFill>
          <a:ln/>
        </p:spPr>
      </p:sp>
      <p:sp>
        <p:nvSpPr>
          <p:cNvPr id="19" name="Text 17"/>
          <p:cNvSpPr txBox="1"/>
          <p:nvPr/>
        </p:nvSpPr>
        <p:spPr>
          <a:xfrm>
            <a:off x="640080" y="4718304"/>
            <a:ext cx="2423160" cy="512064"/>
          </a:xfrm>
          <a:prstGeom prst="rect">
            <a:avLst/>
          </a:prstGeom>
          <a:noFill/>
          <a:ln/>
        </p:spPr>
        <p:txBody>
          <a:bodyPr wrap="square" lIns="0" tIns="0" rIns="0" bIns="0" rtlCol="0" anchor="ctr"/>
          <a:lstStyle/>
          <a:p>
            <a:pPr algn="ctr" indent="0" marL="0">
              <a:buNone/>
            </a:pPr>
            <a:r>
              <a:rPr lang="en-US" sz="1250" b="1" dirty="0">
                <a:solidFill>
                  <a:srgbClr val="FF922B"/>
                </a:solidFill>
                <a:latin typeface="Malgun Gothic" pitchFamily="34" charset="0"/>
                <a:ea typeface="Malgun Gothic" pitchFamily="34" charset="-122"/>
                <a:cs typeface="Malgun Gothic" pitchFamily="34" charset="-120"/>
              </a:rPr>
              <a:t>사전 예방</a:t>
            </a:r>
            <a:endParaRPr lang="en-US" sz="1250" dirty="0"/>
          </a:p>
        </p:txBody>
      </p:sp>
      <p:sp>
        <p:nvSpPr>
          <p:cNvPr id="20" name="Text 18"/>
          <p:cNvSpPr txBox="1"/>
          <p:nvPr/>
        </p:nvSpPr>
        <p:spPr>
          <a:xfrm>
            <a:off x="3291840" y="4690872"/>
            <a:ext cx="8229600" cy="566928"/>
          </a:xfrm>
          <a:prstGeom prst="rect">
            <a:avLst/>
          </a:prstGeom>
          <a:noFill/>
          <a:ln/>
        </p:spPr>
        <p:txBody>
          <a:bodyPr wrap="square" lIns="0" tIns="0" rIns="0" bIns="0" rtlCol="0" anchor="ctr"/>
          <a:lstStyle/>
          <a:p>
            <a:pPr indent="0" marL="0">
              <a:buNone/>
            </a:pPr>
            <a:r>
              <a:rPr lang="en-US" sz="1300" dirty="0">
                <a:solidFill>
                  <a:srgbClr val="D7DBE3"/>
                </a:solidFill>
                <a:latin typeface="Malgun Gothic" pitchFamily="34" charset="0"/>
                <a:ea typeface="Malgun Gothic" pitchFamily="34" charset="-122"/>
                <a:cs typeface="Malgun Gothic" pitchFamily="34" charset="-120"/>
              </a:rPr>
              <a:t>채팅 위험 표현 실시간 감지 → 누진 제재 (사후+사전 둘 다)</a:t>
            </a:r>
            <a:endParaRPr lang="en-US" sz="1300" dirty="0"/>
          </a:p>
        </p:txBody>
      </p:sp>
      <p:sp>
        <p:nvSpPr>
          <p:cNvPr id="21" name="Shape 19"/>
          <p:cNvSpPr/>
          <p:nvPr/>
        </p:nvSpPr>
        <p:spPr>
          <a:xfrm>
            <a:off x="640080" y="5468112"/>
            <a:ext cx="2423160" cy="512064"/>
          </a:xfrm>
          <a:prstGeom prst="roundRect">
            <a:avLst>
              <a:gd name="adj" fmla="val 14286"/>
            </a:avLst>
          </a:prstGeom>
          <a:solidFill>
            <a:srgbClr val="2A2F3D"/>
          </a:solidFill>
          <a:ln/>
        </p:spPr>
      </p:sp>
      <p:sp>
        <p:nvSpPr>
          <p:cNvPr id="22" name="Text 20"/>
          <p:cNvSpPr txBox="1"/>
          <p:nvPr/>
        </p:nvSpPr>
        <p:spPr>
          <a:xfrm>
            <a:off x="640080" y="5468112"/>
            <a:ext cx="2423160" cy="512064"/>
          </a:xfrm>
          <a:prstGeom prst="rect">
            <a:avLst/>
          </a:prstGeom>
          <a:noFill/>
          <a:ln/>
        </p:spPr>
        <p:txBody>
          <a:bodyPr wrap="square" lIns="0" tIns="0" rIns="0" bIns="0" rtlCol="0" anchor="ctr"/>
          <a:lstStyle/>
          <a:p>
            <a:pPr algn="ctr" indent="0" marL="0">
              <a:buNone/>
            </a:pPr>
            <a:r>
              <a:rPr lang="en-US" sz="1250" b="1" dirty="0">
                <a:solidFill>
                  <a:srgbClr val="FF922B"/>
                </a:solidFill>
                <a:latin typeface="Malgun Gothic" pitchFamily="34" charset="0"/>
                <a:ea typeface="Malgun Gothic" pitchFamily="34" charset="-122"/>
                <a:cs typeface="Malgun Gothic" pitchFamily="34" charset="-120"/>
              </a:rPr>
              <a:t>안전 설계</a:t>
            </a:r>
            <a:endParaRPr lang="en-US" sz="1250" dirty="0"/>
          </a:p>
        </p:txBody>
      </p:sp>
      <p:sp>
        <p:nvSpPr>
          <p:cNvPr id="23" name="Text 21"/>
          <p:cNvSpPr txBox="1"/>
          <p:nvPr/>
        </p:nvSpPr>
        <p:spPr>
          <a:xfrm>
            <a:off x="3291840" y="5440680"/>
            <a:ext cx="8229600" cy="566928"/>
          </a:xfrm>
          <a:prstGeom prst="rect">
            <a:avLst/>
          </a:prstGeom>
          <a:noFill/>
          <a:ln/>
        </p:spPr>
        <p:txBody>
          <a:bodyPr wrap="square" lIns="0" tIns="0" rIns="0" bIns="0" rtlCol="0" anchor="ctr"/>
          <a:lstStyle/>
          <a:p>
            <a:pPr indent="0" marL="0">
              <a:buNone/>
            </a:pPr>
            <a:r>
              <a:rPr lang="en-US" sz="1300" dirty="0">
                <a:solidFill>
                  <a:srgbClr val="D7DBE3"/>
                </a:solidFill>
                <a:latin typeface="Malgun Gothic" pitchFamily="34" charset="0"/>
                <a:ea typeface="Malgun Gothic" pitchFamily="34" charset="-122"/>
                <a:cs typeface="Malgun Gothic" pitchFamily="34" charset="-120"/>
              </a:rPr>
              <a:t>도구는 읽기전용, 판정은 규칙, 결정은 사람, 처벌은 교화</a:t>
            </a:r>
            <a:endParaRPr lang="en-US" sz="1300" dirty="0"/>
          </a:p>
        </p:txBody>
      </p:sp>
      <p:sp>
        <p:nvSpPr>
          <p:cNvPr id="24" name="Text 22"/>
          <p:cNvSpPr txBox="1"/>
          <p:nvPr/>
        </p:nvSpPr>
        <p:spPr>
          <a:xfrm>
            <a:off x="640080" y="6172200"/>
            <a:ext cx="10972800" cy="365760"/>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사람을 대신하지 않고, 사람의 판단을 돕는 중고거래 플랫폼.   —  감사합니다</a:t>
            </a:r>
            <a:endParaRPr lang="en-US" sz="1400" dirty="0"/>
          </a:p>
        </p:txBody>
      </p:sp>
      <p:sp>
        <p:nvSpPr>
          <p:cNvPr id="25" name="Text 23"/>
          <p:cNvSpPr txBox="1"/>
          <p:nvPr/>
        </p:nvSpPr>
        <p:spPr>
          <a:xfrm>
            <a:off x="11612880" y="6437376"/>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Malgun Gothic" pitchFamily="34" charset="0"/>
                <a:ea typeface="Malgun Gothic" pitchFamily="34" charset="-122"/>
                <a:cs typeface="Malgun Gothic" pitchFamily="34" charset="-120"/>
              </a:rPr>
              <a:t>30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2026-09-10T01:45:25Z</dcterms:created>
  <dcterms:modified xsi:type="dcterms:W3CDTF">2026-09-10T01:45:25Z</dcterms:modified>
</cp:coreProperties>
</file>