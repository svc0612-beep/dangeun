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발생 건수</c:v>
                </c:pt>
              </c:strCache>
            </c:strRef>
          </c:tx>
          <c:spPr>
            <a:solidFill>
              <a:srgbClr val="E8590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F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2024*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84107</c:v>
                </c:pt>
                <c:pt idx="1">
                  <c:v>79052</c:v>
                </c:pt>
                <c:pt idx="2">
                  <c:v>78320</c:v>
                </c:pt>
                <c:pt idx="3">
                  <c:v>81252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3F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A3F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371600"/>
            <a:ext cx="4389120" cy="43891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017520" cy="301752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 · AI 사기 탐지 시스템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78608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당근 클론 프로젝트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194560" cy="0"/>
          </a:xfrm>
          <a:prstGeom prst="line">
            <a:avLst/>
          </a:prstGeom>
          <a:noFill/>
          <a:ln w="31750">
            <a:solidFill>
              <a:srgbClr val="FF9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  주정현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2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· FastAPI · 로컬 LLM · 멀티에이전트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6035040" cy="868680"/>
          </a:xfrm>
          <a:prstGeom prst="roundRect">
            <a:avLst>
              <a:gd name="adj" fmla="val 12632"/>
            </a:avLst>
          </a:prstGeom>
          <a:solidFill>
            <a:srgbClr val="2A2F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28016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"택배로 보내드릴게요. 계좌로 먼저 입금해 주시겠어요?"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0720" y="2286000"/>
            <a:ext cx="4572000" cy="777240"/>
          </a:xfrm>
          <a:prstGeom prst="roundRect">
            <a:avLst>
              <a:gd name="adj" fmla="val 14118"/>
            </a:avLst>
          </a:prstGeom>
          <a:solidFill>
            <a:srgbClr val="E859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43600" y="228600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"직거래만 해요. 이건 사기 신호입니다."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 사기는 대화 한 줄에서 시작됩니다.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388620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만들었습니다 — AI가 사기를 잡아내는 중고거래 앱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892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발표에서 볼 것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52578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A2F3D"/>
          </a:solidFill>
          <a:ln w="12700">
            <a:solidFill>
              <a:srgbClr val="FF92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5257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944368" y="52578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A2F3D"/>
          </a:solidFill>
          <a:ln w="12700">
            <a:solidFill>
              <a:srgbClr val="FF92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44368" y="5257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157216" y="52578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A2F3D"/>
          </a:solidFill>
          <a:ln w="12700">
            <a:solidFill>
              <a:srgbClr val="FF92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157216" y="5257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70064" y="52578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A2F3D"/>
          </a:solidFill>
          <a:ln w="12700">
            <a:solidFill>
              <a:srgbClr val="FF92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70064" y="5257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582912" y="5257800"/>
            <a:ext cx="2011680" cy="548640"/>
          </a:xfrm>
          <a:prstGeom prst="roundRect">
            <a:avLst>
              <a:gd name="adj" fmla="val 50000"/>
            </a:avLst>
          </a:prstGeom>
          <a:solidFill>
            <a:srgbClr val="2A2F3D"/>
          </a:solidFill>
          <a:ln w="12700">
            <a:solidFill>
              <a:srgbClr val="FF92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82912" y="5257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만들었나 — 중고거래 사기, 얼마나 심각한가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중고거래 시장은 커졌지만 사기도 함께 늘었다. 4년 내내 8만 건 안팎 — 2024년엔 하루 약 270건 꼴로 신고됐다.</a:t>
            </a:r>
            <a:endParaRPr lang="en-US" sz="13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965960"/>
          <a:ext cx="580644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596128"/>
            <a:ext cx="5897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경찰청 사이버사기범죄 현황 — 국회 양부남 의원실 제출자료(세계일보 2024.12.3)   ·   * 2024년 1~10월, 연말 10만 건 초과 전망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720840" y="1965960"/>
            <a:ext cx="4892040" cy="1143000"/>
          </a:xfrm>
          <a:prstGeom prst="roundRect">
            <a:avLst>
              <a:gd name="adj" fmla="val 7200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903720" y="196596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약 270건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신고 · 2024년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720840" y="3246120"/>
            <a:ext cx="4892040" cy="1143000"/>
          </a:xfrm>
          <a:prstGeom prst="roundRect">
            <a:avLst>
              <a:gd name="adj" fmla="val 7200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6903720" y="32461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5.1조 원</a:t>
            </a:r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당근 연간 거래액(2023)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6720840" y="4526280"/>
            <a:ext cx="4892040" cy="1508760"/>
          </a:xfrm>
          <a:prstGeom prst="roundRect">
            <a:avLst>
              <a:gd name="adj" fmla="val 5455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6949440" y="46817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경찰 대응은 이미 포화 상태.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949440" y="50749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다 못 잡는다면, 플랫폼이 스스로 걸러야 한다.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AI가 사기를 잡는 중고거래 앱을 만들었다.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당근 프로젝트 전체 흐름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화면에서 요청하면 → 서버가 처리하고 → DB에 저장한다. 사기 조사처럼 무거운 일은 서버가 AI를 부른다.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212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5786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브라우저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0" y="2478024"/>
            <a:ext cx="329184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9" name="Shape 7"/>
          <p:cNvSpPr/>
          <p:nvPr/>
        </p:nvSpPr>
        <p:spPr>
          <a:xfrm>
            <a:off x="3401568" y="20574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401568" y="2212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401568" y="25786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+ Vite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79008" y="2478024"/>
            <a:ext cx="329184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163056" y="20574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63056" y="2212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63056" y="25786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540496" y="2478024"/>
            <a:ext cx="329184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17" name="Shape 15"/>
          <p:cNvSpPr/>
          <p:nvPr/>
        </p:nvSpPr>
        <p:spPr>
          <a:xfrm>
            <a:off x="8924544" y="2057400"/>
            <a:ext cx="2331720" cy="1051560"/>
          </a:xfrm>
          <a:prstGeom prst="roundRect">
            <a:avLst>
              <a:gd name="adj" fmla="val 7826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924544" y="22128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924544" y="25786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657600"/>
            <a:ext cx="11018520" cy="2423160"/>
          </a:xfrm>
          <a:prstGeom prst="roundRect">
            <a:avLst>
              <a:gd name="adj" fmla="val 3396"/>
            </a:avLst>
          </a:prstGeom>
          <a:solidFill>
            <a:srgbClr val="FBFAF8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3794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 (모두 로컬 실행 · 백엔드가 필요할 때 호출)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68680" y="42519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74520" y="443484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6868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gemma3:12b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0120" y="53218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조사·판매글 초안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566160" y="42519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4434840"/>
            <a:ext cx="457200" cy="457200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56616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3657600" y="53218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뜻 이해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42519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269480" y="4434840"/>
            <a:ext cx="457200" cy="45720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26364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ko-sroberta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355080" y="53218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검색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961120" y="4251960"/>
            <a:ext cx="25146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9966960" y="4434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61120" y="498348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pHash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9052560" y="532180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 도용 탐지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TECH STACK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스택 — 무엇을 왜 썼나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E859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UI 라이브러리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4630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29000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F243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2900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파이썬 백엔드 프레임워크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2F9E4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1792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SQLite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하나로 된 DB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06840" y="146304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006840" y="146304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0684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05740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gemma3 · CLIP 등 AI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06324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3200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React?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35661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화면을 '컴포넌트(부품)'로 쪼개 만들어서 코드 재사용성이 좋다. 버튼·카드·모달을 한 번 만들어 여러 화면에서 다시 씀.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617720"/>
            <a:ext cx="11018520" cy="1417320"/>
          </a:xfrm>
          <a:prstGeom prst="roundRect">
            <a:avLst>
              <a:gd name="adj" fmla="val 5806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68680" y="4754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발표자 의견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" y="507492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많은 이 앱에는 컴포넌트로 재사용하는 React가 잘 맞았다. 다만 화면이 더 커지면 라우터 도입을 고려할 만하다. 백엔드는 코드가 간결하고 문서가 자동 생성되는 FastAPI가 학습·개발 속도에 큰 도움이 됐다.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560320" cy="256032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1750">
            <a:solidFill>
              <a:srgbClr val="FF9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보고 클릭하는 화면 — React로 만든 페이지들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①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— 매물 등록 화면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5" name="Image 0" descr="/tmp/edit/shots/s1_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82942" y="1746504"/>
            <a:ext cx="1600675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시 중요했던 점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글과 판매자 글 분리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55117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초안을 판매자 입력과 안 섞고 따로 보관 → 판매자가 골라 쓰게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410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AI는 버튼 눌렀을 때만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7216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 생성은 5~15초 걸려서, 사진 고르는 즉시가 아니라 버튼 클릭 시 호출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5811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정보는 지어내지 않게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892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모델명·정품 여부는 사진으로 모르니 프롬프트로 강하게 차단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— 매물 목록 · 검색 화면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206240"/>
          </a:xfrm>
          <a:prstGeom prst="roundRect">
            <a:avLst>
              <a:gd name="adj" fmla="val 1957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5" name="Image 0" descr="/tmp/edit/shots/s2_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510" y="1746504"/>
            <a:ext cx="4461540" cy="39136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시 중요했던 점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카드는 재사용 컴포넌트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255117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하나 = PostCard 컴포넌트. 목록·검색·찜 어디서나 재사용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410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검색은 여러 방식을 한 창에서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7216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글자·초성·뜻·사진 — 각각 다른 API지만 사용자는 한 검색창에서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45811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서버가 목록·필터를 계산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583680" y="4892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지역·카테고리·정렬을 서버가 처리 → 화면은 받아 그리기만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③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— 채팅방 (실시간)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5" name="Image 0" descr="/tmp/edit/shots/s3_chat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941158"/>
            <a:ext cx="2359152" cy="323171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513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채팅 · 거래확정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0" y="1600200"/>
            <a:ext cx="2651760" cy="4206240"/>
          </a:xfrm>
          <a:prstGeom prst="roundRect">
            <a:avLst>
              <a:gd name="adj" fmla="val 3103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8" name="Image 1" descr="/tmp/edit/shots/s4_mod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1024" y="2089882"/>
            <a:ext cx="2359152" cy="293426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474720" y="5513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거래 확정 모달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6355080" y="1600200"/>
            <a:ext cx="5257800" cy="4206240"/>
          </a:xfrm>
          <a:prstGeom prst="roundRect">
            <a:avLst>
              <a:gd name="adj" fmla="val 1957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5836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제작 시 중요했던 점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583680" y="2240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연결은 useRef에 보관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551176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객체를 화면 다시 그려도 안 끊기게 useRef 상자에 담음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41071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 → ws 주소 변환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3721608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WebSocket은 규약이 달라 ws://로 바꿔야 브라우저가 연결 허용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6583680" y="4581144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벗어나면 연결 정리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489204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방을 나가면 ws.close()로 연결을 닫아 자원 낭비 방지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 ④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 — 마이페이지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사람의 활동을 한곳에 모았다. 5개 탭으로 나눠서 보여준다.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532120" cy="416052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6" name="Image 0" descr="/tmp/edit/shots/s8_my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412" y="1929384"/>
            <a:ext cx="4769456" cy="35753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565099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마이페이지 — 판매 탭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178308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37960" y="1938528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E8590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537960" y="193852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찜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772400" y="181965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관심 있어 저장해둔 매물 모아보기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355080" y="260604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2761488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FF922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37960" y="276148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772400" y="264261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올린 매물 · 상태 관리(판매중/거래완료) · 끌올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355080" y="342900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537960" y="3584448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2F9E44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537960" y="358444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772400" y="346557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사고판 거래 내역 확인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355080" y="425196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537960" y="4407408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1C7293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537960" y="44074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후기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7772400" y="428853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상대와 주고받은 후기 (매너온도)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55080" y="5074920"/>
            <a:ext cx="5257800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537960" y="5230368"/>
            <a:ext cx="1097280" cy="402336"/>
          </a:xfrm>
          <a:prstGeom prst="roundRect">
            <a:avLst>
              <a:gd name="adj" fmla="val 13636"/>
            </a:avLst>
          </a:prstGeom>
          <a:solidFill>
            <a:srgbClr val="6B4FBB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537960" y="523036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정보</a:t>
            </a:r>
            <a:endParaRPr lang="en-US" sz="1250" dirty="0"/>
          </a:p>
        </p:txBody>
      </p:sp>
      <p:sp>
        <p:nvSpPr>
          <p:cNvPr id="27" name="Text 24"/>
          <p:cNvSpPr txBox="1"/>
          <p:nvPr/>
        </p:nvSpPr>
        <p:spPr>
          <a:xfrm>
            <a:off x="7772400" y="5111496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프로필·비밀번호·주소 수정, 회원 탈퇴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560320" cy="256032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1750">
            <a:solidFill>
              <a:srgbClr val="FF9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뒤에서 데이터를 처리·저장하는 서버 — FastAPI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①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— FastAPI란?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533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= 파이썬으로 API 서버를 만드는 웹 프레임워크. 코드가 간결하고, 문서(/docs)가 자동 생성된다.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11018520" cy="1783080"/>
          </a:xfrm>
          <a:prstGeom prst="roundRect">
            <a:avLst>
              <a:gd name="adj" fmla="val 4615"/>
            </a:avLst>
          </a:prstGeom>
          <a:solidFill>
            <a:srgbClr val="FBFAF8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933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데코레이터가 하는 일 (그림으로)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5786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요청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92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/posts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29000" y="2834640"/>
            <a:ext cx="457200" cy="219456"/>
          </a:xfrm>
          <a:prstGeom prst="rightArrow">
            <a:avLst/>
          </a:prstGeom>
          <a:solidFill>
            <a:srgbClr val="E8590C"/>
          </a:solidFill>
          <a:ln/>
        </p:spPr>
      </p:sp>
      <p:sp>
        <p:nvSpPr>
          <p:cNvPr id="11" name="Shape 9"/>
          <p:cNvSpPr/>
          <p:nvPr/>
        </p:nvSpPr>
        <p:spPr>
          <a:xfrm>
            <a:off x="4114800" y="2468880"/>
            <a:ext cx="356616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2331720"/>
            <a:ext cx="2743200" cy="384048"/>
          </a:xfrm>
          <a:prstGeom prst="roundRect">
            <a:avLst>
              <a:gd name="adj" fmla="val 14286"/>
            </a:avLst>
          </a:prstGeom>
          <a:solidFill>
            <a:srgbClr val="E8590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251960" y="23317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@router.post  ← 라벨(데코레이터)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8803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create_post() 함수 실행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818120" y="2834640"/>
            <a:ext cx="457200" cy="219456"/>
          </a:xfrm>
          <a:prstGeom prst="rightArrow">
            <a:avLst/>
          </a:prstGeom>
          <a:solidFill>
            <a:srgbClr val="2F9E44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2468880"/>
            <a:ext cx="3063240" cy="960120"/>
          </a:xfrm>
          <a:prstGeom prst="roundRect">
            <a:avLst>
              <a:gd name="adj" fmla="val 8571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46720" y="276148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저장 · 응답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49300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@를 함수 위에 '라벨'처럼 붙여, 어떤 주소·방식의 요청이 오면 이 함수를 실행할지 정해준다. 함수 본체는 안 건드림.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68680" y="4041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특징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96112" y="4489704"/>
            <a:ext cx="109728" cy="109728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52144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라우터로 기능 분리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auth·posts·chats·reports·search·admin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6112" y="4992624"/>
            <a:ext cx="109728" cy="109728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152144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ORM으로 DB 다루기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— SQL 없이 객체로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96112" y="5495544"/>
            <a:ext cx="109728" cy="109728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152144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WebSocket  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실시간 통신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63640" y="3931920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92240" y="4041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보안도 신경 썼습니다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19672" y="4489704"/>
            <a:ext cx="109728" cy="10972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75704" y="4434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비밀번호는 bcrypt 해시로 저장  </a:t>
            </a:r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저장 X — 털려도 못 알아냄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519672" y="4992624"/>
            <a:ext cx="109728" cy="10972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775704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JWT 토큰 인증  </a:t>
            </a:r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사람만 접근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519672" y="5495544"/>
            <a:ext cx="109728" cy="10972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75704" y="5440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production 모드 안전설정  </a:t>
            </a:r>
            <a:pPr indent="0" marL="0">
              <a:buNone/>
            </a:pPr>
            <a:r>
              <a:rPr lang="en-US" sz="105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주소만·문서 닫힘·코드 노출 X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 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— 데이터베이스 (SQLite)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023360" cy="1965960"/>
          </a:xfrm>
          <a:prstGeom prst="roundRect">
            <a:avLst>
              <a:gd name="adj" fmla="val 4186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72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SQLite? (MySQL 아님)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938528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MySQL은 서버를 따로 띄워야 하는 DB. 이 프로젝트는 1인 개발·데모라 파일 하나(danggeun.db)가 곧 DB인 가벼운 SQLite를 골랐다.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937760" y="14813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테이블 관계 (13개 중)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21488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F243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users 회원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2423160"/>
            <a:ext cx="640080" cy="0"/>
          </a:xfrm>
          <a:prstGeom prst="line">
            <a:avLst/>
          </a:prstGeom>
          <a:noFill/>
          <a:ln w="19050">
            <a:solidFill>
              <a:srgbClr val="B0B6B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2148840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E8590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0664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posts 매물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35440" y="2286000"/>
            <a:ext cx="640080" cy="-137160"/>
          </a:xfrm>
          <a:prstGeom prst="line">
            <a:avLst/>
          </a:prstGeom>
          <a:noFill/>
          <a:ln w="19050">
            <a:solidFill>
              <a:srgbClr val="B0B6B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0" y="18745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92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75520" y="18745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post_images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235440" y="2560320"/>
            <a:ext cx="640080" cy="228600"/>
          </a:xfrm>
          <a:prstGeom prst="line">
            <a:avLst/>
          </a:prstGeom>
          <a:noFill/>
          <a:ln w="19050">
            <a:solidFill>
              <a:srgbClr val="B0B6B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875520" y="251460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875520" y="2514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chat_rooms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875520" y="3063240"/>
            <a:ext cx="-548640" cy="274320"/>
          </a:xfrm>
          <a:prstGeom prst="line">
            <a:avLst/>
          </a:prstGeom>
          <a:noFill/>
          <a:ln w="19050">
            <a:solidFill>
              <a:srgbClr val="B0B6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0" y="324612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6B4FB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852160" y="2697480"/>
            <a:ext cx="0" cy="640080"/>
          </a:xfrm>
          <a:prstGeom prst="line">
            <a:avLst/>
          </a:prstGeom>
          <a:noFill/>
          <a:ln w="19050">
            <a:solidFill>
              <a:srgbClr val="B0B6B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324612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F9E4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937760" y="32461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reports 신고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23760" y="3520440"/>
            <a:ext cx="365760" cy="0"/>
          </a:xfrm>
          <a:prstGeom prst="line">
            <a:avLst/>
          </a:prstGeom>
          <a:noFill/>
          <a:ln w="19050">
            <a:solidFill>
              <a:srgbClr val="B0B6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977640"/>
            <a:ext cx="2286000" cy="548640"/>
          </a:xfrm>
          <a:prstGeom prst="roundRect">
            <a:avLst>
              <a:gd name="adj" fmla="val 13333"/>
            </a:avLst>
          </a:prstGeom>
          <a:solidFill>
            <a:srgbClr val="2F9E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937760" y="3977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reviews 후기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52160" y="3794760"/>
            <a:ext cx="0" cy="182880"/>
          </a:xfrm>
          <a:prstGeom prst="line">
            <a:avLst/>
          </a:prstGeom>
          <a:noFill/>
          <a:ln w="19050">
            <a:solidFill>
              <a:srgbClr val="B0B6B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06640" y="3977640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868E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406640" y="39776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warnings 경고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4937760" y="461772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화살표 = 1:N (회원 한 명이 매물 여럿, 매물 하나에 사진·채팅 여럿)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40080" y="4983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테이블 13개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530352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0080" y="5303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240280" y="530352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240280" y="5303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840480" y="530352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840480" y="5303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post_images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40680" y="530352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440680" y="5303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favorites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040880" y="530352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040880" y="5303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chat_rooms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641080" y="530352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641080" y="5303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0241280" y="530352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FFF0E1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41280" y="530352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" y="580644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40080" y="5806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40280" y="580644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2240280" y="5806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warnings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40480" y="580644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40480" y="5806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withdrawals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40680" y="580644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40680" y="5806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admin_notices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040880" y="580644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040880" y="5806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admin_actions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8641080" y="5806440"/>
            <a:ext cx="1508760" cy="402336"/>
          </a:xfrm>
          <a:prstGeom prst="roundRect">
            <a:avLst>
              <a:gd name="adj" fmla="val 18182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41080" y="5806440"/>
            <a:ext cx="1508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F24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search_logs</a:t>
            </a:r>
            <a:endParaRPr lang="en-US" sz="950" dirty="0"/>
          </a:p>
        </p:txBody>
      </p:sp>
      <p:sp>
        <p:nvSpPr>
          <p:cNvPr id="59" name="Text 57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560320" cy="256032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1750">
            <a:solidFill>
              <a:srgbClr val="FF9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실제로 쓰는 기능 — 검색 · 채팅 · AI 도우미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 ①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똑똑한 검색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937760" cy="4297680"/>
          </a:xfrm>
          <a:prstGeom prst="roundRect">
            <a:avLst>
              <a:gd name="adj" fmla="val 1915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5" name="Image 0" descr="/tmp/edit/shots/s5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6786" y="1700784"/>
            <a:ext cx="2784348" cy="3712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559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자음(초성) 검색 — 'ㄴㅌㅂ' → 노트북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06440" y="1554480"/>
            <a:ext cx="580644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03504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검색창 하나에 여러 방식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35040" y="2148840"/>
            <a:ext cx="384048" cy="38404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0350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21214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자동완성·오타보정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제목 추천, 오타도 잡음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035040" y="2752344"/>
            <a:ext cx="384048" cy="384048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35040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583680" y="27249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초성 검색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'ㄴㅌㅂ'→'노트북'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035040" y="3355848"/>
            <a:ext cx="384048" cy="384048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0350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332841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검색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'노트북'으로 '랩탑'도 (ko-sroberta)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035040" y="39593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0350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사진으로 검색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매물 찾기 (CLIP)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035040" y="4562856"/>
            <a:ext cx="384048" cy="384048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035040" y="4562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453542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질의 해석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말뜻을 AI가 풀어줌 (gemma3)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035040" y="5166360"/>
            <a:ext cx="384048" cy="384048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03504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51389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인기 검색어  </a:t>
            </a:r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찾은 단어 순위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 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실시간 채팅 (WebSocket)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937760" cy="4297680"/>
          </a:xfrm>
          <a:prstGeom prst="roundRect">
            <a:avLst>
              <a:gd name="adj" fmla="val 1915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5" name="Image 0" descr="/tmp/edit/shots/s6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6486" y="1700784"/>
            <a:ext cx="2724949" cy="3712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55955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채팅 · 추천 문구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06440" y="1554480"/>
            <a:ext cx="5806440" cy="2103120"/>
          </a:xfrm>
          <a:prstGeom prst="roundRect">
            <a:avLst>
              <a:gd name="adj" fmla="val 3913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035040" y="1691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WebSocket?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084832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요청(REST)은 '묻고 답하면 끊김'이라 실시간 채팅엔 부적합. 연결을 계속 열어두고 양방향으로 주고받는 WebSocket을 썼다.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806440" y="3794760"/>
            <a:ext cx="580644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035040" y="39136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4FB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흐름 &amp; 안전 거래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053328" y="4370832"/>
            <a:ext cx="109728" cy="109728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43159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대화는 REST로 한 번, 새 메시지는 WebSocket 실시간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4828032"/>
            <a:ext cx="109728" cy="109728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309360" y="47731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 결정 + 판매 확인 둘 다 눌러야 거래완료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5285232"/>
            <a:ext cx="109728" cy="109728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523036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중 바로 신고 → 관리자에게 전달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 ③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— AI 도우미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판매자·구매자를 돕는 AI. 사진을 넣으면 AI가 처리해 결과를 돌려준다. (모두 로컬 실행)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2194560" cy="1051560"/>
          </a:xfrm>
          <a:prstGeom prst="roundRect">
            <a:avLst>
              <a:gd name="adj" fmla="val 7826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20756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50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154680" y="2377440"/>
            <a:ext cx="640080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9" name="Shape 7"/>
          <p:cNvSpPr/>
          <p:nvPr/>
        </p:nvSpPr>
        <p:spPr>
          <a:xfrm>
            <a:off x="3931920" y="196596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931920" y="20939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3682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812280" y="2377440"/>
            <a:ext cx="640080" cy="219456"/>
          </a:xfrm>
          <a:prstGeom prst="rightArrow">
            <a:avLst/>
          </a:prstGeom>
          <a:solidFill>
            <a:srgbClr val="2F9E44"/>
          </a:solidFill>
          <a:ln/>
        </p:spPr>
      </p:sp>
      <p:sp>
        <p:nvSpPr>
          <p:cNvPr id="13" name="Shape 11"/>
          <p:cNvSpPr/>
          <p:nvPr/>
        </p:nvSpPr>
        <p:spPr>
          <a:xfrm>
            <a:off x="7589520" y="196596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89520" y="2075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23500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카테고리 추천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3337560"/>
            <a:ext cx="2194560" cy="1051560"/>
          </a:xfrm>
          <a:prstGeom prst="roundRect">
            <a:avLst>
              <a:gd name="adj" fmla="val 7826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34472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7216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3154680" y="3749040"/>
            <a:ext cx="640080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3931920" y="333756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931920" y="34655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7398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gemma3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812280" y="3749040"/>
            <a:ext cx="640080" cy="219456"/>
          </a:xfrm>
          <a:prstGeom prst="rightArrow">
            <a:avLst/>
          </a:prstGeom>
          <a:solidFill>
            <a:srgbClr val="2F9E44"/>
          </a:solidFill>
          <a:ln/>
        </p:spPr>
      </p:sp>
      <p:sp>
        <p:nvSpPr>
          <p:cNvPr id="24" name="Shape 22"/>
          <p:cNvSpPr/>
          <p:nvPr/>
        </p:nvSpPr>
        <p:spPr>
          <a:xfrm>
            <a:off x="7589520" y="333756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58952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589520" y="37216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판매글 초안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22960" y="4709160"/>
            <a:ext cx="2194560" cy="1051560"/>
          </a:xfrm>
          <a:prstGeom prst="roundRect">
            <a:avLst>
              <a:gd name="adj" fmla="val 7826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22960" y="481888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5093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3154680" y="5120640"/>
            <a:ext cx="640080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931920" y="4709160"/>
            <a:ext cx="2743200" cy="1051560"/>
          </a:xfrm>
          <a:prstGeom prst="roundRect">
            <a:avLst>
              <a:gd name="adj" fmla="val 7826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3931920" y="48371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엔진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511149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pHash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812280" y="5120640"/>
            <a:ext cx="640080" cy="219456"/>
          </a:xfrm>
          <a:prstGeom prst="rightArrow">
            <a:avLst/>
          </a:prstGeom>
          <a:solidFill>
            <a:srgbClr val="2F9E44"/>
          </a:solidFill>
          <a:ln/>
        </p:spPr>
      </p:sp>
      <p:sp>
        <p:nvSpPr>
          <p:cNvPr id="35" name="Shape 33"/>
          <p:cNvSpPr/>
          <p:nvPr/>
        </p:nvSpPr>
        <p:spPr>
          <a:xfrm>
            <a:off x="7589520" y="470916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7589520" y="4818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A9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589520" y="5093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도용 여부 판정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560320" cy="256032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1750">
            <a:solidFill>
              <a:srgbClr val="FF9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프로젝트의 핵심 — 여러 AI가 나눠 조사하고 서로 견제한다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①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멀티에이전트란? 왜 필요한가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1018520" cy="1371600"/>
          </a:xfrm>
          <a:prstGeom prst="roundRect">
            <a:avLst>
              <a:gd name="adj" fmla="val 6000"/>
            </a:avLst>
          </a:prstGeom>
          <a:solidFill>
            <a:srgbClr val="2A2F3D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783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에이전트(Agent)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목표를 주면 스스로 '무엇을 볼지' 판단하고 도구를 골라 실행하는 AI.  </a:t>
            </a:r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69DB7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여럿이 역할을 나눠 협업·견제하는 구조.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 — 사기 방지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2A2F3D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38862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폭주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5262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한 건씩 뒤지기엔 너무 느림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36576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2A2F3D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3886200"/>
            <a:ext cx="457200" cy="457200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166360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편향 위험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599432" y="45262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보면 처음 신호에 끌려가 초보를 사기꾼 취급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46720" y="365760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2A2F3D"/>
          </a:solidFill>
          <a:ln w="12700">
            <a:solidFill>
              <a:srgbClr val="2A2F3D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75320" y="3886200"/>
            <a:ext cx="457200" cy="457200"/>
          </a:xfrm>
          <a:prstGeom prst="ellipse">
            <a:avLst/>
          </a:prstGeom>
          <a:solidFill>
            <a:srgbClr val="4DAB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680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302752" y="452628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기준이 달라 같은 건도 다르게 판단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에이전트를 여럿 두고 '나눠서 조사'하고 '서로 견제'하게 했다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②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지시서는 어떤 파일로?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형식별 개념 — 그리고 이 프로젝트가 실제로 어떻게 했는지.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3520440" cy="502920"/>
          </a:xfrm>
          <a:prstGeom prst="roundRect">
            <a:avLst>
              <a:gd name="adj" fmla="val 16364"/>
            </a:avLst>
          </a:prstGeom>
          <a:solidFill>
            <a:srgbClr val="E859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.md  (마크다운)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글·문서를 서식과 함께 쓰는 형식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8745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07408" y="1874520"/>
            <a:ext cx="3520440" cy="502920"/>
          </a:xfrm>
          <a:prstGeom prst="roundRect">
            <a:avLst>
              <a:gd name="adj" fmla="val 16364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07408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.yaml  (야믈)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2468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설정·구조화된 데이터를 계층으로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74736" y="1874520"/>
            <a:ext cx="35204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874520"/>
            <a:ext cx="3520440" cy="502920"/>
          </a:xfrm>
          <a:prstGeom prst="roundRect">
            <a:avLst>
              <a:gd name="adj" fmla="val 16364"/>
            </a:avLst>
          </a:prstGeom>
          <a:solidFill>
            <a:srgbClr val="6B4FB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74736" y="1874520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.ini  (아이엔아이)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357616" y="24688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간단한 키=값 설정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1018520" cy="2331720"/>
          </a:xfrm>
          <a:prstGeom prst="roundRect">
            <a:avLst>
              <a:gd name="adj" fmla="val 3529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68680" y="3749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프로젝트는 실제로 — .md 하나로 통일했다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1605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역할도, 무슨 일을 하는지도 전부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.md 한 파일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적었다 (예: prosecutor.md = 검사).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규칙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shared/ 폴더의 .md(trade_rule·ring_fraud·how_to)에 두고 {중괄호}로 끼워 넣는다.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즉 '.md=역할 / .yaml=할일 / .ini=공통'이 아니라, </a:t>
            </a:r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다 .md로 합쳤다.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③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8명 — 역할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00200"/>
            <a:ext cx="457200" cy="45720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단독 조사원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21305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혼자 도구 7개로 전부 조사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56432" y="1417320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0" y="1600200"/>
            <a:ext cx="457200" cy="457200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576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 조사관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675888" y="21305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매물·시세·사진만 살핌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417320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1600200"/>
            <a:ext cx="457200" cy="457200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73952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022592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조사관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21305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판매자·대화·신고자를 살핌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89136" y="1417320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90304" y="1600200"/>
            <a:ext cx="457200" cy="457200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90304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9838944" y="1600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 조사관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308592" y="2130552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여럿이 짜고 하는지 살핌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3172968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" y="335584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1248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389888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59536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신호를 짚어 주장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56432" y="3172968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0" y="3355848"/>
            <a:ext cx="457200" cy="45720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0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206240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변호인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3675888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억울할 점을 반론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72784" y="3172968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73952" y="3355848"/>
            <a:ext cx="457200" cy="45720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73952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7022592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담당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말을 정리 (판결 X)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089136" y="3172968"/>
            <a:ext cx="2633472" cy="1572768"/>
          </a:xfrm>
          <a:prstGeom prst="roundRect">
            <a:avLst>
              <a:gd name="adj" fmla="val 52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290304" y="3355848"/>
            <a:ext cx="457200" cy="45720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290304" y="3355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838944" y="3355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보충 조사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308592" y="388620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지시로 더 조사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502920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45" name="Text 43"/>
          <p:cNvSpPr txBox="1"/>
          <p:nvPr/>
        </p:nvSpPr>
        <p:spPr>
          <a:xfrm>
            <a:off x="868680" y="51389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이렇게 많이?</a:t>
            </a:r>
            <a:endParaRPr lang="en-US" sz="1500" dirty="0"/>
          </a:p>
        </p:txBody>
      </p:sp>
      <p:sp>
        <p:nvSpPr>
          <p:cNvPr id="46" name="Text 44"/>
          <p:cNvSpPr txBox="1"/>
          <p:nvPr/>
        </p:nvSpPr>
        <p:spPr>
          <a:xfrm>
            <a:off x="3200400" y="51389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분업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좁게 나누면 빠르고, 12B 모델이 덜 헤맴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989320" y="51389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견제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검사·변호인이 맞서 편향·무고 방지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8778240" y="5138928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재사용
</a:t>
            </a:r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도구를 역할만 바꿔 조합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④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준 '페르소나 프롬프트'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에이전트의 실제 지시서 파일(agents/*.md). 역할(페르소나)을 이렇게 부여했다.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E2430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5349240" cy="365760"/>
          </a:xfrm>
          <a:prstGeom prst="roundRect">
            <a:avLst>
              <a:gd name="adj" fmla="val 15000"/>
            </a:avLst>
          </a:prstGeom>
          <a:solidFill>
            <a:srgbClr val="2A2F3D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200253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2002536"/>
            <a:ext cx="100584" cy="10058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Shape 7"/>
          <p:cNvSpPr/>
          <p:nvPr/>
        </p:nvSpPr>
        <p:spPr>
          <a:xfrm>
            <a:off x="1152144" y="2002536"/>
            <a:ext cx="100584" cy="100584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1874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8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prosecutor.md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5000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'검사' 입니다.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신고된 건에서 위험한 신호를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찾아내는 것이 맡은 몫입니다.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…다만 지어내지는 마십시오.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도구로 실제로 본 것만 근거로 씁니다.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63640" y="1874520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E2430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74520"/>
            <a:ext cx="5349240" cy="365760"/>
          </a:xfrm>
          <a:prstGeom prst="roundRect">
            <a:avLst>
              <a:gd name="adj" fmla="val 15000"/>
            </a:avLst>
          </a:prstGeom>
          <a:solidFill>
            <a:srgbClr val="2A2F3D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9944" y="2002536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5" name="Shape 13"/>
          <p:cNvSpPr/>
          <p:nvPr/>
        </p:nvSpPr>
        <p:spPr>
          <a:xfrm>
            <a:off x="6592824" y="2002536"/>
            <a:ext cx="100584" cy="10058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6" name="Shape 14"/>
          <p:cNvSpPr/>
          <p:nvPr/>
        </p:nvSpPr>
        <p:spPr>
          <a:xfrm>
            <a:off x="6775704" y="2002536"/>
            <a:ext cx="100584" cy="100584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18745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4C0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defender.md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2350008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'변호인' 입니다.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같은 자료를 보고 억울할 만한 점,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다르게 볼 수 있는 점을 짚는 것이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맡은 몫입니다.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무작정 감싸지는 마십시오.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E2430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3959352"/>
            <a:ext cx="5349240" cy="365760"/>
          </a:xfrm>
          <a:prstGeom prst="roundRect">
            <a:avLst>
              <a:gd name="adj" fmla="val 15000"/>
            </a:avLst>
          </a:prstGeom>
          <a:solidFill>
            <a:srgbClr val="2A2F3D"/>
          </a:solidFill>
          <a:ln/>
        </p:spPr>
      </p:sp>
      <p:sp>
        <p:nvSpPr>
          <p:cNvPr id="21" name="Shape 19"/>
          <p:cNvSpPr/>
          <p:nvPr/>
        </p:nvSpPr>
        <p:spPr>
          <a:xfrm>
            <a:off x="786384" y="4087368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2" name="Shape 20"/>
          <p:cNvSpPr/>
          <p:nvPr/>
        </p:nvSpPr>
        <p:spPr>
          <a:xfrm>
            <a:off x="969264" y="4087368"/>
            <a:ext cx="100584" cy="10058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23" name="Shape 21"/>
          <p:cNvSpPr/>
          <p:nvPr/>
        </p:nvSpPr>
        <p:spPr>
          <a:xfrm>
            <a:off x="1152144" y="4087368"/>
            <a:ext cx="100584" cy="100584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417320" y="3959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197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summarizer.md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914400" y="4434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'정리 담당' 입니다.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판결하지 않습니다.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위험도와 권고는 이미 서버가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규칙으로 계산했습니다.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양쪽 말을 정리할 뿐입니다.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3959352"/>
            <a:ext cx="5349240" cy="1874520"/>
          </a:xfrm>
          <a:prstGeom prst="roundRect">
            <a:avLst>
              <a:gd name="adj" fmla="val 2927"/>
            </a:avLst>
          </a:prstGeom>
          <a:solidFill>
            <a:srgbClr val="1E2430"/>
          </a:solidFill>
          <a:ln w="12700">
            <a:solidFill>
              <a:srgbClr val="2A2F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63640" y="3959352"/>
            <a:ext cx="5349240" cy="365760"/>
          </a:xfrm>
          <a:prstGeom prst="roundRect">
            <a:avLst>
              <a:gd name="adj" fmla="val 15000"/>
            </a:avLst>
          </a:prstGeom>
          <a:solidFill>
            <a:srgbClr val="2A2F3D"/>
          </a:solidFill>
          <a:ln/>
        </p:spPr>
      </p:sp>
      <p:sp>
        <p:nvSpPr>
          <p:cNvPr id="28" name="Shape 26"/>
          <p:cNvSpPr/>
          <p:nvPr/>
        </p:nvSpPr>
        <p:spPr>
          <a:xfrm>
            <a:off x="6409944" y="4087368"/>
            <a:ext cx="100584" cy="10058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29" name="Shape 27"/>
          <p:cNvSpPr/>
          <p:nvPr/>
        </p:nvSpPr>
        <p:spPr>
          <a:xfrm>
            <a:off x="6592824" y="4087368"/>
            <a:ext cx="100584" cy="10058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775704" y="4087368"/>
            <a:ext cx="100584" cy="100584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040880" y="3959352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B0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post_inspector.md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537960" y="44348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당신은 '매물 조사관' 입니다.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신고된 매물 자체만 살펴봅니다.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판매자 이력이나 관계는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다른 조사관이 맡으니</a:t>
            </a:r>
            <a:endParaRPr lang="en-US" sz="10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D7DBE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신경 쓰지 마십시오.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⑤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 · 변호인 · 판사를 왜 두었나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명이 조사하면 편향된다('선입금' 발견 → 이후 전부 사기로 읽음). 그래서 재판처럼 역할을 나눠 서로 견제한다.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874520"/>
            <a:ext cx="1554480" cy="1234440"/>
          </a:xfrm>
          <a:prstGeom prst="roundRect">
            <a:avLst>
              <a:gd name="adj" fmla="val 6667"/>
            </a:avLst>
          </a:prstGeom>
          <a:solidFill>
            <a:srgbClr val="FF6B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prosecutor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4231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쪽을 짚어 주장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87452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874520"/>
            <a:ext cx="1554480" cy="1234440"/>
          </a:xfrm>
          <a:prstGeom prst="roundRect">
            <a:avLst>
              <a:gd name="adj" fmla="val 6667"/>
            </a:avLst>
          </a:prstGeom>
          <a:solidFill>
            <a:srgbClr val="4DAB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63640" y="187452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변호인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001000" y="20756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defender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8001000" y="242316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억울할 쪽을 반론 → 무고 방지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2918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EBFBEE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291840"/>
            <a:ext cx="1554480" cy="1234440"/>
          </a:xfrm>
          <a:prstGeom prst="roundRect">
            <a:avLst>
              <a:gd name="adj" fmla="val 6667"/>
            </a:avLst>
          </a:prstGeom>
          <a:solidFill>
            <a:srgbClr val="2F9E4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2918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판사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3493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risk_score (규칙)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점수로 위험도 판결 ★AI 아님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3291840"/>
            <a:ext cx="534924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291840"/>
            <a:ext cx="1554480" cy="1234440"/>
          </a:xfrm>
          <a:prstGeom prst="roundRect">
            <a:avLst>
              <a:gd name="adj" fmla="val 6667"/>
            </a:avLst>
          </a:prstGeom>
          <a:solidFill>
            <a:srgbClr val="6B4FB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263640" y="3291840"/>
            <a:ext cx="1554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서기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3493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summarizer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384048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양쪽 말 정리 (판결 X)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754880"/>
            <a:ext cx="11018520" cy="1280160"/>
          </a:xfrm>
          <a:prstGeom prst="roundRect">
            <a:avLst>
              <a:gd name="adj" fmla="val 6429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68680" y="48646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 — '판사'는 AI가 아니다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68680" y="523036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검사·변호인은 AI(gemma3)지만, 최종 위험도는 AI가 아니라 규칙 엔진(risk_score)이 점수로 계산한다. 그래서 같은 자료면 항상 같은 판결이 나온다.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4572000"/>
            <a:ext cx="2560320" cy="256032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 · CORE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94944" y="288036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방지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77240" y="3977640"/>
            <a:ext cx="2011680" cy="0"/>
          </a:xfrm>
          <a:prstGeom prst="line">
            <a:avLst/>
          </a:prstGeom>
          <a:noFill/>
          <a:ln w="31750">
            <a:solidFill>
              <a:srgbClr val="FF92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뒤 조사(사후 탐지) + 대화 시점 차단(사전 예방)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MULTI-AGENT ⑥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방지를 '어떻게' 하나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신고가 들어오면 이 흐름으로 조사가 돌아간다.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89888" y="2011680"/>
            <a:ext cx="548640" cy="54864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898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 접수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매물·회원 신고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24912" y="2587752"/>
            <a:ext cx="182880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11" name="Shape 9"/>
          <p:cNvSpPr/>
          <p:nvPr/>
        </p:nvSpPr>
        <p:spPr>
          <a:xfrm>
            <a:off x="2926080" y="18745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75888" y="2011680"/>
            <a:ext cx="548640" cy="548640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758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조사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7개로 자료 수집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10912" y="2587752"/>
            <a:ext cx="182880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17" name="Shape 15"/>
          <p:cNvSpPr/>
          <p:nvPr/>
        </p:nvSpPr>
        <p:spPr>
          <a:xfrm>
            <a:off x="5212080" y="18745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61888" y="2011680"/>
            <a:ext cx="548640" cy="5486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9618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21208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채점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신호별 점수 합산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96912" y="2587752"/>
            <a:ext cx="182880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23" name="Shape 21"/>
          <p:cNvSpPr/>
          <p:nvPr/>
        </p:nvSpPr>
        <p:spPr>
          <a:xfrm>
            <a:off x="7498080" y="18745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47888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478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749808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위험도 판정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높음6+/보통3+/낮음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582912" y="2587752"/>
            <a:ext cx="182880" cy="219456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29" name="Shape 27"/>
          <p:cNvSpPr/>
          <p:nvPr/>
        </p:nvSpPr>
        <p:spPr>
          <a:xfrm>
            <a:off x="9784080" y="1874520"/>
            <a:ext cx="205740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533888" y="2011680"/>
            <a:ext cx="548640" cy="54864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05338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978408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결정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9875520" y="2907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읽고 정지·숨김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" y="3566160"/>
            <a:ext cx="548640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6868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채점 (재현성 있음)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택배·선입금·비대면 유도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5623560" y="4133088"/>
            <a:ext cx="274320" cy="2743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623560" y="41330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68680" y="4480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남의 사진 도용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623560" y="4498848"/>
            <a:ext cx="274320" cy="27432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623560" y="4498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68680" y="4846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대비 지나치게 쌈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623560" y="4864608"/>
            <a:ext cx="274320" cy="274320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623560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68680" y="52120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취소 3회↑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5623560" y="5230368"/>
            <a:ext cx="274320" cy="274320"/>
          </a:xfrm>
          <a:prstGeom prst="ellipse">
            <a:avLst/>
          </a:prstGeom>
          <a:solidFill>
            <a:srgbClr val="FF922B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623560" y="5230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868680" y="55778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7일 이내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5623560" y="5596128"/>
            <a:ext cx="274320" cy="274320"/>
          </a:xfrm>
          <a:prstGeom prst="ellipse">
            <a:avLst/>
          </a:prstGeom>
          <a:solidFill>
            <a:srgbClr val="ADB5BD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623560" y="55961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355080" y="3566160"/>
            <a:ext cx="5257800" cy="2468880"/>
          </a:xfrm>
          <a:prstGeom prst="roundRect">
            <a:avLst>
              <a:gd name="adj" fmla="val 3333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6583680" y="3703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안전 원칙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0" y="4114800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전부 읽기 전용 —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자료를 보기만, 정지·삭제 불가</a:t>
            </a:r>
            <a:endParaRPr lang="en-US" sz="11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0" y="4736592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직거래 원칙 주입 —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택배·선입금·앱 밖 연락 = 위험 신호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0" y="5358384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규칙이 — 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변덕과 무관, 같은 자료=같은 점수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577840" cy="4297680"/>
          </a:xfrm>
          <a:prstGeom prst="roundRect">
            <a:avLst>
              <a:gd name="adj" fmla="val 1915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5" name="Image 0" descr="/tmp/edit/shots/s7_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173" y="1700784"/>
            <a:ext cx="4781654" cy="3712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5595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 — 현황·신고·통계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446520" y="1554480"/>
            <a:ext cx="5166360" cy="4297680"/>
          </a:xfrm>
          <a:prstGeom prst="roundRect">
            <a:avLst>
              <a:gd name="adj" fmla="val 1915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675120" y="1691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필요한가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084832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흩어진 신고·회원·매물을 한곳에 모아 '지금 처리할 것'부터 보여준다.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하는 일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6720840" y="32004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신고 확인 · AI 조사 요청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6720840" y="35844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회원 정지 / 해제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6720840" y="396849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매물 숨김 / 공개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6720840" y="435254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경고 발송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667512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정보가 모이나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0" y="523036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오늘·이번주·전체 집계 · 미처리 신고 · 정지 회원 · 매물/회원 추이 그래프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PREVENTION ★ 구현 완료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예방 — 사기를 '벌어지기 전'에 막는다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신고를 기다리지 않는다. 채팅 한 줄에서 위험 표현을 실시간으로 잡아 단계적으로 조치한다.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6733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E8590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0116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탐지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578608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금칙어·사기 유도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감지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2715768"/>
            <a:ext cx="137160" cy="201168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10" name="Shape 8"/>
          <p:cNvSpPr/>
          <p:nvPr/>
        </p:nvSpPr>
        <p:spPr>
          <a:xfrm>
            <a:off x="2478024" y="2011680"/>
            <a:ext cx="16733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78024" y="2011680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FF92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78024" y="20116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증거 기록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551176" y="2578608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어긴 문장을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근거로 저장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69664" y="2715768"/>
            <a:ext cx="137160" cy="201168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15" name="Shape 13"/>
          <p:cNvSpPr/>
          <p:nvPr/>
        </p:nvSpPr>
        <p:spPr>
          <a:xfrm>
            <a:off x="4315968" y="2011680"/>
            <a:ext cx="16733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15968" y="2011680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15968" y="20116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누진 카운트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389120" y="2578608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48시간 안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횟수 누적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07608" y="2715768"/>
            <a:ext cx="137160" cy="201168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20" name="Shape 18"/>
          <p:cNvSpPr/>
          <p:nvPr/>
        </p:nvSpPr>
        <p:spPr>
          <a:xfrm>
            <a:off x="6153912" y="2011680"/>
            <a:ext cx="16733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53912" y="2011680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6B4FB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153912" y="20116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단계별 조치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227064" y="2578608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경고→매너↓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→매물숨김→관리자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845552" y="2715768"/>
            <a:ext cx="137160" cy="201168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25" name="Shape 23"/>
          <p:cNvSpPr/>
          <p:nvPr/>
        </p:nvSpPr>
        <p:spPr>
          <a:xfrm>
            <a:off x="7991856" y="2011680"/>
            <a:ext cx="16733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991856" y="2011680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2F9E4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991856" y="20116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회복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065008" y="2578608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지나면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카운트 리셋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83496" y="2715768"/>
            <a:ext cx="137160" cy="201168"/>
          </a:xfrm>
          <a:prstGeom prst="rightArrow">
            <a:avLst/>
          </a:prstGeom>
          <a:solidFill>
            <a:srgbClr val="FF922B"/>
          </a:solidFill>
          <a:ln/>
        </p:spPr>
      </p:sp>
      <p:sp>
        <p:nvSpPr>
          <p:cNvPr id="30" name="Shape 28"/>
          <p:cNvSpPr/>
          <p:nvPr/>
        </p:nvSpPr>
        <p:spPr>
          <a:xfrm>
            <a:off x="9829800" y="2011680"/>
            <a:ext cx="167335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9829800" y="2011680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868E9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829800" y="2011680"/>
            <a:ext cx="1673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보관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902952" y="2578608"/>
            <a:ext cx="15270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15일 뒤</a:t>
            </a:r>
            <a:endParaRPr lang="en-US" sz="10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자동 삭제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3977640"/>
            <a:ext cx="11018520" cy="2011680"/>
          </a:xfrm>
          <a:prstGeom prst="roundRect">
            <a:avLst>
              <a:gd name="adj" fmla="val 4091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68680" y="4114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원칙 — 벌주기가 아니라 예방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68680" y="45720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아니라 '행동'을 지목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매물·계정 전체가 아니라 '그 문장'만 문제 삼음 → 낙인 방지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480560" y="45720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판정은 규칙, 결정은 사람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정지는 없음. 증거를 모아 보여주고 관리자가 최종 판단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8092440" y="4572000"/>
            <a:ext cx="3429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처벌은 교화
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C9CD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시간이 지나면 카운트가 풀린다(회복) — 영구 낙인 아님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PREVENTION ② · LIVE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예방 — 실제 작동 화면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160520" cy="4434840"/>
          </a:xfrm>
          <a:prstGeom prst="roundRect">
            <a:avLst>
              <a:gd name="adj" fmla="val 1978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5" name="Image 0" descr="/tmp/edit/shots/p1_chat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0490" y="1700784"/>
            <a:ext cx="3079699" cy="3849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56967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채팅 — 위험 표현 실시간 경고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0" y="1554480"/>
            <a:ext cx="6583680" cy="2331720"/>
          </a:xfrm>
          <a:prstGeom prst="roundRect">
            <a:avLst>
              <a:gd name="adj" fmla="val 3529"/>
            </a:avLst>
          </a:prstGeom>
          <a:solidFill>
            <a:srgbClr val="F4F5F7"/>
          </a:solidFill>
          <a:ln w="12700">
            <a:solidFill>
              <a:srgbClr val="D8DB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pic>
        <p:nvPicPr>
          <p:cNvPr id="8" name="Image 1" descr="/tmp/edit/shots/p2_penal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7740" y="1700784"/>
            <a:ext cx="4446599" cy="17465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29200" y="35935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관리자 '제재 대기' — 증거·누진 횟수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5029200" y="4023360"/>
            <a:ext cx="6583680" cy="1965960"/>
          </a:xfrm>
          <a:prstGeom prst="roundRect">
            <a:avLst>
              <a:gd name="adj" fmla="val 4186"/>
            </a:avLst>
          </a:prstGeom>
          <a:solidFill>
            <a:srgbClr val="FFF4E6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5230368" y="41330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565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화면이 말해주는 것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248656" y="4581144"/>
            <a:ext cx="109728" cy="10972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504688" y="45262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욕설 → 경고만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'서로 존중하는 말로…' 안내. 매너 문제라 카운트는 안 쌓음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248656" y="5038344"/>
            <a:ext cx="109728" cy="10972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5504688" y="49834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사기 유도(택배·선입금·계좌) → 카운트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+ 증거 저장 + 누진 → 반복하면 '제재 대기'로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248656" y="5495544"/>
            <a:ext cx="109728" cy="109728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5504688" y="544068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 속 단어도 잡음 — 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'택배 배송 가능합니다'처럼 섞여 있어도 감지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 — 진품·가품 판별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'대화·행동'으로 사기를 막는다. 다음 도전은 물건 자체의 진짜/가짜를 가려내는 것.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11018520" cy="1051560"/>
          </a:xfrm>
          <a:prstGeom prst="roundRect">
            <a:avLst>
              <a:gd name="adj" fmla="val 7826"/>
            </a:avLst>
          </a:prstGeom>
          <a:solidFill>
            <a:srgbClr val="EBFBEE"/>
          </a:solidFill>
          <a:ln w="12700">
            <a:solidFill>
              <a:srgbClr val="B2F2BB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8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장기 목표   </a:t>
            </a:r>
            <a:pPr indent="0" marL="0">
              <a:buNone/>
            </a:pPr>
            <a:r>
              <a:rPr lang="en-US" sz="1500" dirty="0">
                <a:solidFill>
                  <a:srgbClr val="375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사진만으로 정품/가품을 판별하는 AI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당장은 어려운 이유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88620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81328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라벨링 데이터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브랜드·모델마다 정품/가품을 구분해 표시한 이미지가 수십만 장 이상 필요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36576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3886200"/>
            <a:ext cx="457200" cy="457200"/>
          </a:xfrm>
          <a:prstGeom prst="ellipse">
            <a:avLst/>
          </a:prstGeom>
          <a:solidFill>
            <a:srgbClr val="FFB0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184648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가품 확보 난이도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99432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진품 사진은 많아도 '진짜 같은 가품' 이미지는 구하기 어렵다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0" y="3657600"/>
            <a:ext cx="342900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02752" y="3886200"/>
            <a:ext cx="457200" cy="457200"/>
          </a:xfrm>
          <a:prstGeom prst="ellipse">
            <a:avLst/>
          </a:prstGeom>
          <a:solidFill>
            <a:srgbClr val="4DAB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887968" y="39136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학습 비용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302752" y="448056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A3F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학습에 시간·GPU 자원이 많이 든다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5532120"/>
            <a:ext cx="11018520" cy="685800"/>
          </a:xfrm>
          <a:prstGeom prst="roundRect">
            <a:avLst>
              <a:gd name="adj" fmla="val 12000"/>
            </a:avLst>
          </a:prstGeom>
          <a:solidFill>
            <a:srgbClr val="1F2430"/>
          </a:solidFill>
          <a:ln w="12700">
            <a:solidFill>
              <a:srgbClr val="E5E1DA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68680" y="55321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그래서 지금은 '가품 의심 신호 점수화'부터 접근한다.  될 것과 도전할 것을 솔직히 구분했다.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663440"/>
            <a:ext cx="3931920" cy="3931920"/>
          </a:xfrm>
          <a:prstGeom prst="ellipse">
            <a:avLst/>
          </a:prstGeom>
          <a:solidFill>
            <a:srgbClr val="E8590C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1371600"/>
            <a:ext cx="3291840" cy="3291840"/>
          </a:xfrm>
          <a:prstGeom prst="ellipse">
            <a:avLst/>
          </a:prstGeom>
          <a:solidFill>
            <a:srgbClr val="2F9E4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868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당근 프로젝트 총정리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19072"/>
            <a:ext cx="2423160" cy="512064"/>
          </a:xfrm>
          <a:prstGeom prst="roundRect">
            <a:avLst>
              <a:gd name="adj" fmla="val 14286"/>
            </a:avLst>
          </a:prstGeom>
          <a:solidFill>
            <a:srgbClr val="2A2F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1907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프론트엔드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컴포넌트로 화면 많은 앱을 재사용성 있게 (SPA)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2423160" cy="512064"/>
          </a:xfrm>
          <a:prstGeom prst="roundRect">
            <a:avLst>
              <a:gd name="adj" fmla="val 14286"/>
            </a:avLst>
          </a:prstGeom>
          <a:solidFill>
            <a:srgbClr val="2A2F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44144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FastAPI + SQLite + JWT. 채팅은 WebSocket 실시간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2423160" cy="512064"/>
          </a:xfrm>
          <a:prstGeom prst="roundRect">
            <a:avLst>
              <a:gd name="adj" fmla="val 14286"/>
            </a:avLst>
          </a:prstGeom>
          <a:solidFill>
            <a:srgbClr val="2A2F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218688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기능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3191256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사진→카테고리·판매글, 의미·사진 검색, 도용 탐지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968496"/>
            <a:ext cx="2423160" cy="512064"/>
          </a:xfrm>
          <a:prstGeom prst="roundRect">
            <a:avLst>
              <a:gd name="adj" fmla="val 14286"/>
            </a:avLst>
          </a:prstGeom>
          <a:solidFill>
            <a:srgbClr val="2A2F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3968496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멀티에이전트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9410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에이전트가 나눠 조사 + 검사·변호인으로 견제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718304"/>
            <a:ext cx="2423160" cy="512064"/>
          </a:xfrm>
          <a:prstGeom prst="roundRect">
            <a:avLst>
              <a:gd name="adj" fmla="val 14286"/>
            </a:avLst>
          </a:prstGeom>
          <a:solidFill>
            <a:srgbClr val="2A2F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4718304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예방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291840" y="4690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채팅 위험 표현 실시간 감지 → 누진 제재 (사후+사전 둘 다)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5468112"/>
            <a:ext cx="2423160" cy="512064"/>
          </a:xfrm>
          <a:prstGeom prst="roundRect">
            <a:avLst>
              <a:gd name="adj" fmla="val 14286"/>
            </a:avLst>
          </a:prstGeom>
          <a:solidFill>
            <a:srgbClr val="2A2F3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5468112"/>
            <a:ext cx="2423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92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설계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91840" y="54406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BE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도구는 읽기전용, 판정은 규칙, 결정은 사람, 처벌은 교화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사람을 대신하지 않고, 사람의 판단을 돕는 중고거래 플랫폼.   —  감사합니다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61288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2026-09-10T01:45:25Z</dcterms:created>
  <dcterms:modified xsi:type="dcterms:W3CDTF">2026-09-10T01:45:25Z</dcterms:modified>
</cp:coreProperties>
</file>